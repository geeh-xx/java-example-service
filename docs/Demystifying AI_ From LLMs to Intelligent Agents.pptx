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Inter SemiBold"/>
      <p:regular r:id="rId26"/>
      <p:bold r:id="rId27"/>
      <p:italic r:id="rId28"/>
      <p:boldItalic r:id="rId29"/>
    </p:embeddedFont>
    <p:embeddedFont>
      <p:font typeface="Inter"/>
      <p:bold r:id="rId30"/>
      <p:boldItalic r:id="rId31"/>
    </p:embeddedFont>
    <p:embeddedFont>
      <p:font typeface="Inter Medium"/>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SemiBold-regular.fntdata"/><Relationship Id="rId25" Type="http://schemas.openxmlformats.org/officeDocument/2006/relationships/slide" Target="slides/slide20.xml"/><Relationship Id="rId28" Type="http://schemas.openxmlformats.org/officeDocument/2006/relationships/font" Target="fonts/InterSemiBold-italic.fntdata"/><Relationship Id="rId27" Type="http://schemas.openxmlformats.org/officeDocument/2006/relationships/font" Target="fonts/Inter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Semi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boldItalic.fntdata"/><Relationship Id="rId30" Type="http://schemas.openxmlformats.org/officeDocument/2006/relationships/font" Target="fonts/Inter-bold.fntdata"/><Relationship Id="rId11" Type="http://schemas.openxmlformats.org/officeDocument/2006/relationships/slide" Target="slides/slide6.xml"/><Relationship Id="rId33" Type="http://schemas.openxmlformats.org/officeDocument/2006/relationships/font" Target="fonts/InterMedium-bold.fntdata"/><Relationship Id="rId10" Type="http://schemas.openxmlformats.org/officeDocument/2006/relationships/slide" Target="slides/slide5.xml"/><Relationship Id="rId32" Type="http://schemas.openxmlformats.org/officeDocument/2006/relationships/font" Target="fonts/InterMedium-regular.fntdata"/><Relationship Id="rId13" Type="http://schemas.openxmlformats.org/officeDocument/2006/relationships/slide" Target="slides/slide8.xml"/><Relationship Id="rId35" Type="http://schemas.openxmlformats.org/officeDocument/2006/relationships/font" Target="fonts/InterMedium-boldItalic.fntdata"/><Relationship Id="rId12" Type="http://schemas.openxmlformats.org/officeDocument/2006/relationships/slide" Target="slides/slide7.xml"/><Relationship Id="rId34" Type="http://schemas.openxmlformats.org/officeDocument/2006/relationships/font" Target="fonts/InterMedium-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8774b6878_3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8774b6878_3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8774b6878_3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8774b6878_3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8774b6878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8774b6878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8774b6878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8774b6878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8774b6878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8774b6878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8774b6878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8774b6878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8774b6878_0_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8774b6878_0_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8774b6878_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8774b6878_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8774b6878_0_1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8774b6878_0_1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8774b6878_0_1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8774b6878_0_1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8774b6878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f8774b6878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8774b6878_3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8774b6878_3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8774b6878_0_1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f8774b6878_0_1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8774b6878_0_1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f8774b6878_0_1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8774b6878_0_2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f8774b6878_0_2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f8774b6878_0_1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f8774b6878_0_1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8774b6878_0_2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f8774b6878_0_2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8774b6878_3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f8774b6878_3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8774b6878_3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f8774b6878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8774b6878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8774b6878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8774b6878_27_0)">
  <p:cSld name="Generated (g3f8774b6878_2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2.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 name="Google Shape;58;p14"/>
            <p:cNvGrpSpPr/>
            <p:nvPr/>
          </p:nvGrpSpPr>
          <p:grpSpPr>
            <a:xfrm>
              <a:off x="381000" y="381000"/>
              <a:ext cx="304800" cy="304800"/>
              <a:chOff x="0" y="0"/>
              <a:chExt cx="304800" cy="304800"/>
            </a:xfrm>
          </p:grpSpPr>
          <p:sp>
            <p:nvSpPr>
              <p:cNvPr id="59" name="Google Shape;59;p14"/>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2" name="Google Shape;62;p14"/>
            <p:cNvSpPr/>
            <p:nvPr/>
          </p:nvSpPr>
          <p:spPr>
            <a:xfrm>
              <a:off x="381000" y="1143000"/>
              <a:ext cx="762000" cy="0"/>
            </a:xfrm>
            <a:custGeom>
              <a:rect b="b" l="l" r="r" t="t"/>
              <a:pathLst>
                <a:path extrusionOk="0" h="120000" w="120000">
                  <a:moveTo>
                    <a:pt x="0" y="0"/>
                  </a:moveTo>
                  <a:lnTo>
                    <a:pt x="120000" y="0"/>
                  </a:lnTo>
                </a:path>
              </a:pathLst>
            </a:custGeom>
            <a:solidFill>
              <a:srgbClr val="000000">
                <a:alpha val="0"/>
              </a:srgbClr>
            </a:solidFill>
            <a:ln cap="flat" cmpd="sng" w="381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381000" y="1524000"/>
              <a:ext cx="8382000" cy="2286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 name="Google Shape;64;p14"/>
          <p:cNvSpPr txBox="1"/>
          <p:nvPr/>
        </p:nvSpPr>
        <p:spPr>
          <a:xfrm>
            <a:off x="762000" y="1714500"/>
            <a:ext cx="76200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400">
                <a:solidFill>
                  <a:srgbClr val="111827"/>
                </a:solidFill>
                <a:latin typeface="Inter"/>
                <a:ea typeface="Inter"/>
                <a:cs typeface="Inter"/>
                <a:sym typeface="Inter"/>
              </a:rPr>
              <a:t>Demystifying AI:</a:t>
            </a:r>
            <a:endParaRPr b="1" sz="3400">
              <a:solidFill>
                <a:srgbClr val="111827"/>
              </a:solidFill>
              <a:latin typeface="Inter"/>
              <a:ea typeface="Inter"/>
              <a:cs typeface="Inter"/>
              <a:sym typeface="Inter"/>
            </a:endParaRPr>
          </a:p>
          <a:p>
            <a:pPr indent="0" lvl="0" marL="0" rtl="0" algn="l">
              <a:spcBef>
                <a:spcPts val="300"/>
              </a:spcBef>
              <a:spcAft>
                <a:spcPts val="0"/>
              </a:spcAft>
              <a:buNone/>
            </a:pPr>
            <a:r>
              <a:rPr b="1" lang="en" sz="3400">
                <a:solidFill>
                  <a:srgbClr val="111827"/>
                </a:solidFill>
                <a:latin typeface="Inter"/>
                <a:ea typeface="Inter"/>
                <a:cs typeface="Inter"/>
                <a:sym typeface="Inter"/>
              </a:rPr>
              <a:t>From LLMs to Intelligent Agents</a:t>
            </a:r>
            <a:endParaRPr b="1" sz="3400">
              <a:solidFill>
                <a:srgbClr val="111827"/>
              </a:solidFill>
              <a:latin typeface="Inter"/>
              <a:ea typeface="Inter"/>
              <a:cs typeface="Inter"/>
              <a:sym typeface="Inter"/>
            </a:endParaRPr>
          </a:p>
          <a:p>
            <a:pPr indent="0" lvl="0" marL="0" rtl="0" algn="l">
              <a:spcBef>
                <a:spcPts val="1500"/>
              </a:spcBef>
              <a:spcAft>
                <a:spcPts val="0"/>
              </a:spcAft>
              <a:buNone/>
            </a:pPr>
            <a:r>
              <a:rPr b="0" lang="en" sz="1800">
                <a:solidFill>
                  <a:srgbClr val="2563EB"/>
                </a:solidFill>
                <a:latin typeface="Inter Medium"/>
                <a:ea typeface="Inter Medium"/>
                <a:cs typeface="Inter Medium"/>
                <a:sym typeface="Inter Medium"/>
              </a:rPr>
              <a:t>Navigating the shift from static text generation to autonomous, goal-oriented systems.</a:t>
            </a:r>
            <a:endParaRPr b="0" sz="1800">
              <a:solidFill>
                <a:srgbClr val="2563EB"/>
              </a:solidFill>
              <a:latin typeface="Inter Medium"/>
              <a:ea typeface="Inter Medium"/>
              <a:cs typeface="Inter Medium"/>
              <a:sym typeface="Inter Medium"/>
            </a:endParaRPr>
          </a:p>
        </p:txBody>
      </p:sp>
      <p:sp>
        <p:nvSpPr>
          <p:cNvPr id="65" name="Google Shape;65;p14"/>
          <p:cNvSpPr txBox="1"/>
          <p:nvPr/>
        </p:nvSpPr>
        <p:spPr>
          <a:xfrm>
            <a:off x="629543" y="1341081"/>
            <a:ext cx="7060500" cy="2482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solidFill>
                  <a:schemeClr val="dk2"/>
                </a:solidFill>
                <a:latin typeface="Arial"/>
                <a:ea typeface="Arial"/>
                <a:cs typeface="Arial"/>
                <a:sym typeface="Arial"/>
              </a:rPr>
              <a:t>Your slide is ready.</a:t>
            </a:r>
            <a:endParaRPr sz="180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69" name="Shape 69"/>
        <p:cNvGrpSpPr/>
        <p:nvPr/>
      </p:nvGrpSpPr>
      <p:grpSpPr>
        <a:xfrm>
          <a:off x="0" y="0"/>
          <a:ext cx="0" cy="0"/>
          <a:chOff x="0" y="0"/>
          <a:chExt cx="0" cy="0"/>
        </a:xfrm>
      </p:grpSpPr>
      <p:grpSp>
        <p:nvGrpSpPr>
          <p:cNvPr id="70" name="Google Shape;70;p15"/>
          <p:cNvGrpSpPr/>
          <p:nvPr/>
        </p:nvGrpSpPr>
        <p:grpSpPr>
          <a:xfrm>
            <a:off x="8458200" y="381000"/>
            <a:ext cx="304800" cy="304800"/>
            <a:chOff x="0" y="0"/>
            <a:chExt cx="304800" cy="304800"/>
          </a:xfrm>
        </p:grpSpPr>
        <p:sp>
          <p:nvSpPr>
            <p:cNvPr id="71" name="Google Shape;71;p15"/>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5"/>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5"/>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4" name="Google Shape;74;p15"/>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txBox="1"/>
          <p:nvPr/>
        </p:nvSpPr>
        <p:spPr>
          <a:xfrm>
            <a:off x="381000" y="28575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40">
                <a:solidFill>
                  <a:srgbClr val="111827"/>
                </a:solidFill>
                <a:latin typeface="Inter"/>
                <a:ea typeface="Inter"/>
                <a:cs typeface="Inter"/>
                <a:sym typeface="Inter"/>
              </a:rPr>
              <a:t>Software is Evolving from a Static Tool to an Active Helper</a:t>
            </a:r>
            <a:endParaRPr b="1" sz="2040">
              <a:solidFill>
                <a:srgbClr val="111827"/>
              </a:solidFill>
              <a:latin typeface="Inter"/>
              <a:ea typeface="Inter"/>
              <a:cs typeface="Inter"/>
              <a:sym typeface="Inter"/>
            </a:endParaRPr>
          </a:p>
          <a:p>
            <a:pPr indent="0" lvl="0" marL="0" rtl="0" algn="l">
              <a:spcBef>
                <a:spcPts val="300"/>
              </a:spcBef>
              <a:spcAft>
                <a:spcPts val="0"/>
              </a:spcAft>
              <a:buNone/>
            </a:pPr>
            <a:r>
              <a:rPr b="0" lang="en" sz="1105">
                <a:solidFill>
                  <a:srgbClr val="2563EB"/>
                </a:solidFill>
                <a:latin typeface="Inter Medium"/>
                <a:ea typeface="Inter Medium"/>
                <a:cs typeface="Inter Medium"/>
                <a:sym typeface="Inter Medium"/>
              </a:rPr>
              <a:t>How Artificial Intelligence is transforming human-machine collaboration</a:t>
            </a:r>
            <a:endParaRPr b="0" sz="1105">
              <a:solidFill>
                <a:srgbClr val="2563EB"/>
              </a:solidFill>
              <a:latin typeface="Inter Medium"/>
              <a:ea typeface="Inter Medium"/>
              <a:cs typeface="Inter Medium"/>
              <a:sym typeface="Inter Medium"/>
            </a:endParaRPr>
          </a:p>
        </p:txBody>
      </p:sp>
      <p:sp>
        <p:nvSpPr>
          <p:cNvPr id="76" name="Google Shape;76;p15"/>
          <p:cNvSpPr txBox="1"/>
          <p:nvPr/>
        </p:nvSpPr>
        <p:spPr>
          <a:xfrm>
            <a:off x="381000" y="1428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800">
                <a:solidFill>
                  <a:srgbClr val="111827"/>
                </a:solidFill>
                <a:latin typeface="Inter"/>
                <a:ea typeface="Inter"/>
                <a:cs typeface="Inter"/>
                <a:sym typeface="Inter"/>
              </a:rPr>
              <a:t>Artificial Intelligence is fundamentally changing how we interact with software.</a:t>
            </a:r>
            <a:endParaRPr b="0" i="1" sz="1800">
              <a:solidFill>
                <a:srgbClr val="111827"/>
              </a:solidFill>
              <a:latin typeface="Inter"/>
              <a:ea typeface="Inter"/>
              <a:cs typeface="Inter"/>
              <a:sym typeface="Inter"/>
            </a:endParaRPr>
          </a:p>
        </p:txBody>
      </p:sp>
      <p:sp>
        <p:nvSpPr>
          <p:cNvPr id="77" name="Google Shape;77;p15"/>
          <p:cNvSpPr/>
          <p:nvPr/>
        </p:nvSpPr>
        <p:spPr>
          <a:xfrm>
            <a:off x="381000" y="2524125"/>
            <a:ext cx="4000500" cy="2238300"/>
          </a:xfrm>
          <a:prstGeom prst="roundRect">
            <a:avLst>
              <a:gd fmla="val 340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txBox="1"/>
          <p:nvPr/>
        </p:nvSpPr>
        <p:spPr>
          <a:xfrm>
            <a:off x="609600" y="2714625"/>
            <a:ext cx="35433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97316"/>
                </a:solidFill>
                <a:latin typeface="Inter SemiBold"/>
                <a:ea typeface="Inter SemiBold"/>
                <a:cs typeface="Inter SemiBold"/>
                <a:sym typeface="Inter SemiBold"/>
              </a:rPr>
              <a:t>STATIC TOOLS</a:t>
            </a:r>
            <a:endParaRPr b="0" sz="1100">
              <a:solidFill>
                <a:srgbClr val="F97316"/>
              </a:solidFill>
              <a:latin typeface="Inter SemiBold"/>
              <a:ea typeface="Inter SemiBold"/>
              <a:cs typeface="Inter SemiBold"/>
              <a:sym typeface="Inter SemiBold"/>
            </a:endParaRPr>
          </a:p>
          <a:p>
            <a:pPr indent="0" lvl="0" marL="0" rtl="0" algn="l">
              <a:spcBef>
                <a:spcPts val="600"/>
              </a:spcBef>
              <a:spcAft>
                <a:spcPts val="0"/>
              </a:spcAft>
              <a:buNone/>
            </a:pPr>
            <a:r>
              <a:rPr b="1" lang="en" sz="1600">
                <a:solidFill>
                  <a:srgbClr val="111827"/>
                </a:solidFill>
                <a:latin typeface="Inter"/>
                <a:ea typeface="Inter"/>
                <a:cs typeface="Inter"/>
                <a:sym typeface="Inter"/>
              </a:rPr>
              <a:t>Command-Driven Legacy</a:t>
            </a:r>
            <a:endParaRPr b="1" sz="1600">
              <a:solidFill>
                <a:srgbClr val="111827"/>
              </a:solidFill>
              <a:latin typeface="Inter"/>
              <a:ea typeface="Inter"/>
              <a:cs typeface="Inter"/>
              <a:sym typeface="Inter"/>
            </a:endParaRPr>
          </a:p>
          <a:p>
            <a:pPr indent="0" lvl="0" marL="0" rtl="0" algn="l">
              <a:spcBef>
                <a:spcPts val="900"/>
              </a:spcBef>
              <a:spcAft>
                <a:spcPts val="0"/>
              </a:spcAft>
              <a:buNone/>
            </a:pPr>
            <a:r>
              <a:rPr b="0" lang="en" sz="1300">
                <a:solidFill>
                  <a:srgbClr val="4B5563"/>
                </a:solidFill>
                <a:latin typeface="Inter"/>
                <a:ea typeface="Inter"/>
                <a:cs typeface="Inter"/>
                <a:sym typeface="Inter"/>
              </a:rPr>
              <a:t>Historically, software required explicit, step-by-step human commands to function.</a:t>
            </a:r>
            <a:endParaRPr b="0" sz="1300">
              <a:solidFill>
                <a:srgbClr val="4B5563"/>
              </a:solidFill>
              <a:latin typeface="Inter"/>
              <a:ea typeface="Inter"/>
              <a:cs typeface="Inter"/>
              <a:sym typeface="Inter"/>
            </a:endParaRPr>
          </a:p>
        </p:txBody>
      </p:sp>
      <p:sp>
        <p:nvSpPr>
          <p:cNvPr id="79" name="Google Shape;79;p15"/>
          <p:cNvSpPr/>
          <p:nvPr/>
        </p:nvSpPr>
        <p:spPr>
          <a:xfrm>
            <a:off x="4762500" y="2524125"/>
            <a:ext cx="4000500" cy="2238300"/>
          </a:xfrm>
          <a:prstGeom prst="roundRect">
            <a:avLst>
              <a:gd fmla="val 3404"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5"/>
          <p:cNvSpPr txBox="1"/>
          <p:nvPr/>
        </p:nvSpPr>
        <p:spPr>
          <a:xfrm>
            <a:off x="4991100" y="2714625"/>
            <a:ext cx="3543300" cy="18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2563EB"/>
                </a:solidFill>
                <a:latin typeface="Inter SemiBold"/>
                <a:ea typeface="Inter SemiBold"/>
                <a:cs typeface="Inter SemiBold"/>
                <a:sym typeface="Inter SemiBold"/>
              </a:rPr>
              <a:t>ACTIVE HELPERS</a:t>
            </a:r>
            <a:endParaRPr b="0" sz="1100">
              <a:solidFill>
                <a:srgbClr val="2563EB"/>
              </a:solidFill>
              <a:latin typeface="Inter SemiBold"/>
              <a:ea typeface="Inter SemiBold"/>
              <a:cs typeface="Inter SemiBold"/>
              <a:sym typeface="Inter SemiBold"/>
            </a:endParaRPr>
          </a:p>
          <a:p>
            <a:pPr indent="0" lvl="0" marL="0" rtl="0" algn="l">
              <a:spcBef>
                <a:spcPts val="600"/>
              </a:spcBef>
              <a:spcAft>
                <a:spcPts val="0"/>
              </a:spcAft>
              <a:buNone/>
            </a:pPr>
            <a:r>
              <a:rPr b="1" lang="en" sz="1600">
                <a:solidFill>
                  <a:srgbClr val="111827"/>
                </a:solidFill>
                <a:latin typeface="Inter"/>
                <a:ea typeface="Inter"/>
                <a:cs typeface="Inter"/>
                <a:sym typeface="Inter"/>
              </a:rPr>
              <a:t>Probabilistic Collaboration</a:t>
            </a:r>
            <a:endParaRPr b="1" sz="1600">
              <a:solidFill>
                <a:srgbClr val="111827"/>
              </a:solidFill>
              <a:latin typeface="Inter"/>
              <a:ea typeface="Inter"/>
              <a:cs typeface="Inter"/>
              <a:sym typeface="Inter"/>
            </a:endParaRPr>
          </a:p>
          <a:p>
            <a:pPr indent="0" lvl="0" marL="0" rtl="0" algn="l">
              <a:spcBef>
                <a:spcPts val="900"/>
              </a:spcBef>
              <a:spcAft>
                <a:spcPts val="0"/>
              </a:spcAft>
              <a:buNone/>
            </a:pPr>
            <a:r>
              <a:rPr b="0" lang="en" sz="1150">
                <a:solidFill>
                  <a:srgbClr val="4B5563"/>
                </a:solidFill>
                <a:latin typeface="Inter"/>
                <a:ea typeface="Inter"/>
                <a:cs typeface="Inter"/>
                <a:sym typeface="Inter"/>
              </a:rPr>
              <a:t>Today, foundation models act as powerful probabilistic engines, transforming applications into active collaborators. Rather than just executing hardcoded rules, modern AI systems understand context, predict outcomes, and assist in complex decision-making, bridging the gap between human intent and machine execution.</a:t>
            </a:r>
            <a:endParaRPr b="0" sz="1150">
              <a:solidFill>
                <a:srgbClr val="4B5563"/>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84" name="Shape 84"/>
        <p:cNvGrpSpPr/>
        <p:nvPr/>
      </p:nvGrpSpPr>
      <p:grpSpPr>
        <a:xfrm>
          <a:off x="0" y="0"/>
          <a:ext cx="0" cy="0"/>
          <a:chOff x="0" y="0"/>
          <a:chExt cx="0" cy="0"/>
        </a:xfrm>
      </p:grpSpPr>
      <p:grpSp>
        <p:nvGrpSpPr>
          <p:cNvPr id="85" name="Google Shape;85;p16"/>
          <p:cNvGrpSpPr/>
          <p:nvPr/>
        </p:nvGrpSpPr>
        <p:grpSpPr>
          <a:xfrm>
            <a:off x="8458200" y="381000"/>
            <a:ext cx="304800" cy="304800"/>
            <a:chOff x="0" y="0"/>
            <a:chExt cx="304800" cy="304800"/>
          </a:xfrm>
        </p:grpSpPr>
        <p:sp>
          <p:nvSpPr>
            <p:cNvPr id="86" name="Google Shape;86;p16"/>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6"/>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6"/>
            <p:cNvSpPr/>
            <p:nvPr/>
          </p:nvSpPr>
          <p:spPr>
            <a:xfrm>
              <a:off x="38100" y="38100"/>
              <a:ext cx="228600" cy="228600"/>
            </a:xfrm>
            <a:custGeom>
              <a:rect b="b" l="l" r="r" t="t"/>
              <a:pathLst>
                <a:path extrusionOk="0"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9" name="Google Shape;89;p16"/>
          <p:cNvSpPr/>
          <p:nvPr/>
        </p:nvSpPr>
        <p:spPr>
          <a:xfrm>
            <a:off x="381000" y="1143000"/>
            <a:ext cx="8382000" cy="0"/>
          </a:xfrm>
          <a:custGeom>
            <a:rect b="b" l="l" r="r" t="t"/>
            <a:pathLst>
              <a:path extrusionOk="0" fill="none" h="120000" w="120000">
                <a:moveTo>
                  <a:pt x="0" y="0"/>
                </a:moveTo>
                <a:lnTo>
                  <a:pt x="120000" y="0"/>
                </a:lnTo>
              </a:path>
            </a:pathLst>
          </a:cu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6"/>
          <p:cNvSpPr txBox="1"/>
          <p:nvPr/>
        </p:nvSpPr>
        <p:spPr>
          <a:xfrm>
            <a:off x="381000" y="28575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111827"/>
                </a:solidFill>
                <a:latin typeface="Inter"/>
                <a:ea typeface="Inter"/>
                <a:cs typeface="Inter"/>
                <a:sym typeface="Inter"/>
              </a:rPr>
              <a:t>Anatomy of an Agent</a:t>
            </a:r>
            <a:endParaRPr b="1" sz="2000">
              <a:solidFill>
                <a:srgbClr val="111827"/>
              </a:solidFill>
              <a:latin typeface="Inter"/>
              <a:ea typeface="Inter"/>
              <a:cs typeface="Inter"/>
              <a:sym typeface="Inter"/>
            </a:endParaRPr>
          </a:p>
          <a:p>
            <a:pPr indent="0" lvl="0" marL="0" rtl="0" algn="l">
              <a:spcBef>
                <a:spcPts val="300"/>
              </a:spcBef>
              <a:spcAft>
                <a:spcPts val="0"/>
              </a:spcAft>
              <a:buNone/>
            </a:pPr>
            <a:r>
              <a:rPr b="0" lang="en" sz="1100">
                <a:solidFill>
                  <a:srgbClr val="2563EB"/>
                </a:solidFill>
                <a:latin typeface="Inter Medium"/>
                <a:ea typeface="Inter Medium"/>
                <a:cs typeface="Inter Medium"/>
                <a:sym typeface="Inter Medium"/>
              </a:rPr>
              <a:t>Comprehensive environment for evaluating agents, tools, MCP protocols, and execution skills</a:t>
            </a:r>
            <a:endParaRPr b="0" sz="1100">
              <a:solidFill>
                <a:srgbClr val="2563EB"/>
              </a:solidFill>
              <a:latin typeface="Inter Medium"/>
              <a:ea typeface="Inter Medium"/>
              <a:cs typeface="Inter Medium"/>
              <a:sym typeface="Inter Medium"/>
            </a:endParaRPr>
          </a:p>
        </p:txBody>
      </p:sp>
      <p:sp>
        <p:nvSpPr>
          <p:cNvPr id="91" name="Google Shape;91;p16"/>
          <p:cNvSpPr/>
          <p:nvPr/>
        </p:nvSpPr>
        <p:spPr>
          <a:xfrm>
            <a:off x="381000" y="1428750"/>
            <a:ext cx="3619500" cy="3238500"/>
          </a:xfrm>
          <a:prstGeom prst="roundRect">
            <a:avLst>
              <a:gd fmla="val 235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6"/>
          <p:cNvSpPr txBox="1"/>
          <p:nvPr/>
        </p:nvSpPr>
        <p:spPr>
          <a:xfrm>
            <a:off x="609600" y="1657350"/>
            <a:ext cx="31623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F97316"/>
                </a:solidFill>
                <a:latin typeface="Inter SemiBold"/>
                <a:ea typeface="Inter SemiBold"/>
                <a:cs typeface="Inter SemiBold"/>
                <a:sym typeface="Inter SemiBold"/>
              </a:rPr>
              <a:t>AGENT = MODEL + HARNESS</a:t>
            </a:r>
            <a:endParaRPr b="0" sz="1000">
              <a:solidFill>
                <a:srgbClr val="F97316"/>
              </a:solidFill>
              <a:latin typeface="Inter SemiBold"/>
              <a:ea typeface="Inter SemiBold"/>
              <a:cs typeface="Inter SemiBold"/>
              <a:sym typeface="Inter SemiBold"/>
            </a:endParaRPr>
          </a:p>
          <a:p>
            <a:pPr indent="0" lvl="0" marL="0" rtl="0" algn="l">
              <a:spcBef>
                <a:spcPts val="900"/>
              </a:spcBef>
              <a:spcAft>
                <a:spcPts val="0"/>
              </a:spcAft>
              <a:buNone/>
            </a:pPr>
            <a:r>
              <a:rPr b="1" lang="en" sz="1100">
                <a:solidFill>
                  <a:srgbClr val="4B5563"/>
                </a:solidFill>
                <a:latin typeface="Inter"/>
                <a:ea typeface="Inter"/>
                <a:cs typeface="Inter"/>
                <a:sym typeface="Inter"/>
              </a:rPr>
              <a:t>Harness engineering</a:t>
            </a:r>
            <a:r>
              <a:rPr lang="en" sz="1100">
                <a:solidFill>
                  <a:srgbClr val="4B5563"/>
                </a:solidFill>
                <a:latin typeface="Inter"/>
                <a:ea typeface="Inter"/>
                <a:cs typeface="Inter"/>
                <a:sym typeface="Inter"/>
              </a:rPr>
              <a:t> is how we build systems around </a:t>
            </a:r>
            <a:r>
              <a:rPr b="1" lang="en" sz="1100">
                <a:solidFill>
                  <a:srgbClr val="4B5563"/>
                </a:solidFill>
                <a:latin typeface="Inter"/>
                <a:ea typeface="Inter"/>
                <a:cs typeface="Inter"/>
                <a:sym typeface="Inter"/>
              </a:rPr>
              <a:t>Models</a:t>
            </a:r>
            <a:r>
              <a:rPr lang="en" sz="1100">
                <a:solidFill>
                  <a:srgbClr val="4B5563"/>
                </a:solidFill>
                <a:latin typeface="Inter"/>
                <a:ea typeface="Inter"/>
                <a:cs typeface="Inter"/>
                <a:sym typeface="Inter"/>
              </a:rPr>
              <a:t> to turn them into work engines.  The</a:t>
            </a:r>
            <a:r>
              <a:rPr b="1" lang="en" sz="1100">
                <a:solidFill>
                  <a:srgbClr val="4B5563"/>
                </a:solidFill>
                <a:latin typeface="Inter"/>
                <a:ea typeface="Inter"/>
                <a:cs typeface="Inter"/>
                <a:sym typeface="Inter"/>
              </a:rPr>
              <a:t> model</a:t>
            </a:r>
            <a:r>
              <a:rPr lang="en" sz="1100">
                <a:solidFill>
                  <a:srgbClr val="4B5563"/>
                </a:solidFill>
                <a:latin typeface="Inter"/>
                <a:ea typeface="Inter"/>
                <a:cs typeface="Inter"/>
                <a:sym typeface="Inter"/>
              </a:rPr>
              <a:t> contains the intelligence and the harness makes that intelligence useful.</a:t>
            </a:r>
            <a:r>
              <a:rPr lang="en">
                <a:solidFill>
                  <a:srgbClr val="030710"/>
                </a:solidFill>
                <a:highlight>
                  <a:srgbClr val="F2FAFF"/>
                </a:highlight>
              </a:rPr>
              <a:t> </a:t>
            </a:r>
            <a:br>
              <a:rPr lang="en">
                <a:solidFill>
                  <a:srgbClr val="030710"/>
                </a:solidFill>
                <a:highlight>
                  <a:srgbClr val="F2FAFF"/>
                </a:highlight>
              </a:rPr>
            </a:br>
            <a:br>
              <a:rPr lang="en">
                <a:solidFill>
                  <a:srgbClr val="030710"/>
                </a:solidFill>
                <a:highlight>
                  <a:srgbClr val="F2FAFF"/>
                </a:highlight>
              </a:rPr>
            </a:br>
            <a:r>
              <a:rPr b="1" lang="en" sz="1100">
                <a:solidFill>
                  <a:srgbClr val="4B5563"/>
                </a:solidFill>
                <a:latin typeface="Inter"/>
                <a:ea typeface="Inter"/>
                <a:cs typeface="Inter"/>
                <a:sym typeface="Inter"/>
              </a:rPr>
              <a:t>If you're not the model, you're the harness.</a:t>
            </a:r>
            <a:endParaRPr>
              <a:solidFill>
                <a:srgbClr val="030710"/>
              </a:solidFill>
              <a:highlight>
                <a:srgbClr val="F2FAFF"/>
              </a:highlight>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b="1" lang="en" sz="1100">
                <a:solidFill>
                  <a:srgbClr val="4B5563"/>
                </a:solidFill>
                <a:latin typeface="Inter"/>
                <a:ea typeface="Inter"/>
                <a:cs typeface="Inter"/>
                <a:sym typeface="Inter"/>
              </a:rPr>
              <a:t>MCP Server Integration:</a:t>
            </a:r>
            <a:r>
              <a:rPr b="0" lang="en" sz="1100">
                <a:solidFill>
                  <a:srgbClr val="4B5563"/>
                </a:solidFill>
                <a:latin typeface="Inter"/>
                <a:ea typeface="Inter"/>
                <a:cs typeface="Inter"/>
                <a:sym typeface="Inter"/>
              </a:rPr>
              <a:t> Bridges standard Model Context Protocol clients with custom knowledge-retrieval pipelines.</a:t>
            </a:r>
            <a:endParaRPr b="0" sz="1100">
              <a:solidFill>
                <a:srgbClr val="4B5563"/>
              </a:solidFill>
              <a:latin typeface="Inter"/>
              <a:ea typeface="Inter"/>
              <a:cs typeface="Inter"/>
              <a:sym typeface="Inter"/>
            </a:endParaRPr>
          </a:p>
          <a:p>
            <a:pPr indent="0" lvl="0" marL="0" rtl="0" algn="l">
              <a:spcBef>
                <a:spcPts val="1200"/>
              </a:spcBef>
              <a:spcAft>
                <a:spcPts val="0"/>
              </a:spcAft>
              <a:buNone/>
            </a:pPr>
            <a:r>
              <a:rPr b="1" lang="en" sz="1100">
                <a:solidFill>
                  <a:srgbClr val="4B5563"/>
                </a:solidFill>
                <a:latin typeface="Inter"/>
                <a:ea typeface="Inter"/>
                <a:cs typeface="Inter"/>
                <a:sym typeface="Inter"/>
              </a:rPr>
              <a:t>Unified Tool APIs &amp; Skills:</a:t>
            </a:r>
            <a:r>
              <a:rPr b="0" lang="en" sz="1100">
                <a:solidFill>
                  <a:srgbClr val="4B5563"/>
                </a:solidFill>
                <a:latin typeface="Inter"/>
                <a:ea typeface="Inter"/>
                <a:cs typeface="Inter"/>
                <a:sym typeface="Inter"/>
              </a:rPr>
              <a:t> Manages stateful tool lifecycles, permission scopes, authentication, and execution telemetry across distributed systems.</a:t>
            </a:r>
            <a:endParaRPr b="0" sz="1100">
              <a:solidFill>
                <a:srgbClr val="4B5563"/>
              </a:solidFill>
              <a:latin typeface="Inter"/>
              <a:ea typeface="Inter"/>
              <a:cs typeface="Inter"/>
              <a:sym typeface="Inter"/>
            </a:endParaRPr>
          </a:p>
        </p:txBody>
      </p:sp>
      <p:pic>
        <p:nvPicPr>
          <p:cNvPr descr="A modern, clean software architecture diagram visualizing an AI Agent Test Harness. The diagram should showcase connecting layers: an inner AI Core surrounded by boxes representing Tools, Model Context Protocol (MCP), Sandboxed Execution Environment, APIs, and Evaluator Skills. Use a technological, professional vector graphic aesthetic with blue and orange accent lines on a clean white background." id="93" name="Google Shape;93;p16"/>
          <p:cNvPicPr preferRelativeResize="0"/>
          <p:nvPr/>
        </p:nvPicPr>
        <p:blipFill rotWithShape="1">
          <a:blip r:embed="rId3">
            <a:alphaModFix/>
          </a:blip>
          <a:srcRect b="719" l="0" r="0" t="729"/>
          <a:stretch/>
        </p:blipFill>
        <p:spPr>
          <a:xfrm>
            <a:off x="4381500" y="1428750"/>
            <a:ext cx="4381500" cy="3238500"/>
          </a:xfrm>
          <a:prstGeom prst="roundRect">
            <a:avLst>
              <a:gd fmla="val 2352" name="adj"/>
            </a:avLst>
          </a:prstGeom>
          <a:noFill/>
          <a:ln>
            <a:noFill/>
          </a:ln>
        </p:spPr>
      </p:pic>
      <p:sp>
        <p:nvSpPr>
          <p:cNvPr id="94" name="Google Shape;94;p16"/>
          <p:cNvSpPr/>
          <p:nvPr/>
        </p:nvSpPr>
        <p:spPr>
          <a:xfrm>
            <a:off x="4381500" y="1428750"/>
            <a:ext cx="4381500" cy="3238500"/>
          </a:xfrm>
          <a:prstGeom prst="roundRect">
            <a:avLst>
              <a:gd fmla="val 2352" name="adj"/>
            </a:avLst>
          </a:pr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7" title="69cba9b378fbdcbc9db3067e_image.png"/>
          <p:cNvPicPr preferRelativeResize="0"/>
          <p:nvPr/>
        </p:nvPicPr>
        <p:blipFill>
          <a:blip r:embed="rId3">
            <a:alphaModFix/>
          </a:blip>
          <a:stretch>
            <a:fillRect/>
          </a:stretch>
        </p:blipFill>
        <p:spPr>
          <a:xfrm>
            <a:off x="1345442" y="0"/>
            <a:ext cx="645312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8" title="69cba9b378fbdcbc9db30681_image-1.png"/>
          <p:cNvPicPr preferRelativeResize="0"/>
          <p:nvPr/>
        </p:nvPicPr>
        <p:blipFill rotWithShape="1">
          <a:blip r:embed="rId3">
            <a:alphaModFix/>
          </a:blip>
          <a:srcRect b="0" l="7191" r="7200" t="0"/>
          <a:stretch/>
        </p:blipFill>
        <p:spPr>
          <a:xfrm>
            <a:off x="1345442" y="0"/>
            <a:ext cx="645312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rPr lang="en"/>
              <a:t>Your slide is ready.</a:t>
            </a:r>
            <a:endParaRPr/>
          </a:p>
        </p:txBody>
      </p:sp>
      <p:grpSp>
        <p:nvGrpSpPr>
          <p:cNvPr id="110" name="Google Shape;110;p19"/>
          <p:cNvGrpSpPr/>
          <p:nvPr/>
        </p:nvGrpSpPr>
        <p:grpSpPr>
          <a:xfrm>
            <a:off x="8458200" y="381000"/>
            <a:ext cx="438300" cy="304800"/>
            <a:chOff x="0" y="0"/>
            <a:chExt cx="438300" cy="304800"/>
          </a:xfrm>
        </p:grpSpPr>
        <p:sp>
          <p:nvSpPr>
            <p:cNvPr id="111" name="Google Shape;111;p19"/>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9"/>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9"/>
            <p:cNvSpPr/>
            <p:nvPr/>
          </p:nvSpPr>
          <p:spPr>
            <a:xfrm>
              <a:off x="38100" y="38100"/>
              <a:ext cx="400200" cy="228600"/>
            </a:xfrm>
            <a:custGeom>
              <a:rect b="b" l="l" r="r" t="t"/>
              <a:pathLst>
                <a:path extrusionOk="0" h="120000" w="120000">
                  <a:moveTo>
                    <a:pt x="34286" y="0"/>
                  </a:moveTo>
                  <a:lnTo>
                    <a:pt x="34286" y="30000"/>
                  </a:lnTo>
                  <a:moveTo>
                    <a:pt x="34286" y="90000"/>
                  </a:moveTo>
                  <a:lnTo>
                    <a:pt x="34286" y="120000"/>
                  </a:lnTo>
                  <a:moveTo>
                    <a:pt x="0" y="60000"/>
                  </a:moveTo>
                  <a:lnTo>
                    <a:pt x="17143" y="60000"/>
                  </a:lnTo>
                  <a:moveTo>
                    <a:pt x="51429"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4" name="Google Shape;114;p19"/>
          <p:cNvSpPr txBox="1"/>
          <p:nvPr/>
        </p:nvSpPr>
        <p:spPr>
          <a:xfrm>
            <a:off x="381000" y="28575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111827"/>
                </a:solidFill>
                <a:latin typeface="Inter"/>
                <a:ea typeface="Inter"/>
                <a:cs typeface="Inter"/>
                <a:sym typeface="Inter"/>
              </a:rPr>
              <a:t>Agent Workflow</a:t>
            </a:r>
            <a:endParaRPr b="1" sz="2000">
              <a:solidFill>
                <a:srgbClr val="111827"/>
              </a:solidFill>
              <a:latin typeface="Inter"/>
              <a:ea typeface="Inter"/>
              <a:cs typeface="Inter"/>
              <a:sym typeface="Inter"/>
            </a:endParaRPr>
          </a:p>
          <a:p>
            <a:pPr indent="0" lvl="0" marL="0" rtl="0" algn="l">
              <a:spcBef>
                <a:spcPts val="300"/>
              </a:spcBef>
              <a:spcAft>
                <a:spcPts val="0"/>
              </a:spcAft>
              <a:buNone/>
            </a:pPr>
            <a:r>
              <a:rPr b="0" lang="en" sz="935">
                <a:solidFill>
                  <a:srgbClr val="2563EB"/>
                </a:solidFill>
                <a:latin typeface="Inter Medium"/>
                <a:ea typeface="Inter Medium"/>
                <a:cs typeface="Inter Medium"/>
                <a:sym typeface="Inter Medium"/>
              </a:rPr>
              <a:t>The end-to-end cognitive pipeline from system prompt to safe output generation</a:t>
            </a:r>
            <a:endParaRPr b="0" sz="935">
              <a:solidFill>
                <a:srgbClr val="2563EB"/>
              </a:solidFill>
              <a:latin typeface="Inter Medium"/>
              <a:ea typeface="Inter Medium"/>
              <a:cs typeface="Inter Medium"/>
              <a:sym typeface="Inter Medium"/>
            </a:endParaRPr>
          </a:p>
        </p:txBody>
      </p:sp>
      <p:sp>
        <p:nvSpPr>
          <p:cNvPr id="115" name="Google Shape;115;p19"/>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 name="Google Shape;116;p19"/>
          <p:cNvGrpSpPr/>
          <p:nvPr/>
        </p:nvGrpSpPr>
        <p:grpSpPr>
          <a:xfrm>
            <a:off x="381000" y="1428750"/>
            <a:ext cx="1238400" cy="1428900"/>
            <a:chOff x="0" y="0"/>
            <a:chExt cx="1238400" cy="1428900"/>
          </a:xfrm>
        </p:grpSpPr>
        <p:sp>
          <p:nvSpPr>
            <p:cNvPr id="117" name="Google Shape;117;p19"/>
            <p:cNvSpPr/>
            <p:nvPr/>
          </p:nvSpPr>
          <p:spPr>
            <a:xfrm>
              <a:off x="0" y="0"/>
              <a:ext cx="1238400" cy="1428900"/>
            </a:xfrm>
            <a:prstGeom prst="roundRect">
              <a:avLst>
                <a:gd fmla="val 6153"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9"/>
            <p:cNvSpPr/>
            <p:nvPr/>
          </p:nvSpPr>
          <p:spPr>
            <a:xfrm>
              <a:off x="142875" y="142875"/>
              <a:ext cx="285900" cy="0"/>
            </a:xfrm>
            <a:custGeom>
              <a:rect b="b" l="l" r="r" t="t"/>
              <a:pathLst>
                <a:path extrusionOk="0" h="120000" w="120000">
                  <a:moveTo>
                    <a:pt x="0" y="0"/>
                  </a:moveTo>
                  <a:lnTo>
                    <a:pt x="120000" y="0"/>
                  </a:lnTo>
                </a:path>
              </a:pathLst>
            </a:custGeom>
            <a:solidFill>
              <a:srgbClr val="000000">
                <a:alpha val="0"/>
              </a:srgbClr>
            </a:solidFill>
            <a:ln cap="rnd" cmpd="sng" w="28575">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9"/>
            <p:cNvSpPr txBox="1"/>
            <p:nvPr/>
          </p:nvSpPr>
          <p:spPr>
            <a:xfrm>
              <a:off x="142875" y="285750"/>
              <a:ext cx="952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F97316"/>
                  </a:solidFill>
                  <a:latin typeface="Inter"/>
                  <a:ea typeface="Inter"/>
                  <a:cs typeface="Inter"/>
                  <a:sym typeface="Inter"/>
                </a:rPr>
                <a:t>01 / INPUT</a:t>
              </a:r>
              <a:endParaRPr b="1" sz="765">
                <a:solidFill>
                  <a:srgbClr val="F97316"/>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System Prompt</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Initial rules, persona definitions, and core task constraints.</a:t>
              </a:r>
              <a:endParaRPr b="0" sz="765">
                <a:solidFill>
                  <a:srgbClr val="4B5563"/>
                </a:solidFill>
                <a:latin typeface="Inter"/>
                <a:ea typeface="Inter"/>
                <a:cs typeface="Inter"/>
                <a:sym typeface="Inter"/>
              </a:endParaRPr>
            </a:p>
          </p:txBody>
        </p:sp>
      </p:grpSp>
      <p:pic>
        <p:nvPicPr>
          <p:cNvPr id="120" name="Google Shape;120;p19"/>
          <p:cNvPicPr preferRelativeResize="0"/>
          <p:nvPr/>
        </p:nvPicPr>
        <p:blipFill rotWithShape="1">
          <a:blip r:embed="rId3">
            <a:alphaModFix/>
          </a:blip>
          <a:srcRect b="0" l="0" r="0" t="0"/>
          <a:stretch/>
        </p:blipFill>
        <p:spPr>
          <a:xfrm>
            <a:off x="1619250" y="2100263"/>
            <a:ext cx="214200" cy="85800"/>
          </a:xfrm>
          <a:prstGeom prst="rect">
            <a:avLst/>
          </a:prstGeom>
          <a:noFill/>
          <a:ln>
            <a:noFill/>
          </a:ln>
        </p:spPr>
      </p:pic>
      <p:grpSp>
        <p:nvGrpSpPr>
          <p:cNvPr id="121" name="Google Shape;121;p19"/>
          <p:cNvGrpSpPr/>
          <p:nvPr/>
        </p:nvGrpSpPr>
        <p:grpSpPr>
          <a:xfrm>
            <a:off x="1905000" y="1428750"/>
            <a:ext cx="1238400" cy="1428900"/>
            <a:chOff x="0" y="0"/>
            <a:chExt cx="1238400" cy="1428900"/>
          </a:xfrm>
        </p:grpSpPr>
        <p:sp>
          <p:nvSpPr>
            <p:cNvPr id="122" name="Google Shape;122;p19"/>
            <p:cNvSpPr/>
            <p:nvPr/>
          </p:nvSpPr>
          <p:spPr>
            <a:xfrm>
              <a:off x="0" y="0"/>
              <a:ext cx="1238400" cy="1428900"/>
            </a:xfrm>
            <a:prstGeom prst="roundRect">
              <a:avLst>
                <a:gd fmla="val 6153"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9"/>
            <p:cNvSpPr/>
            <p:nvPr/>
          </p:nvSpPr>
          <p:spPr>
            <a:xfrm>
              <a:off x="142875" y="142875"/>
              <a:ext cx="285900" cy="0"/>
            </a:xfrm>
            <a:custGeom>
              <a:rect b="b" l="l" r="r" t="t"/>
              <a:pathLst>
                <a:path extrusionOk="0" h="120000" w="120000">
                  <a:moveTo>
                    <a:pt x="0" y="0"/>
                  </a:moveTo>
                  <a:lnTo>
                    <a:pt x="120000" y="0"/>
                  </a:lnTo>
                </a:path>
              </a:pathLst>
            </a:custGeom>
            <a:solidFill>
              <a:srgbClr val="000000">
                <a:alpha val="0"/>
              </a:srgbClr>
            </a:solidFill>
            <a:ln cap="rnd" cmpd="sng" w="28575">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9"/>
            <p:cNvSpPr txBox="1"/>
            <p:nvPr/>
          </p:nvSpPr>
          <p:spPr>
            <a:xfrm>
              <a:off x="142875" y="285750"/>
              <a:ext cx="952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F97316"/>
                  </a:solidFill>
                  <a:latin typeface="Inter"/>
                  <a:ea typeface="Inter"/>
                  <a:cs typeface="Inter"/>
                  <a:sym typeface="Inter"/>
                </a:rPr>
                <a:t>02 / SETUP</a:t>
              </a:r>
              <a:endParaRPr b="1" sz="765">
                <a:solidFill>
                  <a:srgbClr val="F97316"/>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Context Injection</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Dynamic user query, session variables, and situational data.</a:t>
              </a:r>
              <a:endParaRPr b="0" sz="765">
                <a:solidFill>
                  <a:srgbClr val="4B5563"/>
                </a:solidFill>
                <a:latin typeface="Inter"/>
                <a:ea typeface="Inter"/>
                <a:cs typeface="Inter"/>
                <a:sym typeface="Inter"/>
              </a:endParaRPr>
            </a:p>
          </p:txBody>
        </p:sp>
      </p:grpSp>
      <p:pic>
        <p:nvPicPr>
          <p:cNvPr id="125" name="Google Shape;125;p19"/>
          <p:cNvPicPr preferRelativeResize="0"/>
          <p:nvPr/>
        </p:nvPicPr>
        <p:blipFill rotWithShape="1">
          <a:blip r:embed="rId3">
            <a:alphaModFix/>
          </a:blip>
          <a:srcRect b="0" l="0" r="0" t="0"/>
          <a:stretch/>
        </p:blipFill>
        <p:spPr>
          <a:xfrm>
            <a:off x="3143250" y="2100263"/>
            <a:ext cx="214200" cy="85800"/>
          </a:xfrm>
          <a:prstGeom prst="rect">
            <a:avLst/>
          </a:prstGeom>
          <a:noFill/>
          <a:ln>
            <a:noFill/>
          </a:ln>
        </p:spPr>
      </p:pic>
      <p:grpSp>
        <p:nvGrpSpPr>
          <p:cNvPr id="126" name="Google Shape;126;p19"/>
          <p:cNvGrpSpPr/>
          <p:nvPr/>
        </p:nvGrpSpPr>
        <p:grpSpPr>
          <a:xfrm>
            <a:off x="3429000" y="1428750"/>
            <a:ext cx="1238400" cy="1428900"/>
            <a:chOff x="0" y="0"/>
            <a:chExt cx="1238400" cy="1428900"/>
          </a:xfrm>
        </p:grpSpPr>
        <p:sp>
          <p:nvSpPr>
            <p:cNvPr id="127" name="Google Shape;127;p19"/>
            <p:cNvSpPr/>
            <p:nvPr/>
          </p:nvSpPr>
          <p:spPr>
            <a:xfrm>
              <a:off x="0" y="0"/>
              <a:ext cx="1238400" cy="1428900"/>
            </a:xfrm>
            <a:prstGeom prst="roundRect">
              <a:avLst>
                <a:gd fmla="val 6153"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9"/>
            <p:cNvSpPr/>
            <p:nvPr/>
          </p:nvSpPr>
          <p:spPr>
            <a:xfrm>
              <a:off x="142875" y="142875"/>
              <a:ext cx="285900" cy="0"/>
            </a:xfrm>
            <a:custGeom>
              <a:rect b="b" l="l" r="r" t="t"/>
              <a:pathLst>
                <a:path extrusionOk="0" h="120000" w="120000">
                  <a:moveTo>
                    <a:pt x="0" y="0"/>
                  </a:moveTo>
                  <a:lnTo>
                    <a:pt x="120000" y="0"/>
                  </a:lnTo>
                </a:path>
              </a:pathLst>
            </a:custGeom>
            <a:solidFill>
              <a:srgbClr val="000000">
                <a:alpha val="0"/>
              </a:srgbClr>
            </a:solidFill>
            <a:ln cap="rnd" cmpd="sng" w="28575">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9"/>
            <p:cNvSpPr txBox="1"/>
            <p:nvPr/>
          </p:nvSpPr>
          <p:spPr>
            <a:xfrm>
              <a:off x="142875" y="285750"/>
              <a:ext cx="952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F97316"/>
                  </a:solidFill>
                  <a:latin typeface="Inter"/>
                  <a:ea typeface="Inter"/>
                  <a:cs typeface="Inter"/>
                  <a:sym typeface="Inter"/>
                </a:rPr>
                <a:t>03 / MEMORY</a:t>
              </a:r>
              <a:endParaRPr b="1" sz="765">
                <a:solidFill>
                  <a:srgbClr val="F97316"/>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Long-term Memory</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Retrieving historical context and past vector embeddings.</a:t>
              </a:r>
              <a:endParaRPr b="0" sz="765">
                <a:solidFill>
                  <a:srgbClr val="4B5563"/>
                </a:solidFill>
                <a:latin typeface="Inter"/>
                <a:ea typeface="Inter"/>
                <a:cs typeface="Inter"/>
                <a:sym typeface="Inter"/>
              </a:endParaRPr>
            </a:p>
          </p:txBody>
        </p:sp>
      </p:grpSp>
      <p:pic>
        <p:nvPicPr>
          <p:cNvPr id="130" name="Google Shape;130;p19"/>
          <p:cNvPicPr preferRelativeResize="0"/>
          <p:nvPr/>
        </p:nvPicPr>
        <p:blipFill rotWithShape="1">
          <a:blip r:embed="rId3">
            <a:alphaModFix/>
          </a:blip>
          <a:srcRect b="0" l="0" r="0" t="0"/>
          <a:stretch/>
        </p:blipFill>
        <p:spPr>
          <a:xfrm>
            <a:off x="4667250" y="2100263"/>
            <a:ext cx="214200" cy="85800"/>
          </a:xfrm>
          <a:prstGeom prst="rect">
            <a:avLst/>
          </a:prstGeom>
          <a:noFill/>
          <a:ln>
            <a:noFill/>
          </a:ln>
        </p:spPr>
      </p:pic>
      <p:grpSp>
        <p:nvGrpSpPr>
          <p:cNvPr id="131" name="Google Shape;131;p19"/>
          <p:cNvGrpSpPr/>
          <p:nvPr/>
        </p:nvGrpSpPr>
        <p:grpSpPr>
          <a:xfrm>
            <a:off x="4953000" y="1428750"/>
            <a:ext cx="1238400" cy="1428900"/>
            <a:chOff x="0" y="0"/>
            <a:chExt cx="1238400" cy="1428900"/>
          </a:xfrm>
        </p:grpSpPr>
        <p:sp>
          <p:nvSpPr>
            <p:cNvPr id="132" name="Google Shape;132;p19"/>
            <p:cNvSpPr/>
            <p:nvPr/>
          </p:nvSpPr>
          <p:spPr>
            <a:xfrm>
              <a:off x="0" y="0"/>
              <a:ext cx="1238400" cy="1428900"/>
            </a:xfrm>
            <a:prstGeom prst="roundRect">
              <a:avLst>
                <a:gd fmla="val 6153"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9"/>
            <p:cNvSpPr/>
            <p:nvPr/>
          </p:nvSpPr>
          <p:spPr>
            <a:xfrm>
              <a:off x="142875" y="142875"/>
              <a:ext cx="285900" cy="0"/>
            </a:xfrm>
            <a:custGeom>
              <a:rect b="b" l="l" r="r" t="t"/>
              <a:pathLst>
                <a:path extrusionOk="0" h="120000" w="120000">
                  <a:moveTo>
                    <a:pt x="0" y="0"/>
                  </a:moveTo>
                  <a:lnTo>
                    <a:pt x="120000" y="0"/>
                  </a:lnTo>
                </a:path>
              </a:pathLst>
            </a:custGeom>
            <a:solidFill>
              <a:srgbClr val="000000">
                <a:alpha val="0"/>
              </a:srgbClr>
            </a:solidFill>
            <a:ln cap="rnd" cmpd="sng" w="2857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9"/>
            <p:cNvSpPr txBox="1"/>
            <p:nvPr/>
          </p:nvSpPr>
          <p:spPr>
            <a:xfrm>
              <a:off x="142875" y="285750"/>
              <a:ext cx="952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EF4444"/>
                  </a:solidFill>
                  <a:latin typeface="Inter"/>
                  <a:ea typeface="Inter"/>
                  <a:cs typeface="Inter"/>
                  <a:sym typeface="Inter"/>
                </a:rPr>
                <a:t>04 / SHIELD</a:t>
              </a:r>
              <a:endParaRPr b="1" sz="765">
                <a:solidFill>
                  <a:srgbClr val="EF4444"/>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Guardrails (In)</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Safety checks, input validation, and prompt injection filters.</a:t>
              </a:r>
              <a:endParaRPr b="0" sz="765">
                <a:solidFill>
                  <a:srgbClr val="4B5563"/>
                </a:solidFill>
                <a:latin typeface="Inter"/>
                <a:ea typeface="Inter"/>
                <a:cs typeface="Inter"/>
                <a:sym typeface="Inter"/>
              </a:endParaRPr>
            </a:p>
          </p:txBody>
        </p:sp>
      </p:grpSp>
      <p:pic>
        <p:nvPicPr>
          <p:cNvPr id="135" name="Google Shape;135;p19"/>
          <p:cNvPicPr preferRelativeResize="0"/>
          <p:nvPr/>
        </p:nvPicPr>
        <p:blipFill rotWithShape="1">
          <a:blip r:embed="rId3">
            <a:alphaModFix/>
          </a:blip>
          <a:srcRect b="0" l="0" r="0" t="0"/>
          <a:stretch/>
        </p:blipFill>
        <p:spPr>
          <a:xfrm>
            <a:off x="6191250" y="2100263"/>
            <a:ext cx="214200" cy="85800"/>
          </a:xfrm>
          <a:prstGeom prst="rect">
            <a:avLst/>
          </a:prstGeom>
          <a:noFill/>
          <a:ln>
            <a:noFill/>
          </a:ln>
        </p:spPr>
      </p:pic>
      <p:grpSp>
        <p:nvGrpSpPr>
          <p:cNvPr id="136" name="Google Shape;136;p19"/>
          <p:cNvGrpSpPr/>
          <p:nvPr/>
        </p:nvGrpSpPr>
        <p:grpSpPr>
          <a:xfrm>
            <a:off x="6477000" y="1428750"/>
            <a:ext cx="2286000" cy="1428900"/>
            <a:chOff x="0" y="0"/>
            <a:chExt cx="2286000" cy="1428900"/>
          </a:xfrm>
        </p:grpSpPr>
        <p:sp>
          <p:nvSpPr>
            <p:cNvPr id="137" name="Google Shape;137;p19"/>
            <p:cNvSpPr/>
            <p:nvPr/>
          </p:nvSpPr>
          <p:spPr>
            <a:xfrm>
              <a:off x="0" y="0"/>
              <a:ext cx="2286000" cy="1428900"/>
            </a:xfrm>
            <a:prstGeom prst="roundRect">
              <a:avLst>
                <a:gd fmla="val 5333"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9"/>
            <p:cNvSpPr/>
            <p:nvPr/>
          </p:nvSpPr>
          <p:spPr>
            <a:xfrm>
              <a:off x="142875" y="142875"/>
              <a:ext cx="571500" cy="0"/>
            </a:xfrm>
            <a:custGeom>
              <a:rect b="b" l="l" r="r" t="t"/>
              <a:pathLst>
                <a:path extrusionOk="0" h="120000" w="120000">
                  <a:moveTo>
                    <a:pt x="0" y="0"/>
                  </a:moveTo>
                  <a:lnTo>
                    <a:pt x="120000" y="0"/>
                  </a:lnTo>
                </a:path>
              </a:pathLst>
            </a:custGeom>
            <a:solidFill>
              <a:srgbClr val="000000">
                <a:alpha val="0"/>
              </a:srgbClr>
            </a:solidFill>
            <a:ln cap="rnd" cmpd="sng" w="2857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9"/>
            <p:cNvSpPr txBox="1"/>
            <p:nvPr/>
          </p:nvSpPr>
          <p:spPr>
            <a:xfrm>
              <a:off x="142875" y="285750"/>
              <a:ext cx="2000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2563EB"/>
                  </a:solidFill>
                  <a:latin typeface="Inter"/>
                  <a:ea typeface="Inter"/>
                  <a:cs typeface="Inter"/>
                  <a:sym typeface="Inter"/>
                </a:rPr>
                <a:t>05 / BRAIN</a:t>
              </a:r>
              <a:endParaRPr b="1" sz="765">
                <a:solidFill>
                  <a:srgbClr val="2563EB"/>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LLM / Core Model</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The foundational probabilistic processing unit. Decides reasoning paths, synthesizes variables, and initiates downstream actions.</a:t>
              </a:r>
              <a:endParaRPr b="0" sz="765">
                <a:solidFill>
                  <a:srgbClr val="4B5563"/>
                </a:solidFill>
                <a:latin typeface="Inter"/>
                <a:ea typeface="Inter"/>
                <a:cs typeface="Inter"/>
                <a:sym typeface="Inter"/>
              </a:endParaRPr>
            </a:p>
          </p:txBody>
        </p:sp>
      </p:grpSp>
      <p:pic>
        <p:nvPicPr>
          <p:cNvPr id="140" name="Google Shape;140;p19"/>
          <p:cNvPicPr preferRelativeResize="0"/>
          <p:nvPr/>
        </p:nvPicPr>
        <p:blipFill rotWithShape="1">
          <a:blip r:embed="rId4">
            <a:alphaModFix/>
          </a:blip>
          <a:srcRect b="0" l="0" r="0" t="0"/>
          <a:stretch/>
        </p:blipFill>
        <p:spPr>
          <a:xfrm>
            <a:off x="7577138" y="2857500"/>
            <a:ext cx="85800" cy="309600"/>
          </a:xfrm>
          <a:prstGeom prst="rect">
            <a:avLst/>
          </a:prstGeom>
          <a:noFill/>
          <a:ln>
            <a:noFill/>
          </a:ln>
        </p:spPr>
      </p:pic>
      <p:grpSp>
        <p:nvGrpSpPr>
          <p:cNvPr id="141" name="Google Shape;141;p19"/>
          <p:cNvGrpSpPr/>
          <p:nvPr/>
        </p:nvGrpSpPr>
        <p:grpSpPr>
          <a:xfrm>
            <a:off x="6477000" y="3238500"/>
            <a:ext cx="2286000" cy="1524000"/>
            <a:chOff x="0" y="0"/>
            <a:chExt cx="2286000" cy="1524000"/>
          </a:xfrm>
        </p:grpSpPr>
        <p:sp>
          <p:nvSpPr>
            <p:cNvPr id="142" name="Google Shape;142;p19"/>
            <p:cNvSpPr/>
            <p:nvPr/>
          </p:nvSpPr>
          <p:spPr>
            <a:xfrm>
              <a:off x="0" y="0"/>
              <a:ext cx="2286000" cy="1524000"/>
            </a:xfrm>
            <a:prstGeom prst="roundRect">
              <a:avLst>
                <a:gd fmla="val 5000"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9"/>
            <p:cNvSpPr/>
            <p:nvPr/>
          </p:nvSpPr>
          <p:spPr>
            <a:xfrm>
              <a:off x="142875" y="142875"/>
              <a:ext cx="571500" cy="0"/>
            </a:xfrm>
            <a:custGeom>
              <a:rect b="b" l="l" r="r" t="t"/>
              <a:pathLst>
                <a:path extrusionOk="0" h="120000" w="120000">
                  <a:moveTo>
                    <a:pt x="0" y="0"/>
                  </a:moveTo>
                  <a:lnTo>
                    <a:pt x="120000" y="0"/>
                  </a:lnTo>
                </a:path>
              </a:pathLst>
            </a:custGeom>
            <a:solidFill>
              <a:srgbClr val="000000">
                <a:alpha val="0"/>
              </a:srgbClr>
            </a:solidFill>
            <a:ln cap="rnd" cmpd="sng" w="2857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9"/>
            <p:cNvSpPr txBox="1"/>
            <p:nvPr/>
          </p:nvSpPr>
          <p:spPr>
            <a:xfrm>
              <a:off x="142875" y="285750"/>
              <a:ext cx="20001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10B981"/>
                  </a:solidFill>
                  <a:latin typeface="Inter"/>
                  <a:ea typeface="Inter"/>
                  <a:cs typeface="Inter"/>
                  <a:sym typeface="Inter"/>
                </a:rPr>
                <a:t>06 / EXECUTION TOOLS</a:t>
              </a:r>
              <a:endParaRPr b="1" sz="765">
                <a:solidFill>
                  <a:srgbClr val="10B981"/>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Action &amp; Skill Orchestration</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Calls APIs and Model Context Protocol (MCP) servers. Executes code in sandboxed runtime environments and fetches system telemetry.</a:t>
              </a:r>
              <a:endParaRPr b="0" sz="765">
                <a:solidFill>
                  <a:srgbClr val="4B5563"/>
                </a:solidFill>
                <a:latin typeface="Inter"/>
                <a:ea typeface="Inter"/>
                <a:cs typeface="Inter"/>
                <a:sym typeface="Inter"/>
              </a:endParaRPr>
            </a:p>
          </p:txBody>
        </p:sp>
      </p:grpSp>
      <p:pic>
        <p:nvPicPr>
          <p:cNvPr id="145" name="Google Shape;145;p19"/>
          <p:cNvPicPr preferRelativeResize="0"/>
          <p:nvPr/>
        </p:nvPicPr>
        <p:blipFill rotWithShape="1">
          <a:blip r:embed="rId5">
            <a:alphaModFix/>
          </a:blip>
          <a:srcRect b="0" l="0" r="0" t="0"/>
          <a:stretch/>
        </p:blipFill>
        <p:spPr>
          <a:xfrm>
            <a:off x="6262688" y="3957638"/>
            <a:ext cx="214200" cy="85800"/>
          </a:xfrm>
          <a:prstGeom prst="rect">
            <a:avLst/>
          </a:prstGeom>
          <a:noFill/>
          <a:ln>
            <a:noFill/>
          </a:ln>
        </p:spPr>
      </p:pic>
      <p:grpSp>
        <p:nvGrpSpPr>
          <p:cNvPr id="146" name="Google Shape;146;p19"/>
          <p:cNvGrpSpPr/>
          <p:nvPr/>
        </p:nvGrpSpPr>
        <p:grpSpPr>
          <a:xfrm>
            <a:off x="4095750" y="3238500"/>
            <a:ext cx="2190900" cy="1524000"/>
            <a:chOff x="0" y="0"/>
            <a:chExt cx="2190900" cy="1524000"/>
          </a:xfrm>
        </p:grpSpPr>
        <p:sp>
          <p:nvSpPr>
            <p:cNvPr id="147" name="Google Shape;147;p19"/>
            <p:cNvSpPr/>
            <p:nvPr/>
          </p:nvSpPr>
          <p:spPr>
            <a:xfrm>
              <a:off x="0" y="0"/>
              <a:ext cx="2190900" cy="1524000"/>
            </a:xfrm>
            <a:prstGeom prst="roundRect">
              <a:avLst>
                <a:gd fmla="val 5000"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9"/>
            <p:cNvSpPr/>
            <p:nvPr/>
          </p:nvSpPr>
          <p:spPr>
            <a:xfrm>
              <a:off x="142875" y="142875"/>
              <a:ext cx="381000" cy="0"/>
            </a:xfrm>
            <a:custGeom>
              <a:rect b="b" l="l" r="r" t="t"/>
              <a:pathLst>
                <a:path extrusionOk="0" h="120000" w="120000">
                  <a:moveTo>
                    <a:pt x="0" y="0"/>
                  </a:moveTo>
                  <a:lnTo>
                    <a:pt x="120000" y="0"/>
                  </a:lnTo>
                </a:path>
              </a:pathLst>
            </a:custGeom>
            <a:solidFill>
              <a:srgbClr val="000000">
                <a:alpha val="0"/>
              </a:srgbClr>
            </a:solidFill>
            <a:ln cap="rnd" cmpd="sng" w="2857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9"/>
            <p:cNvSpPr txBox="1"/>
            <p:nvPr/>
          </p:nvSpPr>
          <p:spPr>
            <a:xfrm>
              <a:off x="142875" y="285750"/>
              <a:ext cx="1905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F59E0B"/>
                  </a:solidFill>
                  <a:latin typeface="Inter"/>
                  <a:ea typeface="Inter"/>
                  <a:cs typeface="Inter"/>
                  <a:sym typeface="Inter"/>
                </a:rPr>
                <a:t>07 / PERSISTENCE</a:t>
              </a:r>
              <a:endParaRPr b="1" sz="765">
                <a:solidFill>
                  <a:srgbClr val="F59E0B"/>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State &amp; Memory Sync</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Writes back execution states, updates the durative scratchpad, and commits changes to filesystem or databases.</a:t>
              </a:r>
              <a:endParaRPr b="0" sz="765">
                <a:solidFill>
                  <a:srgbClr val="4B5563"/>
                </a:solidFill>
                <a:latin typeface="Inter"/>
                <a:ea typeface="Inter"/>
                <a:cs typeface="Inter"/>
                <a:sym typeface="Inter"/>
              </a:endParaRPr>
            </a:p>
          </p:txBody>
        </p:sp>
      </p:grpSp>
      <p:pic>
        <p:nvPicPr>
          <p:cNvPr id="150" name="Google Shape;150;p19"/>
          <p:cNvPicPr preferRelativeResize="0"/>
          <p:nvPr/>
        </p:nvPicPr>
        <p:blipFill rotWithShape="1">
          <a:blip r:embed="rId5">
            <a:alphaModFix/>
          </a:blip>
          <a:srcRect b="0" l="0" r="0" t="0"/>
          <a:stretch/>
        </p:blipFill>
        <p:spPr>
          <a:xfrm>
            <a:off x="3881438" y="3957638"/>
            <a:ext cx="214200" cy="85800"/>
          </a:xfrm>
          <a:prstGeom prst="rect">
            <a:avLst/>
          </a:prstGeom>
          <a:noFill/>
          <a:ln>
            <a:noFill/>
          </a:ln>
        </p:spPr>
      </p:pic>
      <p:grpSp>
        <p:nvGrpSpPr>
          <p:cNvPr id="151" name="Google Shape;151;p19"/>
          <p:cNvGrpSpPr/>
          <p:nvPr/>
        </p:nvGrpSpPr>
        <p:grpSpPr>
          <a:xfrm>
            <a:off x="1714500" y="3238500"/>
            <a:ext cx="2190900" cy="1524000"/>
            <a:chOff x="0" y="0"/>
            <a:chExt cx="2190900" cy="1524000"/>
          </a:xfrm>
        </p:grpSpPr>
        <p:sp>
          <p:nvSpPr>
            <p:cNvPr id="152" name="Google Shape;152;p19"/>
            <p:cNvSpPr/>
            <p:nvPr/>
          </p:nvSpPr>
          <p:spPr>
            <a:xfrm>
              <a:off x="0" y="0"/>
              <a:ext cx="2190900" cy="1524000"/>
            </a:xfrm>
            <a:prstGeom prst="roundRect">
              <a:avLst>
                <a:gd fmla="val 5000"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9"/>
            <p:cNvSpPr/>
            <p:nvPr/>
          </p:nvSpPr>
          <p:spPr>
            <a:xfrm>
              <a:off x="142875" y="142875"/>
              <a:ext cx="381000" cy="0"/>
            </a:xfrm>
            <a:custGeom>
              <a:rect b="b" l="l" r="r" t="t"/>
              <a:pathLst>
                <a:path extrusionOk="0" h="120000" w="120000">
                  <a:moveTo>
                    <a:pt x="0" y="0"/>
                  </a:moveTo>
                  <a:lnTo>
                    <a:pt x="120000" y="0"/>
                  </a:lnTo>
                </a:path>
              </a:pathLst>
            </a:custGeom>
            <a:solidFill>
              <a:srgbClr val="000000">
                <a:alpha val="0"/>
              </a:srgbClr>
            </a:solidFill>
            <a:ln cap="rnd" cmpd="sng" w="2857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9"/>
            <p:cNvSpPr txBox="1"/>
            <p:nvPr/>
          </p:nvSpPr>
          <p:spPr>
            <a:xfrm>
              <a:off x="142875" y="285750"/>
              <a:ext cx="1905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EF4444"/>
                  </a:solidFill>
                  <a:latin typeface="Inter"/>
                  <a:ea typeface="Inter"/>
                  <a:cs typeface="Inter"/>
                  <a:sym typeface="Inter"/>
                </a:rPr>
                <a:t>08 / OUTPUT FILTER</a:t>
              </a:r>
              <a:endParaRPr b="1" sz="765">
                <a:solidFill>
                  <a:srgbClr val="EF4444"/>
                </a:solidFill>
                <a:latin typeface="Inter"/>
                <a:ea typeface="Inter"/>
                <a:cs typeface="Inter"/>
                <a:sym typeface="Inter"/>
              </a:endParaRPr>
            </a:p>
            <a:p>
              <a:pPr indent="0" lvl="0" marL="0" rtl="0" algn="l">
                <a:spcBef>
                  <a:spcPts val="400"/>
                </a:spcBef>
                <a:spcAft>
                  <a:spcPts val="0"/>
                </a:spcAft>
                <a:buNone/>
              </a:pPr>
              <a:r>
                <a:rPr b="1" lang="en" sz="935">
                  <a:solidFill>
                    <a:srgbClr val="111827"/>
                  </a:solidFill>
                  <a:latin typeface="Inter"/>
                  <a:ea typeface="Inter"/>
                  <a:cs typeface="Inter"/>
                  <a:sym typeface="Inter"/>
                </a:rPr>
                <a:t>Guardrails (Out)</a:t>
              </a:r>
              <a:endParaRPr b="1" sz="935">
                <a:solidFill>
                  <a:srgbClr val="111827"/>
                </a:solidFill>
                <a:latin typeface="Inter"/>
                <a:ea typeface="Inter"/>
                <a:cs typeface="Inter"/>
                <a:sym typeface="Inter"/>
              </a:endParaRPr>
            </a:p>
            <a:p>
              <a:pPr indent="0" lvl="0" marL="0" rtl="0" algn="l">
                <a:spcBef>
                  <a:spcPts val="400"/>
                </a:spcBef>
                <a:spcAft>
                  <a:spcPts val="0"/>
                </a:spcAft>
                <a:buNone/>
              </a:pPr>
              <a:r>
                <a:rPr b="0" lang="en" sz="765">
                  <a:solidFill>
                    <a:srgbClr val="4B5563"/>
                  </a:solidFill>
                  <a:latin typeface="Inter"/>
                  <a:ea typeface="Inter"/>
                  <a:cs typeface="Inter"/>
                  <a:sym typeface="Inter"/>
                </a:rPr>
                <a:t>Sanitizes final model response. Detects hallucinations, monitors format compliance, and prevents data leakages.</a:t>
              </a:r>
              <a:endParaRPr b="0" sz="765">
                <a:solidFill>
                  <a:srgbClr val="4B5563"/>
                </a:solidFill>
                <a:latin typeface="Inter"/>
                <a:ea typeface="Inter"/>
                <a:cs typeface="Inter"/>
                <a:sym typeface="Inter"/>
              </a:endParaRPr>
            </a:p>
          </p:txBody>
        </p:sp>
      </p:grpSp>
      <p:pic>
        <p:nvPicPr>
          <p:cNvPr id="155" name="Google Shape;155;p19"/>
          <p:cNvPicPr preferRelativeResize="0"/>
          <p:nvPr/>
        </p:nvPicPr>
        <p:blipFill rotWithShape="1">
          <a:blip r:embed="rId6">
            <a:alphaModFix/>
          </a:blip>
          <a:srcRect b="0" l="0" r="0" t="0"/>
          <a:stretch/>
        </p:blipFill>
        <p:spPr>
          <a:xfrm>
            <a:off x="547688" y="3957638"/>
            <a:ext cx="1166700" cy="85800"/>
          </a:xfrm>
          <a:prstGeom prst="rect">
            <a:avLst/>
          </a:prstGeom>
          <a:noFill/>
          <a:ln>
            <a:noFill/>
          </a:ln>
        </p:spPr>
      </p:pic>
      <p:sp>
        <p:nvSpPr>
          <p:cNvPr id="156" name="Google Shape;156;p19"/>
          <p:cNvSpPr txBox="1"/>
          <p:nvPr/>
        </p:nvSpPr>
        <p:spPr>
          <a:xfrm>
            <a:off x="381000" y="3857625"/>
            <a:ext cx="952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35">
                <a:solidFill>
                  <a:srgbClr val="059669"/>
                </a:solidFill>
                <a:latin typeface="Inter"/>
                <a:ea typeface="Inter"/>
                <a:cs typeface="Inter"/>
                <a:sym typeface="Inter"/>
              </a:rPr>
              <a:t>Execution Complete</a:t>
            </a:r>
            <a:endParaRPr b="1" sz="935">
              <a:solidFill>
                <a:srgbClr val="059669"/>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60" name="Shape 160"/>
        <p:cNvGrpSpPr/>
        <p:nvPr/>
      </p:nvGrpSpPr>
      <p:grpSpPr>
        <a:xfrm>
          <a:off x="0" y="0"/>
          <a:ext cx="0" cy="0"/>
          <a:chOff x="0" y="0"/>
          <a:chExt cx="0" cy="0"/>
        </a:xfrm>
      </p:grpSpPr>
      <p:sp>
        <p:nvSpPr>
          <p:cNvPr id="161" name="Google Shape;161;p20"/>
          <p:cNvSpPr/>
          <p:nvPr/>
        </p:nvSpPr>
        <p:spPr>
          <a:xfrm>
            <a:off x="381000" y="1095375"/>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2" name="Google Shape;162;p20"/>
          <p:cNvGrpSpPr/>
          <p:nvPr/>
        </p:nvGrpSpPr>
        <p:grpSpPr>
          <a:xfrm>
            <a:off x="8458200" y="381000"/>
            <a:ext cx="304800" cy="304800"/>
            <a:chOff x="0" y="0"/>
            <a:chExt cx="304800" cy="304800"/>
          </a:xfrm>
        </p:grpSpPr>
        <p:sp>
          <p:nvSpPr>
            <p:cNvPr id="163" name="Google Shape;163;p20"/>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20"/>
            <p:cNvSpPr/>
            <p:nvPr/>
          </p:nvSpPr>
          <p:spPr>
            <a:xfrm>
              <a:off x="76200" y="76200"/>
              <a:ext cx="152400" cy="152400"/>
            </a:xfrm>
            <a:custGeom>
              <a:rect b="b" l="l" r="r" t="t"/>
              <a:pathLst>
                <a:path extrusionOk="0" h="120000" w="120000">
                  <a:moveTo>
                    <a:pt x="60000" y="0"/>
                  </a:moveTo>
                  <a:lnTo>
                    <a:pt x="60000" y="120000"/>
                  </a:lnTo>
                  <a:moveTo>
                    <a:pt x="0" y="60000"/>
                  </a:moveTo>
                  <a:lnTo>
                    <a:pt x="120000" y="6000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5" name="Google Shape;165;p20"/>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01 - Crafting the System Prompt</a:t>
            </a:r>
            <a:endParaRPr b="1" sz="2400">
              <a:solidFill>
                <a:srgbClr val="111827"/>
              </a:solidFill>
              <a:latin typeface="Inter"/>
              <a:ea typeface="Inter"/>
              <a:cs typeface="Inter"/>
              <a:sym typeface="Inter"/>
            </a:endParaRPr>
          </a:p>
          <a:p>
            <a:pPr indent="0" lvl="0" marL="0" rtl="0" algn="l">
              <a:spcBef>
                <a:spcPts val="400"/>
              </a:spcBef>
              <a:spcAft>
                <a:spcPts val="0"/>
              </a:spcAft>
              <a:buNone/>
            </a:pPr>
            <a:r>
              <a:rPr b="0" lang="en" sz="1200">
                <a:solidFill>
                  <a:srgbClr val="2563EB"/>
                </a:solidFill>
                <a:latin typeface="Inter Medium"/>
                <a:ea typeface="Inter Medium"/>
                <a:cs typeface="Inter Medium"/>
                <a:sym typeface="Inter Medium"/>
              </a:rPr>
              <a:t>How User History and Active Inputs Synthesize the Foundation</a:t>
            </a:r>
            <a:endParaRPr b="0" sz="1200">
              <a:solidFill>
                <a:srgbClr val="2563EB"/>
              </a:solidFill>
              <a:latin typeface="Inter Medium"/>
              <a:ea typeface="Inter Medium"/>
              <a:cs typeface="Inter Medium"/>
              <a:sym typeface="Inter Medium"/>
            </a:endParaRPr>
          </a:p>
        </p:txBody>
      </p:sp>
      <p:grpSp>
        <p:nvGrpSpPr>
          <p:cNvPr id="166" name="Google Shape;166;p20"/>
          <p:cNvGrpSpPr/>
          <p:nvPr/>
        </p:nvGrpSpPr>
        <p:grpSpPr>
          <a:xfrm>
            <a:off x="381000" y="1333500"/>
            <a:ext cx="2476500" cy="3333900"/>
            <a:chOff x="0" y="0"/>
            <a:chExt cx="2476500" cy="3333900"/>
          </a:xfrm>
        </p:grpSpPr>
        <p:sp>
          <p:nvSpPr>
            <p:cNvPr id="167" name="Google Shape;167;p20"/>
            <p:cNvSpPr/>
            <p:nvPr/>
          </p:nvSpPr>
          <p:spPr>
            <a:xfrm>
              <a:off x="0" y="0"/>
              <a:ext cx="2476500" cy="3333900"/>
            </a:xfrm>
            <a:prstGeom prst="roundRect">
              <a:avLst>
                <a:gd fmla="val 3076"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0"/>
            <p:cNvSpPr txBox="1"/>
            <p:nvPr/>
          </p:nvSpPr>
          <p:spPr>
            <a:xfrm>
              <a:off x="190500" y="190500"/>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97316"/>
                  </a:solidFill>
                  <a:latin typeface="Inter"/>
                  <a:ea typeface="Inter"/>
                  <a:cs typeface="Inter"/>
                  <a:sym typeface="Inter"/>
                </a:rPr>
                <a:t>01 / HISTORICAL CONTEXT</a:t>
              </a:r>
              <a:endParaRPr b="1" sz="800">
                <a:solidFill>
                  <a:srgbClr val="F97316"/>
                </a:solidFill>
                <a:latin typeface="Inter"/>
                <a:ea typeface="Inter"/>
                <a:cs typeface="Inter"/>
                <a:sym typeface="Inter"/>
              </a:endParaRPr>
            </a:p>
            <a:p>
              <a:pPr indent="0" lvl="0" marL="0" rtl="0" algn="l">
                <a:spcBef>
                  <a:spcPts val="800"/>
                </a:spcBef>
                <a:spcAft>
                  <a:spcPts val="0"/>
                </a:spcAft>
                <a:buNone/>
              </a:pPr>
              <a:r>
                <a:rPr b="1" lang="en" sz="1300">
                  <a:solidFill>
                    <a:srgbClr val="111827"/>
                  </a:solidFill>
                  <a:latin typeface="Inter"/>
                  <a:ea typeface="Inter"/>
                  <a:cs typeface="Inter"/>
                  <a:sym typeface="Inter"/>
                </a:rPr>
                <a:t>User History Integration</a:t>
              </a:r>
              <a:endParaRPr b="1" sz="1300">
                <a:solidFill>
                  <a:srgbClr val="111827"/>
                </a:solidFill>
                <a:latin typeface="Inter"/>
                <a:ea typeface="Inter"/>
                <a:cs typeface="Inter"/>
                <a:sym typeface="Inter"/>
              </a:endParaRPr>
            </a:p>
            <a:p>
              <a:pPr indent="0" lvl="0" marL="0" rtl="0" algn="l">
                <a:spcBef>
                  <a:spcPts val="1000"/>
                </a:spcBef>
                <a:spcAft>
                  <a:spcPts val="0"/>
                </a:spcAft>
                <a:buNone/>
              </a:pPr>
              <a:r>
                <a:rPr b="0" lang="en" sz="1000">
                  <a:solidFill>
                    <a:srgbClr val="4B5563"/>
                  </a:solidFill>
                  <a:latin typeface="Inter"/>
                  <a:ea typeface="Inter"/>
                  <a:cs typeface="Inter"/>
                  <a:sym typeface="Inter"/>
                </a:rPr>
                <a:t>To personalize interactions, the orchestrator pulls relevant context from past queries, preferences, and long-term memory variables.</a:t>
              </a:r>
              <a:endParaRPr b="0" sz="1000">
                <a:solidFill>
                  <a:srgbClr val="4B5563"/>
                </a:solidFill>
                <a:latin typeface="Inter"/>
                <a:ea typeface="Inter"/>
                <a:cs typeface="Inter"/>
                <a:sym typeface="Inter"/>
              </a:endParaRPr>
            </a:p>
            <a:p>
              <a:pPr indent="0" lvl="0" marL="0" rtl="0" algn="l">
                <a:spcBef>
                  <a:spcPts val="1200"/>
                </a:spcBef>
                <a:spcAft>
                  <a:spcPts val="0"/>
                </a:spcAft>
                <a:buNone/>
              </a:pPr>
              <a:r>
                <a:rPr b="0" lang="en" sz="1000">
                  <a:solidFill>
                    <a:srgbClr val="2563EB"/>
                  </a:solidFill>
                  <a:latin typeface="Inter SemiBold"/>
                  <a:ea typeface="Inter SemiBold"/>
                  <a:cs typeface="Inter SemiBold"/>
                  <a:sym typeface="Inter SemiBold"/>
                </a:rPr>
                <a:t>Key Variables Loaded:</a:t>
              </a:r>
              <a:endParaRPr b="0" sz="1000">
                <a:solidFill>
                  <a:srgbClr val="2563EB"/>
                </a:solidFill>
                <a:latin typeface="Inter SemiBold"/>
                <a:ea typeface="Inter SemiBold"/>
                <a:cs typeface="Inter SemiBold"/>
                <a:sym typeface="Inter SemiBold"/>
              </a:endParaRPr>
            </a:p>
            <a:p>
              <a:pPr indent="-292100" lvl="0" marL="457200" rtl="0" algn="l">
                <a:spcBef>
                  <a:spcPts val="45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user_name:</a:t>
              </a:r>
              <a:r>
                <a:rPr b="0" lang="en" sz="1000">
                  <a:solidFill>
                    <a:srgbClr val="4B5563"/>
                  </a:solidFill>
                  <a:latin typeface="Inter"/>
                  <a:ea typeface="Inter"/>
                  <a:cs typeface="Inter"/>
                  <a:sym typeface="Inter"/>
                </a:rPr>
                <a:t> Rangel Soares</a:t>
              </a:r>
              <a:endParaRPr b="0" sz="1000">
                <a:solidFill>
                  <a:srgbClr val="4B5563"/>
                </a:solidFill>
                <a:latin typeface="Inter"/>
                <a:ea typeface="Inter"/>
                <a:cs typeface="Inter"/>
                <a:sym typeface="Inter"/>
              </a:endParaRPr>
            </a:p>
            <a:p>
              <a:pPr indent="-292100" lvl="0" marL="457200" rtl="0" algn="l">
                <a:spcBef>
                  <a:spcPts val="30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timezone:</a:t>
              </a:r>
              <a:r>
                <a:rPr b="0" lang="en" sz="1000">
                  <a:solidFill>
                    <a:srgbClr val="4B5563"/>
                  </a:solidFill>
                  <a:latin typeface="Inter"/>
                  <a:ea typeface="Inter"/>
                  <a:cs typeface="Inter"/>
                  <a:sym typeface="Inter"/>
                </a:rPr>
                <a:t> Europe/Lisbon</a:t>
              </a:r>
              <a:endParaRPr b="0" sz="1000">
                <a:solidFill>
                  <a:srgbClr val="4B5563"/>
                </a:solidFill>
                <a:latin typeface="Inter"/>
                <a:ea typeface="Inter"/>
                <a:cs typeface="Inter"/>
                <a:sym typeface="Inter"/>
              </a:endParaRPr>
            </a:p>
            <a:p>
              <a:pPr indent="-292100" lvl="0" marL="457200" rtl="0" algn="l">
                <a:spcBef>
                  <a:spcPts val="30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past_topics:</a:t>
              </a:r>
              <a:r>
                <a:rPr b="0" lang="en" sz="1000">
                  <a:solidFill>
                    <a:srgbClr val="4B5563"/>
                  </a:solidFill>
                  <a:latin typeface="Inter"/>
                  <a:ea typeface="Inter"/>
                  <a:cs typeface="Inter"/>
                  <a:sym typeface="Inter"/>
                </a:rPr>
                <a:t> AI, Dev tools</a:t>
              </a:r>
              <a:endParaRPr b="0" sz="1000">
                <a:solidFill>
                  <a:srgbClr val="4B5563"/>
                </a:solidFill>
                <a:latin typeface="Inter"/>
                <a:ea typeface="Inter"/>
                <a:cs typeface="Inter"/>
                <a:sym typeface="Inter"/>
              </a:endParaRPr>
            </a:p>
          </p:txBody>
        </p:sp>
      </p:grpSp>
      <p:grpSp>
        <p:nvGrpSpPr>
          <p:cNvPr id="169" name="Google Shape;169;p20"/>
          <p:cNvGrpSpPr/>
          <p:nvPr/>
        </p:nvGrpSpPr>
        <p:grpSpPr>
          <a:xfrm>
            <a:off x="3048000" y="2724150"/>
            <a:ext cx="238200" cy="76200"/>
            <a:chOff x="0" y="-38100"/>
            <a:chExt cx="238200" cy="76200"/>
          </a:xfrm>
        </p:grpSpPr>
        <p:sp>
          <p:nvSpPr>
            <p:cNvPr id="170" name="Google Shape;170;p20"/>
            <p:cNvSpPr/>
            <p:nvPr/>
          </p:nvSpPr>
          <p:spPr>
            <a:xfrm>
              <a:off x="0" y="0"/>
              <a:ext cx="190500" cy="0"/>
            </a:xfrm>
            <a:custGeom>
              <a:rect b="b" l="l" r="r" t="t"/>
              <a:pathLst>
                <a:path extrusionOk="0" h="120000" w="120000">
                  <a:moveTo>
                    <a:pt x="0" y="0"/>
                  </a:moveTo>
                  <a:lnTo>
                    <a:pt x="120000" y="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0"/>
            <p:cNvSpPr/>
            <p:nvPr/>
          </p:nvSpPr>
          <p:spPr>
            <a:xfrm>
              <a:off x="190500" y="-38100"/>
              <a:ext cx="47700" cy="76200"/>
            </a:xfrm>
            <a:custGeom>
              <a:rect b="b" l="l" r="r" t="t"/>
              <a:pathLst>
                <a:path extrusionOk="0" h="120000" w="120000">
                  <a:moveTo>
                    <a:pt x="0" y="0"/>
                  </a:moveTo>
                  <a:lnTo>
                    <a:pt x="120000" y="6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2" name="Google Shape;172;p20"/>
          <p:cNvGrpSpPr/>
          <p:nvPr/>
        </p:nvGrpSpPr>
        <p:grpSpPr>
          <a:xfrm>
            <a:off x="3476625" y="1333500"/>
            <a:ext cx="2476500" cy="3333900"/>
            <a:chOff x="0" y="0"/>
            <a:chExt cx="2476500" cy="3333900"/>
          </a:xfrm>
        </p:grpSpPr>
        <p:sp>
          <p:nvSpPr>
            <p:cNvPr id="173" name="Google Shape;173;p20"/>
            <p:cNvSpPr/>
            <p:nvPr/>
          </p:nvSpPr>
          <p:spPr>
            <a:xfrm>
              <a:off x="0" y="0"/>
              <a:ext cx="2476500" cy="3333900"/>
            </a:xfrm>
            <a:prstGeom prst="roundRect">
              <a:avLst>
                <a:gd fmla="val 3076"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20"/>
            <p:cNvSpPr txBox="1"/>
            <p:nvPr/>
          </p:nvSpPr>
          <p:spPr>
            <a:xfrm>
              <a:off x="190500" y="190500"/>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0B981"/>
                  </a:solidFill>
                  <a:latin typeface="Inter"/>
                  <a:ea typeface="Inter"/>
                  <a:cs typeface="Inter"/>
                  <a:sym typeface="Inter"/>
                </a:rPr>
                <a:t>02 / ACTIVE INPUTS</a:t>
              </a:r>
              <a:endParaRPr b="1" sz="800">
                <a:solidFill>
                  <a:srgbClr val="10B981"/>
                </a:solidFill>
                <a:latin typeface="Inter"/>
                <a:ea typeface="Inter"/>
                <a:cs typeface="Inter"/>
                <a:sym typeface="Inter"/>
              </a:endParaRPr>
            </a:p>
            <a:p>
              <a:pPr indent="0" lvl="0" marL="0" rtl="0" algn="l">
                <a:spcBef>
                  <a:spcPts val="800"/>
                </a:spcBef>
                <a:spcAft>
                  <a:spcPts val="0"/>
                </a:spcAft>
                <a:buNone/>
              </a:pPr>
              <a:r>
                <a:rPr b="1" lang="en" sz="1300">
                  <a:solidFill>
                    <a:srgbClr val="111827"/>
                  </a:solidFill>
                  <a:latin typeface="Inter"/>
                  <a:ea typeface="Inter"/>
                  <a:cs typeface="Inter"/>
                  <a:sym typeface="Inter"/>
                </a:rPr>
                <a:t>Personas</a:t>
              </a:r>
              <a:endParaRPr b="1" sz="1300">
                <a:solidFill>
                  <a:srgbClr val="111827"/>
                </a:solidFill>
                <a:latin typeface="Inter"/>
                <a:ea typeface="Inter"/>
                <a:cs typeface="Inter"/>
                <a:sym typeface="Inter"/>
              </a:endParaRPr>
            </a:p>
            <a:p>
              <a:pPr indent="0" lvl="0" marL="0" rtl="0" algn="l">
                <a:spcBef>
                  <a:spcPts val="1000"/>
                </a:spcBef>
                <a:spcAft>
                  <a:spcPts val="0"/>
                </a:spcAft>
                <a:buNone/>
              </a:pPr>
              <a:r>
                <a:rPr lang="en" sz="1000">
                  <a:solidFill>
                    <a:srgbClr val="4B5563"/>
                  </a:solidFill>
                  <a:latin typeface="Inter"/>
                  <a:ea typeface="Inter"/>
                  <a:cs typeface="Inter"/>
                  <a:sym typeface="Inter"/>
                </a:rPr>
                <a:t>You are a java specialist</a:t>
              </a:r>
              <a:endParaRPr b="0" sz="1000">
                <a:solidFill>
                  <a:srgbClr val="4B5563"/>
                </a:solidFill>
                <a:latin typeface="Inter"/>
                <a:ea typeface="Inter"/>
                <a:cs typeface="Inter"/>
                <a:sym typeface="Inter"/>
              </a:endParaRPr>
            </a:p>
            <a:p>
              <a:pPr indent="0" lvl="0" marL="0" rtl="0" algn="l">
                <a:spcBef>
                  <a:spcPts val="1200"/>
                </a:spcBef>
                <a:spcAft>
                  <a:spcPts val="0"/>
                </a:spcAft>
                <a:buNone/>
              </a:pPr>
              <a:r>
                <a:rPr b="0" lang="en" sz="1000">
                  <a:solidFill>
                    <a:srgbClr val="10B981"/>
                  </a:solidFill>
                  <a:latin typeface="Inter SemiBold"/>
                  <a:ea typeface="Inter SemiBold"/>
                  <a:cs typeface="Inter SemiBold"/>
                  <a:sym typeface="Inter SemiBold"/>
                </a:rPr>
                <a:t>Active Payload Elements:</a:t>
              </a:r>
              <a:endParaRPr b="0" sz="1000">
                <a:solidFill>
                  <a:srgbClr val="10B981"/>
                </a:solidFill>
                <a:latin typeface="Inter SemiBold"/>
                <a:ea typeface="Inter SemiBold"/>
                <a:cs typeface="Inter SemiBold"/>
                <a:sym typeface="Inter SemiBold"/>
              </a:endParaRPr>
            </a:p>
            <a:p>
              <a:pPr indent="-292100" lvl="0" marL="457200" rtl="0" algn="l">
                <a:spcBef>
                  <a:spcPts val="45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query:</a:t>
              </a:r>
              <a:r>
                <a:rPr b="0" lang="en" sz="1000">
                  <a:solidFill>
                    <a:srgbClr val="4B5563"/>
                  </a:solidFill>
                  <a:latin typeface="Inter"/>
                  <a:ea typeface="Inter"/>
                  <a:cs typeface="Inter"/>
                  <a:sym typeface="Inter"/>
                </a:rPr>
                <a:t> </a:t>
              </a:r>
              <a:r>
                <a:rPr lang="en" sz="1000">
                  <a:solidFill>
                    <a:srgbClr val="4B5563"/>
                  </a:solidFill>
                  <a:latin typeface="Inter"/>
                  <a:ea typeface="Inter"/>
                  <a:cs typeface="Inter"/>
                  <a:sym typeface="Inter"/>
                </a:rPr>
                <a:t>You are a java specialist</a:t>
              </a:r>
              <a:endParaRPr sz="1000">
                <a:solidFill>
                  <a:srgbClr val="4B5563"/>
                </a:solidFill>
                <a:latin typeface="Inter"/>
                <a:ea typeface="Inter"/>
                <a:cs typeface="Inter"/>
                <a:sym typeface="Inter"/>
              </a:endParaRPr>
            </a:p>
            <a:p>
              <a:pPr indent="457200" lvl="0" marL="0" rtl="0" algn="l">
                <a:spcBef>
                  <a:spcPts val="300"/>
                </a:spcBef>
                <a:spcAft>
                  <a:spcPts val="0"/>
                </a:spcAft>
                <a:buNone/>
              </a:pPr>
              <a:r>
                <a:rPr lang="en" sz="1000">
                  <a:solidFill>
                    <a:srgbClr val="4B5563"/>
                  </a:solidFill>
                  <a:latin typeface="Inter SemiBold"/>
                  <a:ea typeface="Inter SemiBold"/>
                  <a:cs typeface="Inter SemiBold"/>
                  <a:sym typeface="Inter SemiBold"/>
                </a:rPr>
                <a:t>language</a:t>
              </a:r>
              <a:r>
                <a:rPr b="0" lang="en" sz="1000">
                  <a:solidFill>
                    <a:srgbClr val="4B5563"/>
                  </a:solidFill>
                  <a:latin typeface="Inter SemiBold"/>
                  <a:ea typeface="Inter SemiBold"/>
                  <a:cs typeface="Inter SemiBold"/>
                  <a:sym typeface="Inter SemiBold"/>
                </a:rPr>
                <a:t>:</a:t>
              </a:r>
              <a:r>
                <a:rPr b="0" lang="en" sz="1000">
                  <a:solidFill>
                    <a:srgbClr val="4B5563"/>
                  </a:solidFill>
                  <a:latin typeface="Inter"/>
                  <a:ea typeface="Inter"/>
                  <a:cs typeface="Inter"/>
                  <a:sym typeface="Inter"/>
                </a:rPr>
                <a:t> </a:t>
              </a:r>
              <a:r>
                <a:rPr lang="en" sz="1000">
                  <a:solidFill>
                    <a:srgbClr val="4B5563"/>
                  </a:solidFill>
                  <a:latin typeface="Inter"/>
                  <a:ea typeface="Inter"/>
                  <a:cs typeface="Inter"/>
                  <a:sym typeface="Inter"/>
                </a:rPr>
                <a:t>java</a:t>
              </a:r>
              <a:endParaRPr b="0" sz="1000">
                <a:solidFill>
                  <a:srgbClr val="4B5563"/>
                </a:solidFill>
                <a:latin typeface="Inter"/>
                <a:ea typeface="Inter"/>
                <a:cs typeface="Inter"/>
                <a:sym typeface="Inter"/>
              </a:endParaRPr>
            </a:p>
            <a:p>
              <a:pPr indent="-292100" lvl="0" marL="457200" rtl="0" algn="l">
                <a:spcBef>
                  <a:spcPts val="300"/>
                </a:spcBef>
                <a:spcAft>
                  <a:spcPts val="0"/>
                </a:spcAft>
                <a:buClr>
                  <a:srgbClr val="4B5563"/>
                </a:buClr>
                <a:buSzPts val="1000"/>
                <a:buFont typeface="Inter"/>
                <a:buChar char="●"/>
              </a:pPr>
              <a:r>
                <a:rPr lang="en" sz="1000">
                  <a:solidFill>
                    <a:srgbClr val="4B5563"/>
                  </a:solidFill>
                  <a:latin typeface="Inter SemiBold"/>
                  <a:ea typeface="Inter SemiBold"/>
                  <a:cs typeface="Inter SemiBold"/>
                  <a:sym typeface="Inter SemiBold"/>
                </a:rPr>
                <a:t>framworks</a:t>
              </a:r>
              <a:r>
                <a:rPr b="0" lang="en" sz="1000">
                  <a:solidFill>
                    <a:srgbClr val="4B5563"/>
                  </a:solidFill>
                  <a:latin typeface="Inter SemiBold"/>
                  <a:ea typeface="Inter SemiBold"/>
                  <a:cs typeface="Inter SemiBold"/>
                  <a:sym typeface="Inter SemiBold"/>
                </a:rPr>
                <a:t>:</a:t>
              </a:r>
              <a:r>
                <a:rPr b="0" lang="en" sz="1000">
                  <a:solidFill>
                    <a:srgbClr val="4B5563"/>
                  </a:solidFill>
                  <a:latin typeface="Inter"/>
                  <a:ea typeface="Inter"/>
                  <a:cs typeface="Inter"/>
                  <a:sym typeface="Inter"/>
                </a:rPr>
                <a:t> </a:t>
              </a:r>
              <a:r>
                <a:rPr lang="en" sz="1000">
                  <a:solidFill>
                    <a:srgbClr val="4B5563"/>
                  </a:solidFill>
                  <a:latin typeface="Inter"/>
                  <a:ea typeface="Inter"/>
                  <a:cs typeface="Inter"/>
                  <a:sym typeface="Inter"/>
                </a:rPr>
                <a:t>spring</a:t>
              </a:r>
              <a:endParaRPr b="0" sz="1000">
                <a:solidFill>
                  <a:srgbClr val="4B5563"/>
                </a:solidFill>
                <a:latin typeface="Inter"/>
                <a:ea typeface="Inter"/>
                <a:cs typeface="Inter"/>
                <a:sym typeface="Inter"/>
              </a:endParaRPr>
            </a:p>
          </p:txBody>
        </p:sp>
      </p:grpSp>
      <p:grpSp>
        <p:nvGrpSpPr>
          <p:cNvPr id="175" name="Google Shape;175;p20"/>
          <p:cNvGrpSpPr/>
          <p:nvPr/>
        </p:nvGrpSpPr>
        <p:grpSpPr>
          <a:xfrm>
            <a:off x="6143625" y="2724150"/>
            <a:ext cx="238200" cy="76200"/>
            <a:chOff x="0" y="-38100"/>
            <a:chExt cx="238200" cy="76200"/>
          </a:xfrm>
        </p:grpSpPr>
        <p:sp>
          <p:nvSpPr>
            <p:cNvPr id="176" name="Google Shape;176;p20"/>
            <p:cNvSpPr/>
            <p:nvPr/>
          </p:nvSpPr>
          <p:spPr>
            <a:xfrm>
              <a:off x="0" y="0"/>
              <a:ext cx="190500" cy="0"/>
            </a:xfrm>
            <a:custGeom>
              <a:rect b="b" l="l" r="r" t="t"/>
              <a:pathLst>
                <a:path extrusionOk="0" h="120000" w="120000">
                  <a:moveTo>
                    <a:pt x="0" y="0"/>
                  </a:moveTo>
                  <a:lnTo>
                    <a:pt x="120000" y="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p:nvPr/>
          </p:nvSpPr>
          <p:spPr>
            <a:xfrm>
              <a:off x="190500" y="-38100"/>
              <a:ext cx="47700" cy="76200"/>
            </a:xfrm>
            <a:custGeom>
              <a:rect b="b" l="l" r="r" t="t"/>
              <a:pathLst>
                <a:path extrusionOk="0" h="120000" w="120000">
                  <a:moveTo>
                    <a:pt x="0" y="0"/>
                  </a:moveTo>
                  <a:lnTo>
                    <a:pt x="120000" y="6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8" name="Google Shape;178;p20"/>
          <p:cNvGrpSpPr/>
          <p:nvPr/>
        </p:nvGrpSpPr>
        <p:grpSpPr>
          <a:xfrm>
            <a:off x="6562725" y="1323975"/>
            <a:ext cx="2209800" cy="3352800"/>
            <a:chOff x="-9525" y="-9525"/>
            <a:chExt cx="2209800" cy="3352800"/>
          </a:xfrm>
        </p:grpSpPr>
        <p:pic>
          <p:nvPicPr>
            <p:cNvPr id="179" name="Google Shape;179;p20"/>
            <p:cNvPicPr preferRelativeResize="0"/>
            <p:nvPr/>
          </p:nvPicPr>
          <p:blipFill rotWithShape="1">
            <a:blip r:embed="rId3">
              <a:alphaModFix/>
            </a:blip>
            <a:srcRect b="0" l="0" r="0" t="0"/>
            <a:stretch/>
          </p:blipFill>
          <p:spPr>
            <a:xfrm>
              <a:off x="-9525" y="-9525"/>
              <a:ext cx="2209800" cy="3352800"/>
            </a:xfrm>
            <a:prstGeom prst="rect">
              <a:avLst/>
            </a:prstGeom>
            <a:noFill/>
            <a:ln>
              <a:noFill/>
            </a:ln>
          </p:spPr>
        </p:pic>
        <p:sp>
          <p:nvSpPr>
            <p:cNvPr id="180" name="Google Shape;180;p20"/>
            <p:cNvSpPr txBox="1"/>
            <p:nvPr/>
          </p:nvSpPr>
          <p:spPr>
            <a:xfrm>
              <a:off x="190500" y="190500"/>
              <a:ext cx="18096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2563EB"/>
                  </a:solidFill>
                  <a:latin typeface="Inter"/>
                  <a:ea typeface="Inter"/>
                  <a:cs typeface="Inter"/>
                  <a:sym typeface="Inter"/>
                </a:rPr>
                <a:t>03 / COMPILATION</a:t>
              </a:r>
              <a:endParaRPr b="1" sz="800">
                <a:solidFill>
                  <a:srgbClr val="2563EB"/>
                </a:solidFill>
                <a:latin typeface="Inter"/>
                <a:ea typeface="Inter"/>
                <a:cs typeface="Inter"/>
                <a:sym typeface="Inter"/>
              </a:endParaRPr>
            </a:p>
            <a:p>
              <a:pPr indent="0" lvl="0" marL="0" rtl="0" algn="l">
                <a:spcBef>
                  <a:spcPts val="800"/>
                </a:spcBef>
                <a:spcAft>
                  <a:spcPts val="0"/>
                </a:spcAft>
                <a:buNone/>
              </a:pPr>
              <a:r>
                <a:rPr b="1" lang="en" sz="1300">
                  <a:solidFill>
                    <a:srgbClr val="111827"/>
                  </a:solidFill>
                  <a:latin typeface="Inter"/>
                  <a:ea typeface="Inter"/>
                  <a:cs typeface="Inter"/>
                  <a:sym typeface="Inter"/>
                </a:rPr>
                <a:t>Synthesized System Prompt</a:t>
              </a:r>
              <a:endParaRPr b="1" sz="1300">
                <a:solidFill>
                  <a:srgbClr val="111827"/>
                </a:solidFill>
                <a:latin typeface="Inter"/>
                <a:ea typeface="Inter"/>
                <a:cs typeface="Inter"/>
                <a:sym typeface="Inter"/>
              </a:endParaRPr>
            </a:p>
            <a:p>
              <a:pPr indent="0" lvl="0" marL="0" rtl="0" algn="l">
                <a:spcBef>
                  <a:spcPts val="1000"/>
                </a:spcBef>
                <a:spcAft>
                  <a:spcPts val="0"/>
                </a:spcAft>
                <a:buNone/>
              </a:pPr>
              <a:r>
                <a:rPr b="0" lang="en" sz="1000">
                  <a:solidFill>
                    <a:srgbClr val="4B5563"/>
                  </a:solidFill>
                  <a:latin typeface="Inter"/>
                  <a:ea typeface="Inter"/>
                  <a:cs typeface="Inter"/>
                  <a:sym typeface="Inter"/>
                </a:rPr>
                <a:t>The final consolidated payload compiled at runtime before hitting the Core Model </a:t>
              </a:r>
              <a:endParaRPr b="0" sz="1000">
                <a:solidFill>
                  <a:srgbClr val="4B5563"/>
                </a:solidFill>
                <a:latin typeface="Inter"/>
                <a:ea typeface="Inter"/>
                <a:cs typeface="Inter"/>
                <a:sym typeface="Inter"/>
              </a:endParaRPr>
            </a:p>
            <a:p>
              <a:pPr indent="0" lvl="0" marL="0" rtl="0" algn="l">
                <a:spcBef>
                  <a:spcPts val="1200"/>
                </a:spcBef>
                <a:spcAft>
                  <a:spcPts val="0"/>
                </a:spcAft>
                <a:buNone/>
              </a:pPr>
              <a:r>
                <a:rPr b="1" i="1" lang="en" sz="950">
                  <a:solidFill>
                    <a:srgbClr val="9333EA"/>
                  </a:solidFill>
                  <a:highlight>
                    <a:srgbClr val="FFFFFF"/>
                  </a:highlight>
                  <a:latin typeface="Courier New"/>
                  <a:ea typeface="Courier New"/>
                  <a:cs typeface="Courier New"/>
                  <a:sym typeface="Courier New"/>
                </a:rPr>
                <a:t>// Assemble system prompt</a:t>
              </a:r>
              <a:br>
                <a:rPr b="1" lang="en" sz="950">
                  <a:solidFill>
                    <a:srgbClr val="1E40AF"/>
                  </a:solidFill>
                  <a:highlight>
                    <a:srgbClr val="FFFFFF"/>
                  </a:highlight>
                  <a:latin typeface="Courier New"/>
                  <a:ea typeface="Courier New"/>
                  <a:cs typeface="Courier New"/>
                  <a:sym typeface="Courier New"/>
                </a:rPr>
              </a:br>
              <a:r>
                <a:rPr b="1" lang="en" sz="950">
                  <a:solidFill>
                    <a:srgbClr val="1E40AF"/>
                  </a:solidFill>
                  <a:highlight>
                    <a:srgbClr val="FFFFFF"/>
                  </a:highlight>
                  <a:latin typeface="Courier New"/>
                  <a:ea typeface="Courier New"/>
                  <a:cs typeface="Courier New"/>
                  <a:sym typeface="Courier New"/>
                </a:rPr>
                <a:t>sys_prompt = build({</a:t>
              </a:r>
              <a:br>
                <a:rPr b="1" lang="en" sz="950">
                  <a:solidFill>
                    <a:srgbClr val="1E40AF"/>
                  </a:solidFill>
                  <a:highlight>
                    <a:srgbClr val="FFFFFF"/>
                  </a:highlight>
                  <a:latin typeface="Courier New"/>
                  <a:ea typeface="Courier New"/>
                  <a:cs typeface="Courier New"/>
                  <a:sym typeface="Courier New"/>
                </a:rPr>
              </a:br>
              <a:r>
                <a:rPr b="1" lang="en" sz="950">
                  <a:solidFill>
                    <a:srgbClr val="1E40AF"/>
                  </a:solidFill>
                  <a:highlight>
                    <a:srgbClr val="FFFFFF"/>
                  </a:highlight>
                  <a:latin typeface="Courier New"/>
                  <a:ea typeface="Courier New"/>
                  <a:cs typeface="Courier New"/>
                  <a:sym typeface="Courier New"/>
                </a:rPr>
                <a:t>  rules: system_rules,</a:t>
              </a:r>
              <a:br>
                <a:rPr b="1" lang="en" sz="950">
                  <a:solidFill>
                    <a:srgbClr val="1E40AF"/>
                  </a:solidFill>
                  <a:highlight>
                    <a:srgbClr val="FFFFFF"/>
                  </a:highlight>
                  <a:latin typeface="Courier New"/>
                  <a:ea typeface="Courier New"/>
                  <a:cs typeface="Courier New"/>
                  <a:sym typeface="Courier New"/>
                </a:rPr>
              </a:br>
              <a:r>
                <a:rPr b="1" lang="en" sz="950">
                  <a:solidFill>
                    <a:srgbClr val="1E40AF"/>
                  </a:solidFill>
                  <a:highlight>
                    <a:srgbClr val="FFFFFF"/>
                  </a:highlight>
                  <a:latin typeface="Courier New"/>
                  <a:ea typeface="Courier New"/>
                  <a:cs typeface="Courier New"/>
                  <a:sym typeface="Courier New"/>
                </a:rPr>
                <a:t>  history: user_context,</a:t>
              </a:r>
              <a:br>
                <a:rPr b="1" lang="en" sz="950">
                  <a:solidFill>
                    <a:srgbClr val="1E40AF"/>
                  </a:solidFill>
                  <a:highlight>
                    <a:srgbClr val="FFFFFF"/>
                  </a:highlight>
                  <a:latin typeface="Courier New"/>
                  <a:ea typeface="Courier New"/>
                  <a:cs typeface="Courier New"/>
                  <a:sym typeface="Courier New"/>
                </a:rPr>
              </a:br>
              <a:r>
                <a:rPr b="1" lang="en" sz="950">
                  <a:solidFill>
                    <a:srgbClr val="1E40AF"/>
                  </a:solidFill>
                  <a:highlight>
                    <a:srgbClr val="FFFFFF"/>
                  </a:highlight>
                  <a:latin typeface="Courier New"/>
                  <a:ea typeface="Courier New"/>
                  <a:cs typeface="Courier New"/>
                  <a:sym typeface="Courier New"/>
                </a:rPr>
                <a:t>  input: current_query</a:t>
              </a:r>
              <a:br>
                <a:rPr b="1" lang="en" sz="950">
                  <a:solidFill>
                    <a:srgbClr val="1E40AF"/>
                  </a:solidFill>
                  <a:highlight>
                    <a:srgbClr val="FFFFFF"/>
                  </a:highlight>
                  <a:latin typeface="Courier New"/>
                  <a:ea typeface="Courier New"/>
                  <a:cs typeface="Courier New"/>
                  <a:sym typeface="Courier New"/>
                </a:rPr>
              </a:br>
              <a:r>
                <a:rPr b="1" lang="en" sz="950">
                  <a:solidFill>
                    <a:srgbClr val="1E40AF"/>
                  </a:solidFill>
                  <a:highlight>
                    <a:srgbClr val="FFFFFF"/>
                  </a:highlight>
                  <a:latin typeface="Courier New"/>
                  <a:ea typeface="Courier New"/>
                  <a:cs typeface="Courier New"/>
                  <a:sym typeface="Courier New"/>
                </a:rPr>
                <a:t>});</a:t>
              </a:r>
              <a:endParaRPr b="1" sz="950">
                <a:solidFill>
                  <a:srgbClr val="1E40AF"/>
                </a:solidFill>
                <a:highlight>
                  <a:srgbClr val="FFFFFF"/>
                </a:highlight>
                <a:latin typeface="Courier New"/>
                <a:ea typeface="Courier New"/>
                <a:cs typeface="Courier New"/>
                <a:sym typeface="Courier New"/>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21"/>
          <p:cNvGrpSpPr/>
          <p:nvPr/>
        </p:nvGrpSpPr>
        <p:grpSpPr>
          <a:xfrm>
            <a:off x="0" y="0"/>
            <a:ext cx="9144000" cy="5143500"/>
            <a:chOff x="0" y="0"/>
            <a:chExt cx="9144000" cy="5143500"/>
          </a:xfrm>
        </p:grpSpPr>
        <p:sp>
          <p:nvSpPr>
            <p:cNvPr id="186" name="Google Shape;186;p21"/>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7" name="Google Shape;187;p21"/>
            <p:cNvGrpSpPr/>
            <p:nvPr/>
          </p:nvGrpSpPr>
          <p:grpSpPr>
            <a:xfrm>
              <a:off x="8458200" y="381000"/>
              <a:ext cx="304800" cy="304800"/>
              <a:chOff x="0" y="0"/>
              <a:chExt cx="304800" cy="304800"/>
            </a:xfrm>
          </p:grpSpPr>
          <p:sp>
            <p:nvSpPr>
              <p:cNvPr id="188" name="Google Shape;188;p21"/>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1"/>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1"/>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1" name="Google Shape;191;p21"/>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2" name="Google Shape;192;p21"/>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11827"/>
                </a:solidFill>
                <a:latin typeface="Inter"/>
                <a:ea typeface="Inter"/>
                <a:cs typeface="Inter"/>
                <a:sym typeface="Inter"/>
              </a:rPr>
              <a:t>01 - </a:t>
            </a:r>
            <a:r>
              <a:rPr b="1" lang="en" sz="2600">
                <a:solidFill>
                  <a:srgbClr val="111827"/>
                </a:solidFill>
                <a:latin typeface="Inter"/>
                <a:ea typeface="Inter"/>
                <a:cs typeface="Inter"/>
                <a:sym typeface="Inter"/>
              </a:rPr>
              <a:t>The Journey of a Prompt / Model</a:t>
            </a:r>
            <a:endParaRPr b="1" sz="2600">
              <a:solidFill>
                <a:srgbClr val="111827"/>
              </a:solidFill>
              <a:latin typeface="Inter"/>
              <a:ea typeface="Inter"/>
              <a:cs typeface="Inter"/>
              <a:sym typeface="Inter"/>
            </a:endParaRPr>
          </a:p>
          <a:p>
            <a:pPr indent="0" lvl="0" marL="0" rtl="0" algn="l">
              <a:spcBef>
                <a:spcPts val="450"/>
              </a:spcBef>
              <a:spcAft>
                <a:spcPts val="0"/>
              </a:spcAft>
              <a:buNone/>
            </a:pPr>
            <a:r>
              <a:rPr b="0" lang="en" sz="1500">
                <a:solidFill>
                  <a:srgbClr val="2563EB"/>
                </a:solidFill>
                <a:latin typeface="Inter Medium"/>
                <a:ea typeface="Inter Medium"/>
                <a:cs typeface="Inter Medium"/>
                <a:sym typeface="Inter Medium"/>
              </a:rPr>
              <a:t>From Tokenization to Prediction</a:t>
            </a:r>
            <a:endParaRPr b="0" sz="1500">
              <a:solidFill>
                <a:srgbClr val="2563EB"/>
              </a:solidFill>
              <a:latin typeface="Inter Medium"/>
              <a:ea typeface="Inter Medium"/>
              <a:cs typeface="Inter Medium"/>
              <a:sym typeface="Inter Medium"/>
            </a:endParaRPr>
          </a:p>
        </p:txBody>
      </p:sp>
      <p:grpSp>
        <p:nvGrpSpPr>
          <p:cNvPr id="193" name="Google Shape;193;p21"/>
          <p:cNvGrpSpPr/>
          <p:nvPr/>
        </p:nvGrpSpPr>
        <p:grpSpPr>
          <a:xfrm>
            <a:off x="1047750" y="1476375"/>
            <a:ext cx="7048500" cy="762000"/>
            <a:chOff x="0" y="0"/>
            <a:chExt cx="7048500" cy="762000"/>
          </a:xfrm>
        </p:grpSpPr>
        <p:sp>
          <p:nvSpPr>
            <p:cNvPr id="194" name="Google Shape;194;p21"/>
            <p:cNvSpPr/>
            <p:nvPr/>
          </p:nvSpPr>
          <p:spPr>
            <a:xfrm>
              <a:off x="0" y="0"/>
              <a:ext cx="1905000" cy="762000"/>
            </a:xfrm>
            <a:prstGeom prst="roundRect">
              <a:avLst>
                <a:gd fmla="val 75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1"/>
            <p:cNvSpPr txBox="1"/>
            <p:nvPr/>
          </p:nvSpPr>
          <p:spPr>
            <a:xfrm>
              <a:off x="95250" y="95250"/>
              <a:ext cx="1714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111827"/>
                  </a:solidFill>
                  <a:latin typeface="Inter SemiBold"/>
                  <a:ea typeface="Inter SemiBold"/>
                  <a:cs typeface="Inter SemiBold"/>
                  <a:sym typeface="Inter SemiBold"/>
                </a:rPr>
                <a:t>Tokenization &amp; Embeddings</a:t>
              </a:r>
              <a:endParaRPr b="0" sz="1200">
                <a:solidFill>
                  <a:srgbClr val="111827"/>
                </a:solidFill>
                <a:latin typeface="Inter SemiBold"/>
                <a:ea typeface="Inter SemiBold"/>
                <a:cs typeface="Inter SemiBold"/>
                <a:sym typeface="Inter SemiBold"/>
              </a:endParaRPr>
            </a:p>
          </p:txBody>
        </p:sp>
        <p:sp>
          <p:nvSpPr>
            <p:cNvPr id="196" name="Google Shape;196;p21"/>
            <p:cNvSpPr/>
            <p:nvPr/>
          </p:nvSpPr>
          <p:spPr>
            <a:xfrm>
              <a:off x="2047875" y="381000"/>
              <a:ext cx="381000" cy="0"/>
            </a:xfrm>
            <a:custGeom>
              <a:rect b="b" l="l" r="r" t="t"/>
              <a:pathLst>
                <a:path extrusionOk="0" h="120000" w="120000">
                  <a:moveTo>
                    <a:pt x="0" y="0"/>
                  </a:moveTo>
                  <a:lnTo>
                    <a:pt x="120000" y="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21"/>
            <p:cNvSpPr/>
            <p:nvPr/>
          </p:nvSpPr>
          <p:spPr>
            <a:xfrm>
              <a:off x="2428875" y="333375"/>
              <a:ext cx="95400" cy="95400"/>
            </a:xfrm>
            <a:custGeom>
              <a:rect b="b" l="l" r="r" t="t"/>
              <a:pathLst>
                <a:path extrusionOk="0" h="120000" w="120000">
                  <a:moveTo>
                    <a:pt x="0" y="0"/>
                  </a:moveTo>
                  <a:lnTo>
                    <a:pt x="120000" y="6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1"/>
            <p:cNvSpPr/>
            <p:nvPr/>
          </p:nvSpPr>
          <p:spPr>
            <a:xfrm>
              <a:off x="2571750" y="0"/>
              <a:ext cx="1905000" cy="762000"/>
            </a:xfrm>
            <a:prstGeom prst="roundRect">
              <a:avLst>
                <a:gd fmla="val 75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1"/>
            <p:cNvSpPr txBox="1"/>
            <p:nvPr/>
          </p:nvSpPr>
          <p:spPr>
            <a:xfrm>
              <a:off x="2667000" y="95250"/>
              <a:ext cx="1714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111827"/>
                  </a:solidFill>
                  <a:latin typeface="Inter SemiBold"/>
                  <a:ea typeface="Inter SemiBold"/>
                  <a:cs typeface="Inter SemiBold"/>
                  <a:sym typeface="Inter SemiBold"/>
                </a:rPr>
                <a:t>Attention Layers</a:t>
              </a:r>
              <a:endParaRPr b="0" sz="1200">
                <a:solidFill>
                  <a:srgbClr val="111827"/>
                </a:solidFill>
                <a:latin typeface="Inter SemiBold"/>
                <a:ea typeface="Inter SemiBold"/>
                <a:cs typeface="Inter SemiBold"/>
                <a:sym typeface="Inter SemiBold"/>
              </a:endParaRPr>
            </a:p>
          </p:txBody>
        </p:sp>
        <p:sp>
          <p:nvSpPr>
            <p:cNvPr id="200" name="Google Shape;200;p21"/>
            <p:cNvSpPr/>
            <p:nvPr/>
          </p:nvSpPr>
          <p:spPr>
            <a:xfrm>
              <a:off x="4619625" y="381000"/>
              <a:ext cx="381000" cy="0"/>
            </a:xfrm>
            <a:custGeom>
              <a:rect b="b" l="l" r="r" t="t"/>
              <a:pathLst>
                <a:path extrusionOk="0" h="120000" w="120000">
                  <a:moveTo>
                    <a:pt x="0" y="0"/>
                  </a:moveTo>
                  <a:lnTo>
                    <a:pt x="120000" y="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21"/>
            <p:cNvSpPr/>
            <p:nvPr/>
          </p:nvSpPr>
          <p:spPr>
            <a:xfrm>
              <a:off x="5000625" y="333375"/>
              <a:ext cx="95400" cy="95400"/>
            </a:xfrm>
            <a:custGeom>
              <a:rect b="b" l="l" r="r" t="t"/>
              <a:pathLst>
                <a:path extrusionOk="0" h="120000" w="120000">
                  <a:moveTo>
                    <a:pt x="0" y="0"/>
                  </a:moveTo>
                  <a:lnTo>
                    <a:pt x="120000" y="6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21"/>
            <p:cNvSpPr/>
            <p:nvPr/>
          </p:nvSpPr>
          <p:spPr>
            <a:xfrm>
              <a:off x="5143500" y="0"/>
              <a:ext cx="1905000" cy="762000"/>
            </a:xfrm>
            <a:prstGeom prst="roundRect">
              <a:avLst>
                <a:gd fmla="val 75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1"/>
            <p:cNvSpPr txBox="1"/>
            <p:nvPr/>
          </p:nvSpPr>
          <p:spPr>
            <a:xfrm>
              <a:off x="5238750" y="95250"/>
              <a:ext cx="1714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111827"/>
                  </a:solidFill>
                  <a:latin typeface="Inter SemiBold"/>
                  <a:ea typeface="Inter SemiBold"/>
                  <a:cs typeface="Inter SemiBold"/>
                  <a:sym typeface="Inter SemiBold"/>
                </a:rPr>
                <a:t>Next Token Prediction</a:t>
              </a:r>
              <a:endParaRPr b="0" sz="1200">
                <a:solidFill>
                  <a:srgbClr val="111827"/>
                </a:solidFill>
                <a:latin typeface="Inter SemiBold"/>
                <a:ea typeface="Inter SemiBold"/>
                <a:cs typeface="Inter SemiBold"/>
                <a:sym typeface="Inter SemiBold"/>
              </a:endParaRPr>
            </a:p>
          </p:txBody>
        </p:sp>
      </p:grpSp>
      <p:grpSp>
        <p:nvGrpSpPr>
          <p:cNvPr id="204" name="Google Shape;204;p21"/>
          <p:cNvGrpSpPr/>
          <p:nvPr/>
        </p:nvGrpSpPr>
        <p:grpSpPr>
          <a:xfrm>
            <a:off x="381000" y="2571750"/>
            <a:ext cx="8382075" cy="2143200"/>
            <a:chOff x="381000" y="2571750"/>
            <a:chExt cx="8382075" cy="2143200"/>
          </a:xfrm>
        </p:grpSpPr>
        <p:sp>
          <p:nvSpPr>
            <p:cNvPr id="205" name="Google Shape;205;p21"/>
            <p:cNvSpPr/>
            <p:nvPr/>
          </p:nvSpPr>
          <p:spPr>
            <a:xfrm>
              <a:off x="381000" y="2571750"/>
              <a:ext cx="4048200" cy="2143200"/>
            </a:xfrm>
            <a:prstGeom prst="roundRect">
              <a:avLst>
                <a:gd fmla="val 355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1"/>
            <p:cNvSpPr txBox="1"/>
            <p:nvPr/>
          </p:nvSpPr>
          <p:spPr>
            <a:xfrm>
              <a:off x="571500" y="2762250"/>
              <a:ext cx="36672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25">
                  <a:solidFill>
                    <a:srgbClr val="F97316"/>
                  </a:solidFill>
                  <a:latin typeface="Inter SemiBold"/>
                  <a:ea typeface="Inter SemiBold"/>
                  <a:cs typeface="Inter SemiBold"/>
                  <a:sym typeface="Inter SemiBold"/>
                </a:rPr>
                <a:t>Transformation Pipeline</a:t>
              </a:r>
              <a:endParaRPr b="0" sz="925">
                <a:solidFill>
                  <a:srgbClr val="F97316"/>
                </a:solidFill>
                <a:latin typeface="Inter SemiBold"/>
                <a:ea typeface="Inter SemiBold"/>
                <a:cs typeface="Inter SemiBold"/>
                <a:sym typeface="Inter SemiBold"/>
              </a:endParaRPr>
            </a:p>
            <a:p>
              <a:pPr indent="0" lvl="0" marL="0" rtl="0" algn="l">
                <a:spcBef>
                  <a:spcPts val="800"/>
                </a:spcBef>
                <a:spcAft>
                  <a:spcPts val="0"/>
                </a:spcAft>
                <a:buNone/>
              </a:pPr>
              <a:r>
                <a:rPr b="0" lang="en" sz="1064">
                  <a:solidFill>
                    <a:srgbClr val="4B5563"/>
                  </a:solidFill>
                  <a:latin typeface="Inter"/>
                  <a:ea typeface="Inter"/>
                  <a:cs typeface="Inter"/>
                  <a:sym typeface="Inter"/>
                </a:rPr>
                <a:t>Prompts undergo a precise sequence of computational steps:</a:t>
              </a:r>
              <a:endParaRPr b="0" sz="1064">
                <a:solidFill>
                  <a:srgbClr val="4B5563"/>
                </a:solidFill>
                <a:latin typeface="Inter"/>
                <a:ea typeface="Inter"/>
                <a:cs typeface="Inter"/>
                <a:sym typeface="Inter"/>
              </a:endParaRPr>
            </a:p>
            <a:p>
              <a:pPr indent="-293211" lvl="0" marL="457200" rtl="0" algn="l">
                <a:spcBef>
                  <a:spcPts val="800"/>
                </a:spcBef>
                <a:spcAft>
                  <a:spcPts val="0"/>
                </a:spcAft>
                <a:buClr>
                  <a:srgbClr val="4B5563"/>
                </a:buClr>
                <a:buSzPts val="1018"/>
                <a:buFont typeface="Inter"/>
                <a:buChar char="●"/>
              </a:pPr>
              <a:r>
                <a:rPr b="0" lang="en" sz="1018">
                  <a:solidFill>
                    <a:srgbClr val="2563EB"/>
                  </a:solidFill>
                  <a:latin typeface="Inter SemiBold"/>
                  <a:ea typeface="Inter SemiBold"/>
                  <a:cs typeface="Inter SemiBold"/>
                  <a:sym typeface="Inter SemiBold"/>
                </a:rPr>
                <a:t>Tokenization &amp; Embeddings</a:t>
              </a:r>
              <a:r>
                <a:rPr b="0" lang="en" sz="1018">
                  <a:solidFill>
                    <a:srgbClr val="4B5563"/>
                  </a:solidFill>
                  <a:latin typeface="Inter"/>
                  <a:ea typeface="Inter"/>
                  <a:cs typeface="Inter"/>
                  <a:sym typeface="Inter"/>
                </a:rPr>
                <a:t> break text into chunks and map them to semantic vector spaces.</a:t>
              </a:r>
              <a:endParaRPr b="0" sz="1018">
                <a:solidFill>
                  <a:srgbClr val="4B5563"/>
                </a:solidFill>
                <a:latin typeface="Inter"/>
                <a:ea typeface="Inter"/>
                <a:cs typeface="Inter"/>
                <a:sym typeface="Inter"/>
              </a:endParaRPr>
            </a:p>
            <a:p>
              <a:pPr indent="-293211" lvl="0" marL="457200" rtl="0" algn="l">
                <a:spcBef>
                  <a:spcPts val="400"/>
                </a:spcBef>
                <a:spcAft>
                  <a:spcPts val="0"/>
                </a:spcAft>
                <a:buClr>
                  <a:srgbClr val="4B5563"/>
                </a:buClr>
                <a:buSzPts val="1018"/>
                <a:buFont typeface="Inter"/>
                <a:buChar char="●"/>
              </a:pPr>
              <a:r>
                <a:rPr b="0" lang="en" sz="1018">
                  <a:solidFill>
                    <a:srgbClr val="2563EB"/>
                  </a:solidFill>
                  <a:latin typeface="Inter SemiBold"/>
                  <a:ea typeface="Inter SemiBold"/>
                  <a:cs typeface="Inter SemiBold"/>
                  <a:sym typeface="Inter SemiBold"/>
                </a:rPr>
                <a:t>Attention Layers</a:t>
              </a:r>
              <a:r>
                <a:rPr b="0" lang="en" sz="1018">
                  <a:solidFill>
                    <a:srgbClr val="4B5563"/>
                  </a:solidFill>
                  <a:latin typeface="Inter"/>
                  <a:ea typeface="Inter"/>
                  <a:cs typeface="Inter"/>
                  <a:sym typeface="Inter"/>
                </a:rPr>
                <a:t> calculate dynamic weights and evaluate token relationships.</a:t>
              </a:r>
              <a:endParaRPr b="0" sz="1018">
                <a:solidFill>
                  <a:srgbClr val="4B5563"/>
                </a:solidFill>
                <a:latin typeface="Inter"/>
                <a:ea typeface="Inter"/>
                <a:cs typeface="Inter"/>
                <a:sym typeface="Inter"/>
              </a:endParaRPr>
            </a:p>
            <a:p>
              <a:pPr indent="-293211" lvl="0" marL="457200" rtl="0" algn="l">
                <a:spcBef>
                  <a:spcPts val="400"/>
                </a:spcBef>
                <a:spcAft>
                  <a:spcPts val="0"/>
                </a:spcAft>
                <a:buClr>
                  <a:srgbClr val="4B5563"/>
                </a:buClr>
                <a:buSzPts val="1018"/>
                <a:buFont typeface="Inter"/>
                <a:buChar char="●"/>
              </a:pPr>
              <a:r>
                <a:rPr b="0" lang="en" sz="1018">
                  <a:solidFill>
                    <a:srgbClr val="2563EB"/>
                  </a:solidFill>
                  <a:latin typeface="Inter SemiBold"/>
                  <a:ea typeface="Inter SemiBold"/>
                  <a:cs typeface="Inter SemiBold"/>
                  <a:sym typeface="Inter SemiBold"/>
                </a:rPr>
                <a:t>Next Token Prediction</a:t>
              </a:r>
              <a:r>
                <a:rPr b="0" lang="en" sz="1018">
                  <a:solidFill>
                    <a:srgbClr val="4B5563"/>
                  </a:solidFill>
                  <a:latin typeface="Inter"/>
                  <a:ea typeface="Inter"/>
                  <a:cs typeface="Inter"/>
                  <a:sym typeface="Inter"/>
                </a:rPr>
                <a:t> generates the highest-probability output for detokenization.</a:t>
              </a:r>
              <a:endParaRPr b="0" sz="1018">
                <a:solidFill>
                  <a:srgbClr val="4B5563"/>
                </a:solidFill>
                <a:latin typeface="Inter"/>
                <a:ea typeface="Inter"/>
                <a:cs typeface="Inter"/>
                <a:sym typeface="Inter"/>
              </a:endParaRPr>
            </a:p>
          </p:txBody>
        </p:sp>
        <p:sp>
          <p:nvSpPr>
            <p:cNvPr id="207" name="Google Shape;207;p21"/>
            <p:cNvSpPr/>
            <p:nvPr/>
          </p:nvSpPr>
          <p:spPr>
            <a:xfrm>
              <a:off x="4714875" y="2571750"/>
              <a:ext cx="4048200" cy="2143200"/>
            </a:xfrm>
            <a:prstGeom prst="roundRect">
              <a:avLst>
                <a:gd fmla="val 3555"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1"/>
            <p:cNvSpPr txBox="1"/>
            <p:nvPr/>
          </p:nvSpPr>
          <p:spPr>
            <a:xfrm>
              <a:off x="4905375" y="2762250"/>
              <a:ext cx="3667200" cy="176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563EB"/>
                  </a:solidFill>
                  <a:latin typeface="Inter SemiBold"/>
                  <a:ea typeface="Inter SemiBold"/>
                  <a:cs typeface="Inter SemiBold"/>
                  <a:sym typeface="Inter SemiBold"/>
                </a:rPr>
                <a:t>Context Optimization Rule</a:t>
              </a:r>
              <a:endParaRPr b="0" sz="1000">
                <a:solidFill>
                  <a:srgbClr val="2563EB"/>
                </a:solidFill>
                <a:latin typeface="Inter SemiBold"/>
                <a:ea typeface="Inter SemiBold"/>
                <a:cs typeface="Inter SemiBold"/>
                <a:sym typeface="Inter SemiBold"/>
              </a:endParaRPr>
            </a:p>
            <a:p>
              <a:pPr indent="0" lvl="0" marL="0" rtl="0" algn="l">
                <a:spcBef>
                  <a:spcPts val="800"/>
                </a:spcBef>
                <a:spcAft>
                  <a:spcPts val="0"/>
                </a:spcAft>
                <a:buNone/>
              </a:pPr>
              <a:r>
                <a:rPr b="1" lang="en" sz="1400">
                  <a:solidFill>
                    <a:srgbClr val="111827"/>
                  </a:solidFill>
                  <a:latin typeface="Inter"/>
                  <a:ea typeface="Inter"/>
                  <a:cs typeface="Inter"/>
                  <a:sym typeface="Inter"/>
                </a:rPr>
                <a:t>1 Token ≈ 4 English Characters</a:t>
              </a:r>
              <a:endParaRPr b="1" sz="1400">
                <a:solidFill>
                  <a:srgbClr val="111827"/>
                </a:solidFill>
                <a:latin typeface="Inter"/>
                <a:ea typeface="Inter"/>
                <a:cs typeface="Inter"/>
                <a:sym typeface="Inter"/>
              </a:endParaRPr>
            </a:p>
            <a:p>
              <a:pPr indent="0" lvl="0" marL="0" rtl="0" algn="l">
                <a:spcBef>
                  <a:spcPts val="600"/>
                </a:spcBef>
                <a:spcAft>
                  <a:spcPts val="0"/>
                </a:spcAft>
                <a:buNone/>
              </a:pPr>
              <a:r>
                <a:rPr b="0" lang="en" sz="1100">
                  <a:solidFill>
                    <a:srgbClr val="4B5563"/>
                  </a:solidFill>
                  <a:latin typeface="Inter"/>
                  <a:ea typeface="Inter"/>
                  <a:cs typeface="Inter"/>
                  <a:sym typeface="Inter"/>
                </a:rPr>
                <a:t>To avoid exceeding limits, the system dynamically monitors context window thresholds and triggers adaptive compression:</a:t>
              </a:r>
              <a:endParaRPr b="0" sz="1100">
                <a:solidFill>
                  <a:srgbClr val="4B5563"/>
                </a:solidFill>
                <a:latin typeface="Inter"/>
                <a:ea typeface="Inter"/>
                <a:cs typeface="Inter"/>
                <a:sym typeface="Inter"/>
              </a:endParaRPr>
            </a:p>
            <a:p>
              <a:pPr indent="0" lvl="0" marL="0" rtl="0" algn="l">
                <a:spcBef>
                  <a:spcPts val="1000"/>
                </a:spcBef>
                <a:spcAft>
                  <a:spcPts val="0"/>
                </a:spcAft>
                <a:buNone/>
              </a:pPr>
              <a:r>
                <a:rPr b="1" lang="en" sz="950">
                  <a:solidFill>
                    <a:srgbClr val="059669"/>
                  </a:solidFill>
                  <a:latin typeface="Arial"/>
                  <a:ea typeface="Arial"/>
                  <a:cs typeface="Arial"/>
                  <a:sym typeface="Arial"/>
                </a:rPr>
                <a:t>if</a:t>
              </a:r>
              <a:r>
                <a:rPr b="1" lang="en" sz="950">
                  <a:solidFill>
                    <a:srgbClr val="1E40AF"/>
                  </a:solidFill>
                  <a:highlight>
                    <a:srgbClr val="FFFFFF"/>
                  </a:highlight>
                  <a:latin typeface="Arial"/>
                  <a:ea typeface="Arial"/>
                  <a:cs typeface="Arial"/>
                  <a:sym typeface="Arial"/>
                </a:rPr>
                <a:t> (prompt_chars / 4) &gt; (context_window / 2) {</a:t>
              </a:r>
              <a:br>
                <a:rPr b="1" lang="en" sz="950">
                  <a:solidFill>
                    <a:srgbClr val="1E40AF"/>
                  </a:solidFill>
                  <a:highlight>
                    <a:srgbClr val="FFFFFF"/>
                  </a:highlight>
                  <a:latin typeface="Arial"/>
                  <a:ea typeface="Arial"/>
                  <a:cs typeface="Arial"/>
                  <a:sym typeface="Arial"/>
                </a:rPr>
              </a:br>
              <a:r>
                <a:rPr b="1" lang="en" sz="950">
                  <a:solidFill>
                    <a:srgbClr val="1E40AF"/>
                  </a:solidFill>
                  <a:highlight>
                    <a:srgbClr val="FFFFFF"/>
                  </a:highlight>
                  <a:latin typeface="Arial"/>
                  <a:ea typeface="Arial"/>
                  <a:cs typeface="Arial"/>
                  <a:sym typeface="Arial"/>
                </a:rPr>
                <a:t>  </a:t>
              </a:r>
              <a:r>
                <a:rPr b="1" i="1" lang="en" sz="950">
                  <a:solidFill>
                    <a:srgbClr val="9333EA"/>
                  </a:solidFill>
                  <a:highlight>
                    <a:srgbClr val="FFFFFF"/>
                  </a:highlight>
                  <a:latin typeface="Arial"/>
                  <a:ea typeface="Arial"/>
                  <a:cs typeface="Arial"/>
                  <a:sym typeface="Arial"/>
                </a:rPr>
                <a:t>// Summarize context (Hermes-style)</a:t>
              </a:r>
              <a:br>
                <a:rPr b="1" lang="en" sz="950">
                  <a:solidFill>
                    <a:srgbClr val="1E40AF"/>
                  </a:solidFill>
                  <a:highlight>
                    <a:srgbClr val="FFFFFF"/>
                  </a:highlight>
                  <a:latin typeface="Arial"/>
                  <a:ea typeface="Arial"/>
                  <a:cs typeface="Arial"/>
                  <a:sym typeface="Arial"/>
                </a:rPr>
              </a:br>
              <a:r>
                <a:rPr b="1" lang="en" sz="950">
                  <a:solidFill>
                    <a:srgbClr val="1E40AF"/>
                  </a:solidFill>
                  <a:highlight>
                    <a:srgbClr val="FFFFFF"/>
                  </a:highlight>
                  <a:latin typeface="Arial"/>
                  <a:ea typeface="Arial"/>
                  <a:cs typeface="Arial"/>
                  <a:sym typeface="Arial"/>
                </a:rPr>
                <a:t>  compress_and_merge_context();</a:t>
              </a:r>
              <a:br>
                <a:rPr b="1" lang="en" sz="950">
                  <a:solidFill>
                    <a:srgbClr val="1E40AF"/>
                  </a:solidFill>
                  <a:highlight>
                    <a:srgbClr val="FFFFFF"/>
                  </a:highlight>
                  <a:latin typeface="Arial"/>
                  <a:ea typeface="Arial"/>
                  <a:cs typeface="Arial"/>
                  <a:sym typeface="Arial"/>
                </a:rPr>
              </a:br>
              <a:r>
                <a:rPr b="1" lang="en" sz="950">
                  <a:solidFill>
                    <a:srgbClr val="1E40AF"/>
                  </a:solidFill>
                  <a:highlight>
                    <a:srgbClr val="FFFFFF"/>
                  </a:highlight>
                  <a:latin typeface="Arial"/>
                  <a:ea typeface="Arial"/>
                  <a:cs typeface="Arial"/>
                  <a:sym typeface="Arial"/>
                </a:rPr>
                <a:t>}</a:t>
              </a:r>
              <a:endParaRPr b="1" sz="950">
                <a:solidFill>
                  <a:srgbClr val="1E40AF"/>
                </a:solidFill>
                <a:highlight>
                  <a:srgbClr val="FFFFFF"/>
                </a:highlight>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2"/>
          <p:cNvSpPr/>
          <p:nvPr/>
        </p:nvSpPr>
        <p:spPr>
          <a:xfrm>
            <a:off x="381000" y="1095375"/>
            <a:ext cx="8382000" cy="0"/>
          </a:xfrm>
          <a:custGeom>
            <a:rect b="b" l="l" r="r" t="t"/>
            <a:pathLst>
              <a:path extrusionOk="0" fill="none" h="120000" w="120000">
                <a:moveTo>
                  <a:pt x="0" y="0"/>
                </a:moveTo>
                <a:lnTo>
                  <a:pt x="120000" y="0"/>
                </a:lnTo>
              </a:path>
            </a:pathLst>
          </a:cu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2"/>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02/03 - Context Injection &amp; Memory</a:t>
            </a:r>
            <a:endParaRPr b="1" sz="2400">
              <a:solidFill>
                <a:srgbClr val="111827"/>
              </a:solidFill>
              <a:latin typeface="Inter"/>
              <a:ea typeface="Inter"/>
              <a:cs typeface="Inter"/>
              <a:sym typeface="Inter"/>
            </a:endParaRPr>
          </a:p>
          <a:p>
            <a:pPr indent="0" lvl="0" marL="0" rtl="0" algn="l">
              <a:spcBef>
                <a:spcPts val="400"/>
              </a:spcBef>
              <a:spcAft>
                <a:spcPts val="0"/>
              </a:spcAft>
              <a:buNone/>
            </a:pPr>
            <a:r>
              <a:rPr b="0" lang="en" sz="1200">
                <a:solidFill>
                  <a:srgbClr val="2563EB"/>
                </a:solidFill>
                <a:latin typeface="Inter Medium"/>
                <a:ea typeface="Inter Medium"/>
                <a:cs typeface="Inter Medium"/>
                <a:sym typeface="Inter Medium"/>
              </a:rPr>
              <a:t>Dynamic user query, session variables, and situational data</a:t>
            </a:r>
            <a:endParaRPr b="0" sz="1200">
              <a:solidFill>
                <a:srgbClr val="2563EB"/>
              </a:solidFill>
              <a:latin typeface="Inter Medium"/>
              <a:ea typeface="Inter Medium"/>
              <a:cs typeface="Inter Medium"/>
              <a:sym typeface="Inter Medium"/>
            </a:endParaRPr>
          </a:p>
        </p:txBody>
      </p:sp>
      <p:grpSp>
        <p:nvGrpSpPr>
          <p:cNvPr id="216" name="Google Shape;216;p22"/>
          <p:cNvGrpSpPr/>
          <p:nvPr/>
        </p:nvGrpSpPr>
        <p:grpSpPr>
          <a:xfrm>
            <a:off x="381000" y="1333500"/>
            <a:ext cx="4048200" cy="3238500"/>
            <a:chOff x="0" y="0"/>
            <a:chExt cx="4048200" cy="3238500"/>
          </a:xfrm>
        </p:grpSpPr>
        <p:sp>
          <p:nvSpPr>
            <p:cNvPr id="217" name="Google Shape;217;p22"/>
            <p:cNvSpPr/>
            <p:nvPr/>
          </p:nvSpPr>
          <p:spPr>
            <a:xfrm>
              <a:off x="0" y="0"/>
              <a:ext cx="4048200" cy="3238500"/>
            </a:xfrm>
            <a:prstGeom prst="roundRect">
              <a:avLst>
                <a:gd fmla="val 2352"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2"/>
            <p:cNvSpPr txBox="1"/>
            <p:nvPr/>
          </p:nvSpPr>
          <p:spPr>
            <a:xfrm>
              <a:off x="228600" y="228600"/>
              <a:ext cx="35910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86">
                  <a:solidFill>
                    <a:srgbClr val="F97316"/>
                  </a:solidFill>
                  <a:latin typeface="Inter"/>
                  <a:ea typeface="Inter"/>
                  <a:cs typeface="Inter"/>
                  <a:sym typeface="Inter"/>
                </a:rPr>
                <a:t>DYNAMIC ENRICHMENT</a:t>
              </a:r>
              <a:endParaRPr b="1" sz="786">
                <a:solidFill>
                  <a:srgbClr val="F97316"/>
                </a:solidFill>
                <a:latin typeface="Inter"/>
                <a:ea typeface="Inter"/>
                <a:cs typeface="Inter"/>
                <a:sym typeface="Inter"/>
              </a:endParaRPr>
            </a:p>
            <a:p>
              <a:pPr indent="0" lvl="0" marL="0" rtl="0" algn="l">
                <a:spcBef>
                  <a:spcPts val="800"/>
                </a:spcBef>
                <a:spcAft>
                  <a:spcPts val="0"/>
                </a:spcAft>
                <a:buNone/>
              </a:pPr>
              <a:r>
                <a:rPr b="1" lang="en" sz="1295">
                  <a:solidFill>
                    <a:srgbClr val="111827"/>
                  </a:solidFill>
                  <a:latin typeface="Inter"/>
                  <a:ea typeface="Inter"/>
                  <a:cs typeface="Inter"/>
                  <a:sym typeface="Inter"/>
                </a:rPr>
                <a:t>Real-Time Data Integration</a:t>
              </a:r>
              <a:endParaRPr b="1" sz="1295">
                <a:solidFill>
                  <a:srgbClr val="111827"/>
                </a:solidFill>
                <a:latin typeface="Inter"/>
                <a:ea typeface="Inter"/>
                <a:cs typeface="Inter"/>
                <a:sym typeface="Inter"/>
              </a:endParaRPr>
            </a:p>
            <a:p>
              <a:pPr indent="0" lvl="0" marL="0" rtl="0" algn="l">
                <a:spcBef>
                  <a:spcPts val="1000"/>
                </a:spcBef>
                <a:spcAft>
                  <a:spcPts val="0"/>
                </a:spcAft>
                <a:buNone/>
              </a:pPr>
              <a:r>
                <a:rPr b="0" lang="en" sz="971">
                  <a:solidFill>
                    <a:srgbClr val="4B5563"/>
                  </a:solidFill>
                  <a:latin typeface="Inter"/>
                  <a:ea typeface="Inter"/>
                  <a:cs typeface="Inter"/>
                  <a:sym typeface="Inter"/>
                </a:rPr>
                <a:t>Before sending the compiled instruction to the model, the orchestrator dynamically augments the session with environment variables, safety constraints, and user metadata.</a:t>
              </a:r>
              <a:endParaRPr b="0" sz="971">
                <a:solidFill>
                  <a:srgbClr val="4B5563"/>
                </a:solidFill>
                <a:latin typeface="Inter"/>
                <a:ea typeface="Inter"/>
                <a:cs typeface="Inter"/>
                <a:sym typeface="Inter"/>
              </a:endParaRPr>
            </a:p>
            <a:p>
              <a:pPr indent="0" lvl="0" marL="0" rtl="0" algn="l">
                <a:spcBef>
                  <a:spcPts val="1200"/>
                </a:spcBef>
                <a:spcAft>
                  <a:spcPts val="0"/>
                </a:spcAft>
                <a:buNone/>
              </a:pPr>
              <a:r>
                <a:rPr b="0" lang="en" sz="925">
                  <a:solidFill>
                    <a:srgbClr val="2563EB"/>
                  </a:solidFill>
                  <a:latin typeface="Inter SemiBold"/>
                  <a:ea typeface="Inter SemiBold"/>
                  <a:cs typeface="Inter SemiBold"/>
                  <a:sym typeface="Inter SemiBold"/>
                </a:rPr>
                <a:t>Injected Contextual Layers:</a:t>
              </a:r>
              <a:endParaRPr b="0" sz="925">
                <a:solidFill>
                  <a:srgbClr val="2563EB"/>
                </a:solidFill>
                <a:latin typeface="Inter SemiBold"/>
                <a:ea typeface="Inter SemiBold"/>
                <a:cs typeface="Inter SemiBold"/>
                <a:sym typeface="Inter SemiBold"/>
              </a:endParaRPr>
            </a:p>
            <a:p>
              <a:pPr indent="-310833" lvl="0" marL="457200" rtl="0" algn="l">
                <a:spcBef>
                  <a:spcPts val="800"/>
                </a:spcBef>
                <a:spcAft>
                  <a:spcPts val="0"/>
                </a:spcAft>
                <a:buSzPts val="1295"/>
                <a:buChar char="●"/>
              </a:pPr>
              <a:r>
                <a:rPr b="1" lang="en" sz="971">
                  <a:solidFill>
                    <a:srgbClr val="4B5563"/>
                  </a:solidFill>
                  <a:latin typeface="Inter"/>
                  <a:ea typeface="Inter"/>
                  <a:cs typeface="Inter"/>
                  <a:sym typeface="Inter"/>
                </a:rPr>
                <a:t>Dynamic User Query:</a:t>
              </a:r>
              <a:r>
                <a:rPr b="0" lang="en" sz="971">
                  <a:solidFill>
                    <a:srgbClr val="4B5563"/>
                  </a:solidFill>
                  <a:latin typeface="Inter"/>
                  <a:ea typeface="Inter"/>
                  <a:cs typeface="Inter"/>
                  <a:sym typeface="Inter"/>
                </a:rPr>
                <a:t> Direct instructions or files provided in the active session.</a:t>
              </a:r>
              <a:endParaRPr b="0" sz="971">
                <a:solidFill>
                  <a:srgbClr val="4B5563"/>
                </a:solidFill>
                <a:latin typeface="Inter"/>
                <a:ea typeface="Inter"/>
                <a:cs typeface="Inter"/>
                <a:sym typeface="Inter"/>
              </a:endParaRPr>
            </a:p>
            <a:p>
              <a:pPr indent="-310833" lvl="0" marL="457200" rtl="0" algn="l">
                <a:spcBef>
                  <a:spcPts val="400"/>
                </a:spcBef>
                <a:spcAft>
                  <a:spcPts val="0"/>
                </a:spcAft>
                <a:buSzPts val="1295"/>
                <a:buChar char="●"/>
              </a:pPr>
              <a:r>
                <a:rPr b="1" lang="en" sz="971">
                  <a:solidFill>
                    <a:srgbClr val="4B5563"/>
                  </a:solidFill>
                  <a:latin typeface="Inter"/>
                  <a:ea typeface="Inter"/>
                  <a:cs typeface="Inter"/>
                  <a:sym typeface="Inter"/>
                </a:rPr>
                <a:t>Session Variables:</a:t>
              </a:r>
              <a:r>
                <a:rPr b="0" lang="en" sz="971">
                  <a:solidFill>
                    <a:srgbClr val="4B5563"/>
                  </a:solidFill>
                  <a:latin typeface="Inter"/>
                  <a:ea typeface="Inter"/>
                  <a:cs typeface="Inter"/>
                  <a:sym typeface="Inter"/>
                </a:rPr>
                <a:t> Location, local timezone, and preferred identity settings.</a:t>
              </a:r>
              <a:endParaRPr b="0" sz="971">
                <a:solidFill>
                  <a:srgbClr val="4B5563"/>
                </a:solidFill>
                <a:latin typeface="Inter"/>
                <a:ea typeface="Inter"/>
                <a:cs typeface="Inter"/>
                <a:sym typeface="Inter"/>
              </a:endParaRPr>
            </a:p>
            <a:p>
              <a:pPr indent="-310833" lvl="0" marL="457200" rtl="0" algn="l">
                <a:spcBef>
                  <a:spcPts val="400"/>
                </a:spcBef>
                <a:spcAft>
                  <a:spcPts val="0"/>
                </a:spcAft>
                <a:buSzPts val="1295"/>
                <a:buChar char="●"/>
              </a:pPr>
              <a:r>
                <a:rPr b="1" lang="en" sz="971">
                  <a:solidFill>
                    <a:srgbClr val="4B5563"/>
                  </a:solidFill>
                  <a:latin typeface="Inter"/>
                  <a:ea typeface="Inter"/>
                  <a:cs typeface="Inter"/>
                  <a:sym typeface="Inter"/>
                </a:rPr>
                <a:t>Situational Awareness:</a:t>
              </a:r>
              <a:r>
                <a:rPr b="0" lang="en" sz="971">
                  <a:solidFill>
                    <a:srgbClr val="4B5563"/>
                  </a:solidFill>
                  <a:latin typeface="Inter"/>
                  <a:ea typeface="Inter"/>
                  <a:cs typeface="Inter"/>
                  <a:sym typeface="Inter"/>
                </a:rPr>
                <a:t> Real-time platform states and historical context.</a:t>
              </a:r>
              <a:endParaRPr b="0" sz="971">
                <a:solidFill>
                  <a:srgbClr val="4B5563"/>
                </a:solidFill>
                <a:latin typeface="Inter"/>
                <a:ea typeface="Inter"/>
                <a:cs typeface="Inter"/>
                <a:sym typeface="Inter"/>
              </a:endParaRPr>
            </a:p>
          </p:txBody>
        </p:sp>
      </p:grpSp>
      <p:grpSp>
        <p:nvGrpSpPr>
          <p:cNvPr id="219" name="Google Shape;219;p22"/>
          <p:cNvGrpSpPr/>
          <p:nvPr/>
        </p:nvGrpSpPr>
        <p:grpSpPr>
          <a:xfrm>
            <a:off x="4714875" y="1333500"/>
            <a:ext cx="4048200" cy="3238500"/>
            <a:chOff x="0" y="0"/>
            <a:chExt cx="4048200" cy="3238500"/>
          </a:xfrm>
        </p:grpSpPr>
        <p:sp>
          <p:nvSpPr>
            <p:cNvPr id="220" name="Google Shape;220;p22"/>
            <p:cNvSpPr/>
            <p:nvPr/>
          </p:nvSpPr>
          <p:spPr>
            <a:xfrm>
              <a:off x="0" y="0"/>
              <a:ext cx="4048200" cy="3238500"/>
            </a:xfrm>
            <a:prstGeom prst="roundRect">
              <a:avLst>
                <a:gd fmla="val 2352"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2"/>
            <p:cNvSpPr txBox="1"/>
            <p:nvPr/>
          </p:nvSpPr>
          <p:spPr>
            <a:xfrm>
              <a:off x="228600" y="228600"/>
              <a:ext cx="35910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25">
                  <a:solidFill>
                    <a:srgbClr val="2563EB"/>
                  </a:solidFill>
                  <a:latin typeface="Inter SemiBold"/>
                  <a:ea typeface="Inter SemiBold"/>
                  <a:cs typeface="Inter SemiBold"/>
                  <a:sym typeface="Inter SemiBold"/>
                </a:rPr>
                <a:t>EXECUTION PIPELINE</a:t>
              </a:r>
              <a:endParaRPr b="0" sz="925">
                <a:solidFill>
                  <a:srgbClr val="2563EB"/>
                </a:solidFill>
                <a:latin typeface="Inter SemiBold"/>
                <a:ea typeface="Inter SemiBold"/>
                <a:cs typeface="Inter SemiBold"/>
                <a:sym typeface="Inter SemiBold"/>
              </a:endParaRPr>
            </a:p>
            <a:p>
              <a:pPr indent="0" lvl="0" marL="0" rtl="0" algn="l">
                <a:spcBef>
                  <a:spcPts val="800"/>
                </a:spcBef>
                <a:spcAft>
                  <a:spcPts val="0"/>
                </a:spcAft>
                <a:buNone/>
              </a:pPr>
              <a:r>
                <a:rPr b="1" lang="en" sz="1295">
                  <a:solidFill>
                    <a:srgbClr val="111827"/>
                  </a:solidFill>
                  <a:latin typeface="Inter"/>
                  <a:ea typeface="Inter"/>
                  <a:cs typeface="Inter"/>
                  <a:sym typeface="Inter"/>
                </a:rPr>
                <a:t>Memory Injection Logic</a:t>
              </a:r>
              <a:endParaRPr b="1" sz="1295">
                <a:solidFill>
                  <a:srgbClr val="111827"/>
                </a:solidFill>
                <a:latin typeface="Inter"/>
                <a:ea typeface="Inter"/>
                <a:cs typeface="Inter"/>
                <a:sym typeface="Inter"/>
              </a:endParaRPr>
            </a:p>
            <a:p>
              <a:pPr indent="0" lvl="0" marL="0" rtl="0" algn="l">
                <a:spcBef>
                  <a:spcPts val="1000"/>
                </a:spcBef>
                <a:spcAft>
                  <a:spcPts val="0"/>
                </a:spcAft>
                <a:buNone/>
              </a:pPr>
              <a:r>
                <a:rPr b="0" lang="en" sz="971">
                  <a:solidFill>
                    <a:srgbClr val="4B5563"/>
                  </a:solidFill>
                  <a:latin typeface="Inter"/>
                  <a:ea typeface="Inter"/>
                  <a:cs typeface="Inter"/>
                  <a:sym typeface="Inter"/>
                </a:rPr>
                <a:t>The orchestration layer dynamically targets variables and evaluates the payload length to inject contextual data without overloading the model's window:</a:t>
              </a:r>
              <a:endParaRPr b="0" sz="971">
                <a:solidFill>
                  <a:srgbClr val="4B5563"/>
                </a:solidFill>
                <a:latin typeface="Inter"/>
                <a:ea typeface="Inter"/>
                <a:cs typeface="Inter"/>
                <a:sym typeface="Inter"/>
              </a:endParaRPr>
            </a:p>
            <a:p>
              <a:pPr indent="0" lvl="0" marL="0" rtl="0" algn="l">
                <a:spcBef>
                  <a:spcPts val="1400"/>
                </a:spcBef>
                <a:spcAft>
                  <a:spcPts val="0"/>
                </a:spcAft>
                <a:buNone/>
              </a:pPr>
              <a:r>
                <a:rPr b="1" i="1" lang="en" sz="950">
                  <a:solidFill>
                    <a:srgbClr val="9333EA"/>
                  </a:solidFill>
                  <a:highlight>
                    <a:srgbClr val="FFFFFF"/>
                  </a:highlight>
                  <a:latin typeface="Courier New"/>
                  <a:ea typeface="Courier New"/>
                  <a:cs typeface="Courier New"/>
                  <a:sym typeface="Courier New"/>
                </a:rPr>
                <a:t>// Inject dynamic state</a:t>
              </a:r>
              <a:endParaRPr b="1" i="1" sz="950">
                <a:solidFill>
                  <a:srgbClr val="9333EA"/>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payload.history = fetch_context(user.id);</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payload.session = {</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  time: "22:51:24",</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  zone: "Europe/Lisbon"</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payload.inject_active_inputs();</a:t>
              </a:r>
              <a:endParaRPr b="1" sz="950">
                <a:solidFill>
                  <a:srgbClr val="1E40AF"/>
                </a:solidFill>
                <a:highlight>
                  <a:srgbClr val="FFFFFF"/>
                </a:highlight>
                <a:latin typeface="Courier New"/>
                <a:ea typeface="Courier New"/>
                <a:cs typeface="Courier New"/>
                <a:sym typeface="Courier New"/>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7" name="Google Shape;227;p23"/>
          <p:cNvGrpSpPr/>
          <p:nvPr/>
        </p:nvGrpSpPr>
        <p:grpSpPr>
          <a:xfrm>
            <a:off x="8458200" y="381000"/>
            <a:ext cx="304800" cy="304800"/>
            <a:chOff x="0" y="0"/>
            <a:chExt cx="304800" cy="304800"/>
          </a:xfrm>
        </p:grpSpPr>
        <p:sp>
          <p:nvSpPr>
            <p:cNvPr id="228" name="Google Shape;228;p23"/>
            <p:cNvSpPr/>
            <p:nvPr/>
          </p:nvSpPr>
          <p:spPr>
            <a:xfrm>
              <a:off x="0" y="0"/>
              <a:ext cx="304800" cy="304800"/>
            </a:xfrm>
            <a:prstGeom prst="roundRect">
              <a:avLst>
                <a:gd fmla="val 1875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3"/>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30" name="Google Shape;230;p23"/>
          <p:cNvGrpSpPr/>
          <p:nvPr/>
        </p:nvGrpSpPr>
        <p:grpSpPr>
          <a:xfrm>
            <a:off x="381000" y="238125"/>
            <a:ext cx="7620000" cy="809700"/>
            <a:chOff x="0" y="0"/>
            <a:chExt cx="7620000" cy="809700"/>
          </a:xfrm>
        </p:grpSpPr>
        <p:sp>
          <p:nvSpPr>
            <p:cNvPr id="231" name="Google Shape;231;p23"/>
            <p:cNvSpPr/>
            <p:nvPr/>
          </p:nvSpPr>
          <p:spPr>
            <a:xfrm>
              <a:off x="0" y="0"/>
              <a:ext cx="7620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3"/>
            <p:cNvSpPr txBox="1"/>
            <p:nvPr/>
          </p:nvSpPr>
          <p:spPr>
            <a:xfrm>
              <a:off x="0" y="0"/>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11827"/>
                  </a:solidFill>
                  <a:latin typeface="Inter"/>
                  <a:ea typeface="Inter"/>
                  <a:cs typeface="Inter"/>
                  <a:sym typeface="Inter"/>
                </a:rPr>
                <a:t>04 - Guardrails (In)</a:t>
              </a:r>
              <a:endParaRPr b="1" sz="2600">
                <a:solidFill>
                  <a:srgbClr val="111827"/>
                </a:solidFill>
                <a:latin typeface="Inter"/>
                <a:ea typeface="Inter"/>
                <a:cs typeface="Inter"/>
                <a:sym typeface="Inter"/>
              </a:endParaRPr>
            </a:p>
            <a:p>
              <a:pPr indent="0" lvl="0" marL="0" rtl="0" algn="l">
                <a:spcBef>
                  <a:spcPts val="300"/>
                </a:spcBef>
                <a:spcAft>
                  <a:spcPts val="0"/>
                </a:spcAft>
                <a:buNone/>
              </a:pPr>
              <a:r>
                <a:rPr b="0" lang="en" sz="1500">
                  <a:solidFill>
                    <a:srgbClr val="EF4444"/>
                  </a:solidFill>
                  <a:latin typeface="Inter Medium"/>
                  <a:ea typeface="Inter Medium"/>
                  <a:cs typeface="Inter Medium"/>
                  <a:sym typeface="Inter Medium"/>
                </a:rPr>
                <a:t>Securing the Gateway Before Execution</a:t>
              </a:r>
              <a:endParaRPr b="0" sz="1500">
                <a:solidFill>
                  <a:srgbClr val="EF4444"/>
                </a:solidFill>
                <a:latin typeface="Inter Medium"/>
                <a:ea typeface="Inter Medium"/>
                <a:cs typeface="Inter Medium"/>
                <a:sym typeface="Inter Medium"/>
              </a:endParaRPr>
            </a:p>
          </p:txBody>
        </p:sp>
      </p:grpSp>
      <p:sp>
        <p:nvSpPr>
          <p:cNvPr id="233" name="Google Shape;233;p23"/>
          <p:cNvSpPr/>
          <p:nvPr/>
        </p:nvSpPr>
        <p:spPr>
          <a:xfrm>
            <a:off x="381000" y="1143000"/>
            <a:ext cx="8382000" cy="0"/>
          </a:xfrm>
          <a:custGeom>
            <a:rect b="b" l="l" r="r" t="t"/>
            <a:pathLst>
              <a:path extrusionOk="0" fill="none" h="120000" w="120000">
                <a:moveTo>
                  <a:pt x="0" y="0"/>
                </a:moveTo>
                <a:lnTo>
                  <a:pt x="120000" y="0"/>
                </a:lnTo>
              </a:path>
            </a:pathLst>
          </a:cu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4" name="Google Shape;234;p23"/>
          <p:cNvGrpSpPr/>
          <p:nvPr/>
        </p:nvGrpSpPr>
        <p:grpSpPr>
          <a:xfrm>
            <a:off x="381000" y="1333500"/>
            <a:ext cx="2476500" cy="3333900"/>
            <a:chOff x="0" y="0"/>
            <a:chExt cx="2476500" cy="3333900"/>
          </a:xfrm>
        </p:grpSpPr>
        <p:sp>
          <p:nvSpPr>
            <p:cNvPr id="235" name="Google Shape;235;p23"/>
            <p:cNvSpPr/>
            <p:nvPr/>
          </p:nvSpPr>
          <p:spPr>
            <a:xfrm>
              <a:off x="0" y="0"/>
              <a:ext cx="2476500" cy="3333900"/>
            </a:xfrm>
            <a:prstGeom prst="roundRect">
              <a:avLst>
                <a:gd fmla="val 3076"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3"/>
            <p:cNvSpPr txBox="1"/>
            <p:nvPr/>
          </p:nvSpPr>
          <p:spPr>
            <a:xfrm>
              <a:off x="190500" y="190500"/>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EF4444"/>
                  </a:solidFill>
                  <a:latin typeface="Inter"/>
                  <a:ea typeface="Inter"/>
                  <a:cs typeface="Inter"/>
                  <a:sym typeface="Inter"/>
                </a:rPr>
                <a:t>01 / INPUT SHIELD</a:t>
              </a:r>
              <a:endParaRPr b="1" sz="800">
                <a:solidFill>
                  <a:srgbClr val="EF4444"/>
                </a:solidFill>
                <a:latin typeface="Inter"/>
                <a:ea typeface="Inter"/>
                <a:cs typeface="Inter"/>
                <a:sym typeface="Inter"/>
              </a:endParaRPr>
            </a:p>
            <a:p>
              <a:pPr indent="0" lvl="0" marL="0" rtl="0" algn="l">
                <a:spcBef>
                  <a:spcPts val="600"/>
                </a:spcBef>
                <a:spcAft>
                  <a:spcPts val="0"/>
                </a:spcAft>
                <a:buNone/>
              </a:pPr>
              <a:r>
                <a:rPr b="1" lang="en" sz="1300">
                  <a:solidFill>
                    <a:srgbClr val="111827"/>
                  </a:solidFill>
                  <a:latin typeface="Inter"/>
                  <a:ea typeface="Inter"/>
                  <a:cs typeface="Inter"/>
                  <a:sym typeface="Inter"/>
                </a:rPr>
                <a:t>Proactive Safety Checks</a:t>
              </a:r>
              <a:endParaRPr b="1" sz="1300">
                <a:solidFill>
                  <a:srgbClr val="111827"/>
                </a:solidFill>
                <a:latin typeface="Inter"/>
                <a:ea typeface="Inter"/>
                <a:cs typeface="Inter"/>
                <a:sym typeface="Inter"/>
              </a:endParaRPr>
            </a:p>
            <a:p>
              <a:pPr indent="0" lvl="0" marL="0" rtl="0" algn="l">
                <a:spcBef>
                  <a:spcPts val="750"/>
                </a:spcBef>
                <a:spcAft>
                  <a:spcPts val="0"/>
                </a:spcAft>
                <a:buNone/>
              </a:pPr>
              <a:r>
                <a:rPr b="0" lang="en" sz="1000">
                  <a:solidFill>
                    <a:srgbClr val="4B5563"/>
                  </a:solidFill>
                  <a:latin typeface="Inter"/>
                  <a:ea typeface="Inter"/>
                  <a:cs typeface="Inter"/>
                  <a:sym typeface="Inter"/>
                </a:rPr>
                <a:t>Every incoming user prompt must pass strict alignment guidelines to ensure system stability and compliance.</a:t>
              </a:r>
              <a:endParaRPr b="0" sz="1000">
                <a:solidFill>
                  <a:srgbClr val="4B5563"/>
                </a:solidFill>
                <a:latin typeface="Inter"/>
                <a:ea typeface="Inter"/>
                <a:cs typeface="Inter"/>
                <a:sym typeface="Inter"/>
              </a:endParaRPr>
            </a:p>
            <a:p>
              <a:pPr indent="0" lvl="0" marL="0" rtl="0" algn="l">
                <a:spcBef>
                  <a:spcPts val="900"/>
                </a:spcBef>
                <a:spcAft>
                  <a:spcPts val="0"/>
                </a:spcAft>
                <a:buNone/>
              </a:pPr>
              <a:r>
                <a:rPr b="0" lang="en" sz="1000">
                  <a:solidFill>
                    <a:srgbClr val="EF4444"/>
                  </a:solidFill>
                  <a:latin typeface="Inter SemiBold"/>
                  <a:ea typeface="Inter SemiBold"/>
                  <a:cs typeface="Inter SemiBold"/>
                  <a:sym typeface="Inter SemiBold"/>
                </a:rPr>
                <a:t>Core Defenses Activated:</a:t>
              </a:r>
              <a:endParaRPr b="0" sz="1000">
                <a:solidFill>
                  <a:srgbClr val="EF4444"/>
                </a:solidFill>
                <a:latin typeface="Inter SemiBold"/>
                <a:ea typeface="Inter SemiBold"/>
                <a:cs typeface="Inter SemiBold"/>
                <a:sym typeface="Inter SemiBold"/>
              </a:endParaRPr>
            </a:p>
            <a:p>
              <a:pPr indent="-292100" lvl="0" marL="457200" rtl="0" algn="l">
                <a:spcBef>
                  <a:spcPts val="30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Prompt Injection:</a:t>
              </a:r>
              <a:r>
                <a:rPr b="0" lang="en" sz="1000">
                  <a:solidFill>
                    <a:srgbClr val="4B5563"/>
                  </a:solidFill>
                  <a:latin typeface="Inter"/>
                  <a:ea typeface="Inter"/>
                  <a:cs typeface="Inter"/>
                  <a:sym typeface="Inter"/>
                </a:rPr>
                <a:t> Blocking malicious overrides and jailbreak attempts.</a:t>
              </a:r>
              <a:endParaRPr b="0" sz="1000">
                <a:solidFill>
                  <a:srgbClr val="4B5563"/>
                </a:solidFill>
                <a:latin typeface="Inter"/>
                <a:ea typeface="Inter"/>
                <a:cs typeface="Inter"/>
                <a:sym typeface="Inter"/>
              </a:endParaRPr>
            </a:p>
            <a:p>
              <a:pPr indent="-292100" lvl="0" marL="457200" rtl="0" algn="l">
                <a:spcBef>
                  <a:spcPts val="30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Safety Filters:</a:t>
              </a:r>
              <a:r>
                <a:rPr b="0" lang="en" sz="1000">
                  <a:solidFill>
                    <a:srgbClr val="4B5563"/>
                  </a:solidFill>
                  <a:latin typeface="Inter"/>
                  <a:ea typeface="Inter"/>
                  <a:cs typeface="Inter"/>
                  <a:sym typeface="Inter"/>
                </a:rPr>
                <a:t> Preventing toxic, harmful, or illegal request propagation.</a:t>
              </a:r>
              <a:endParaRPr b="0" sz="1000">
                <a:solidFill>
                  <a:srgbClr val="4B5563"/>
                </a:solidFill>
                <a:latin typeface="Inter"/>
                <a:ea typeface="Inter"/>
                <a:cs typeface="Inter"/>
                <a:sym typeface="Inter"/>
              </a:endParaRPr>
            </a:p>
          </p:txBody>
        </p:sp>
      </p:grpSp>
      <p:grpSp>
        <p:nvGrpSpPr>
          <p:cNvPr id="237" name="Google Shape;237;p23"/>
          <p:cNvGrpSpPr/>
          <p:nvPr/>
        </p:nvGrpSpPr>
        <p:grpSpPr>
          <a:xfrm>
            <a:off x="3048000" y="2724150"/>
            <a:ext cx="238200" cy="76200"/>
            <a:chOff x="0" y="-38100"/>
            <a:chExt cx="238200" cy="76200"/>
          </a:xfrm>
        </p:grpSpPr>
        <p:sp>
          <p:nvSpPr>
            <p:cNvPr id="238" name="Google Shape;238;p23"/>
            <p:cNvSpPr/>
            <p:nvPr/>
          </p:nvSpPr>
          <p:spPr>
            <a:xfrm>
              <a:off x="0" y="0"/>
              <a:ext cx="190500" cy="0"/>
            </a:xfrm>
            <a:custGeom>
              <a:rect b="b" l="l" r="r" t="t"/>
              <a:pathLst>
                <a:path extrusionOk="0" fill="none" h="120000" w="120000">
                  <a:moveTo>
                    <a:pt x="0" y="0"/>
                  </a:moveTo>
                  <a:lnTo>
                    <a:pt x="120000" y="0"/>
                  </a:lnTo>
                </a:path>
              </a:pathLst>
            </a:custGeom>
            <a:solidFill>
              <a:srgbClr val="FFFFFF"/>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3"/>
            <p:cNvSpPr/>
            <p:nvPr/>
          </p:nvSpPr>
          <p:spPr>
            <a:xfrm>
              <a:off x="190500" y="-38100"/>
              <a:ext cx="47700" cy="76200"/>
            </a:xfrm>
            <a:custGeom>
              <a:rect b="b" l="l" r="r" t="t"/>
              <a:pathLst>
                <a:path extrusionOk="0" h="120000" w="120000">
                  <a:moveTo>
                    <a:pt x="0" y="0"/>
                  </a:moveTo>
                  <a:lnTo>
                    <a:pt x="120000" y="60000"/>
                  </a:lnTo>
                  <a:lnTo>
                    <a:pt x="0" y="120000"/>
                  </a:ln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40" name="Google Shape;240;p23"/>
          <p:cNvGrpSpPr/>
          <p:nvPr/>
        </p:nvGrpSpPr>
        <p:grpSpPr>
          <a:xfrm>
            <a:off x="3476625" y="1333500"/>
            <a:ext cx="2476500" cy="3333900"/>
            <a:chOff x="0" y="0"/>
            <a:chExt cx="2476500" cy="3333900"/>
          </a:xfrm>
        </p:grpSpPr>
        <p:sp>
          <p:nvSpPr>
            <p:cNvPr id="241" name="Google Shape;241;p23"/>
            <p:cNvSpPr/>
            <p:nvPr/>
          </p:nvSpPr>
          <p:spPr>
            <a:xfrm>
              <a:off x="0" y="0"/>
              <a:ext cx="2476500" cy="3333900"/>
            </a:xfrm>
            <a:prstGeom prst="roundRect">
              <a:avLst>
                <a:gd fmla="val 3076"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3"/>
            <p:cNvSpPr txBox="1"/>
            <p:nvPr/>
          </p:nvSpPr>
          <p:spPr>
            <a:xfrm>
              <a:off x="190500" y="190500"/>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0B981"/>
                  </a:solidFill>
                  <a:latin typeface="Inter"/>
                  <a:ea typeface="Inter"/>
                  <a:cs typeface="Inter"/>
                  <a:sym typeface="Inter"/>
                </a:rPr>
                <a:t>02 / STRUCTURE VALIDATION</a:t>
              </a:r>
              <a:endParaRPr b="1" sz="800">
                <a:solidFill>
                  <a:srgbClr val="10B981"/>
                </a:solidFill>
                <a:latin typeface="Inter"/>
                <a:ea typeface="Inter"/>
                <a:cs typeface="Inter"/>
                <a:sym typeface="Inter"/>
              </a:endParaRPr>
            </a:p>
            <a:p>
              <a:pPr indent="0" lvl="0" marL="0" rtl="0" algn="l">
                <a:spcBef>
                  <a:spcPts val="600"/>
                </a:spcBef>
                <a:spcAft>
                  <a:spcPts val="0"/>
                </a:spcAft>
                <a:buNone/>
              </a:pPr>
              <a:r>
                <a:rPr b="1" lang="en" sz="1300">
                  <a:solidFill>
                    <a:srgbClr val="111827"/>
                  </a:solidFill>
                  <a:latin typeface="Inter"/>
                  <a:ea typeface="Inter"/>
                  <a:cs typeface="Inter"/>
                  <a:sym typeface="Inter"/>
                </a:rPr>
                <a:t>Format Verification</a:t>
              </a:r>
              <a:endParaRPr b="1" sz="1300">
                <a:solidFill>
                  <a:srgbClr val="111827"/>
                </a:solidFill>
                <a:latin typeface="Inter"/>
                <a:ea typeface="Inter"/>
                <a:cs typeface="Inter"/>
                <a:sym typeface="Inter"/>
              </a:endParaRPr>
            </a:p>
            <a:p>
              <a:pPr indent="0" lvl="0" marL="0" rtl="0" algn="l">
                <a:spcBef>
                  <a:spcPts val="750"/>
                </a:spcBef>
                <a:spcAft>
                  <a:spcPts val="0"/>
                </a:spcAft>
                <a:buNone/>
              </a:pPr>
              <a:r>
                <a:rPr b="0" lang="en" sz="1000">
                  <a:solidFill>
                    <a:srgbClr val="4B5563"/>
                  </a:solidFill>
                  <a:latin typeface="Inter"/>
                  <a:ea typeface="Inter"/>
                  <a:cs typeface="Inter"/>
                  <a:sym typeface="Inter"/>
                </a:rPr>
                <a:t>Ensuring incoming metadata, variables, and structure conform precisely to standard expectations.</a:t>
              </a:r>
              <a:endParaRPr b="0" sz="1000">
                <a:solidFill>
                  <a:srgbClr val="4B5563"/>
                </a:solidFill>
                <a:latin typeface="Inter"/>
                <a:ea typeface="Inter"/>
                <a:cs typeface="Inter"/>
                <a:sym typeface="Inter"/>
              </a:endParaRPr>
            </a:p>
            <a:p>
              <a:pPr indent="0" lvl="0" marL="0" rtl="0" algn="l">
                <a:spcBef>
                  <a:spcPts val="900"/>
                </a:spcBef>
                <a:spcAft>
                  <a:spcPts val="0"/>
                </a:spcAft>
                <a:buNone/>
              </a:pPr>
              <a:r>
                <a:rPr b="0" lang="en" sz="1000">
                  <a:solidFill>
                    <a:srgbClr val="10B981"/>
                  </a:solidFill>
                  <a:latin typeface="Inter SemiBold"/>
                  <a:ea typeface="Inter SemiBold"/>
                  <a:cs typeface="Inter SemiBold"/>
                  <a:sym typeface="Inter SemiBold"/>
                </a:rPr>
                <a:t>Validation Rules:</a:t>
              </a:r>
              <a:endParaRPr b="0" sz="1000">
                <a:solidFill>
                  <a:srgbClr val="10B981"/>
                </a:solidFill>
                <a:latin typeface="Inter SemiBold"/>
                <a:ea typeface="Inter SemiBold"/>
                <a:cs typeface="Inter SemiBold"/>
                <a:sym typeface="Inter SemiBold"/>
              </a:endParaRPr>
            </a:p>
            <a:p>
              <a:pPr indent="-292100" lvl="0" marL="457200" rtl="0" algn="l">
                <a:spcBef>
                  <a:spcPts val="30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Type Checking:</a:t>
              </a:r>
              <a:r>
                <a:rPr b="0" lang="en" sz="1000">
                  <a:solidFill>
                    <a:srgbClr val="4B5563"/>
                  </a:solidFill>
                  <a:latin typeface="Inter"/>
                  <a:ea typeface="Inter"/>
                  <a:cs typeface="Inter"/>
                  <a:sym typeface="Inter"/>
                </a:rPr>
                <a:t> Validating language references.</a:t>
              </a:r>
              <a:endParaRPr b="0" sz="1000">
                <a:solidFill>
                  <a:srgbClr val="4B5563"/>
                </a:solidFill>
                <a:latin typeface="Inter"/>
                <a:ea typeface="Inter"/>
                <a:cs typeface="Inter"/>
                <a:sym typeface="Inter"/>
              </a:endParaRPr>
            </a:p>
            <a:p>
              <a:pPr indent="-292100" lvl="0" marL="457200" rtl="0" algn="l">
                <a:spcBef>
                  <a:spcPts val="300"/>
                </a:spcBef>
                <a:spcAft>
                  <a:spcPts val="0"/>
                </a:spcAft>
                <a:buClr>
                  <a:srgbClr val="4B5563"/>
                </a:buClr>
                <a:buSzPts val="1000"/>
                <a:buFont typeface="Inter"/>
                <a:buChar char="●"/>
              </a:pPr>
              <a:r>
                <a:rPr b="0" lang="en" sz="1000">
                  <a:solidFill>
                    <a:srgbClr val="4B5563"/>
                  </a:solidFill>
                  <a:latin typeface="Inter SemiBold"/>
                  <a:ea typeface="Inter SemiBold"/>
                  <a:cs typeface="Inter SemiBold"/>
                  <a:sym typeface="Inter SemiBold"/>
                </a:rPr>
                <a:t>Size Restrictions:</a:t>
              </a:r>
              <a:r>
                <a:rPr b="0" lang="en" sz="1000">
                  <a:solidFill>
                    <a:srgbClr val="4B5563"/>
                  </a:solidFill>
                  <a:latin typeface="Inter"/>
                  <a:ea typeface="Inter"/>
                  <a:cs typeface="Inter"/>
                  <a:sym typeface="Inter"/>
                </a:rPr>
                <a:t> Blocking oversized payloads early.</a:t>
              </a:r>
              <a:endParaRPr b="0" sz="1000">
                <a:solidFill>
                  <a:srgbClr val="4B5563"/>
                </a:solidFill>
                <a:latin typeface="Inter"/>
                <a:ea typeface="Inter"/>
                <a:cs typeface="Inter"/>
                <a:sym typeface="Inter"/>
              </a:endParaRPr>
            </a:p>
          </p:txBody>
        </p:sp>
      </p:grpSp>
      <p:grpSp>
        <p:nvGrpSpPr>
          <p:cNvPr id="243" name="Google Shape;243;p23"/>
          <p:cNvGrpSpPr/>
          <p:nvPr/>
        </p:nvGrpSpPr>
        <p:grpSpPr>
          <a:xfrm>
            <a:off x="6143625" y="2724150"/>
            <a:ext cx="238200" cy="76200"/>
            <a:chOff x="0" y="-38100"/>
            <a:chExt cx="238200" cy="76200"/>
          </a:xfrm>
        </p:grpSpPr>
        <p:sp>
          <p:nvSpPr>
            <p:cNvPr id="244" name="Google Shape;244;p23"/>
            <p:cNvSpPr/>
            <p:nvPr/>
          </p:nvSpPr>
          <p:spPr>
            <a:xfrm>
              <a:off x="0" y="0"/>
              <a:ext cx="190500" cy="0"/>
            </a:xfrm>
            <a:custGeom>
              <a:rect b="b" l="l" r="r" t="t"/>
              <a:pathLst>
                <a:path extrusionOk="0" fill="none" h="120000" w="120000">
                  <a:moveTo>
                    <a:pt x="0" y="0"/>
                  </a:moveTo>
                  <a:lnTo>
                    <a:pt x="120000" y="0"/>
                  </a:lnTo>
                </a:path>
              </a:pathLst>
            </a:custGeom>
            <a:solidFill>
              <a:srgbClr val="FFFFFF"/>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3"/>
            <p:cNvSpPr/>
            <p:nvPr/>
          </p:nvSpPr>
          <p:spPr>
            <a:xfrm>
              <a:off x="190500" y="-38100"/>
              <a:ext cx="47700" cy="76200"/>
            </a:xfrm>
            <a:custGeom>
              <a:rect b="b" l="l" r="r" t="t"/>
              <a:pathLst>
                <a:path extrusionOk="0" h="120000" w="120000">
                  <a:moveTo>
                    <a:pt x="0" y="0"/>
                  </a:moveTo>
                  <a:lnTo>
                    <a:pt x="120000" y="60000"/>
                  </a:lnTo>
                  <a:lnTo>
                    <a:pt x="0" y="120000"/>
                  </a:ln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46" name="Google Shape;246;p23"/>
          <p:cNvGrpSpPr/>
          <p:nvPr/>
        </p:nvGrpSpPr>
        <p:grpSpPr>
          <a:xfrm>
            <a:off x="6572250" y="1333500"/>
            <a:ext cx="2190900" cy="3333900"/>
            <a:chOff x="0" y="0"/>
            <a:chExt cx="2190900" cy="3333900"/>
          </a:xfrm>
        </p:grpSpPr>
        <p:sp>
          <p:nvSpPr>
            <p:cNvPr id="247" name="Google Shape;247;p23"/>
            <p:cNvSpPr/>
            <p:nvPr/>
          </p:nvSpPr>
          <p:spPr>
            <a:xfrm>
              <a:off x="0" y="0"/>
              <a:ext cx="2190900" cy="3333900"/>
            </a:xfrm>
            <a:prstGeom prst="roundRect">
              <a:avLst>
                <a:gd fmla="val 3478" name="adj"/>
              </a:avLst>
            </a:prstGeom>
            <a:solidFill>
              <a:srgbClr val="FEF2F2"/>
            </a:solidFill>
            <a:ln cap="flat" cmpd="sng" w="1905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3"/>
            <p:cNvSpPr txBox="1"/>
            <p:nvPr/>
          </p:nvSpPr>
          <p:spPr>
            <a:xfrm>
              <a:off x="190500" y="190500"/>
              <a:ext cx="18096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EF4444"/>
                  </a:solidFill>
                  <a:latin typeface="Inter"/>
                  <a:ea typeface="Inter"/>
                  <a:cs typeface="Inter"/>
                  <a:sym typeface="Inter"/>
                </a:rPr>
                <a:t>03 / GATEKEEPER DECISION</a:t>
              </a:r>
              <a:endParaRPr b="1" sz="800">
                <a:solidFill>
                  <a:srgbClr val="EF4444"/>
                </a:solidFill>
                <a:latin typeface="Inter"/>
                <a:ea typeface="Inter"/>
                <a:cs typeface="Inter"/>
                <a:sym typeface="Inter"/>
              </a:endParaRPr>
            </a:p>
            <a:p>
              <a:pPr indent="0" lvl="0" marL="0" rtl="0" algn="l">
                <a:spcBef>
                  <a:spcPts val="600"/>
                </a:spcBef>
                <a:spcAft>
                  <a:spcPts val="0"/>
                </a:spcAft>
                <a:buNone/>
              </a:pPr>
              <a:r>
                <a:rPr b="1" lang="en" sz="1300">
                  <a:solidFill>
                    <a:srgbClr val="111827"/>
                  </a:solidFill>
                  <a:latin typeface="Inter"/>
                  <a:ea typeface="Inter"/>
                  <a:cs typeface="Inter"/>
                  <a:sym typeface="Inter"/>
                </a:rPr>
                <a:t>Evaluating Request</a:t>
              </a:r>
              <a:endParaRPr b="1" sz="1300">
                <a:solidFill>
                  <a:srgbClr val="111827"/>
                </a:solidFill>
                <a:latin typeface="Inter"/>
                <a:ea typeface="Inter"/>
                <a:cs typeface="Inter"/>
                <a:sym typeface="Inter"/>
              </a:endParaRPr>
            </a:p>
            <a:p>
              <a:pPr indent="0" lvl="0" marL="0" rtl="0" algn="l">
                <a:spcBef>
                  <a:spcPts val="750"/>
                </a:spcBef>
                <a:spcAft>
                  <a:spcPts val="0"/>
                </a:spcAft>
                <a:buNone/>
              </a:pPr>
              <a:r>
                <a:rPr b="0" lang="en" sz="1000">
                  <a:solidFill>
                    <a:srgbClr val="4B5563"/>
                  </a:solidFill>
                  <a:latin typeface="Inter"/>
                  <a:ea typeface="Inter"/>
                  <a:cs typeface="Inter"/>
                  <a:sym typeface="Inter"/>
                </a:rPr>
                <a:t>The evaluation runs dynamically at the edge to instantly drop bad requests.</a:t>
              </a:r>
              <a:endParaRPr b="0" sz="1000">
                <a:solidFill>
                  <a:srgbClr val="4B5563"/>
                </a:solidFill>
                <a:latin typeface="Inter"/>
                <a:ea typeface="Inter"/>
                <a:cs typeface="Inter"/>
                <a:sym typeface="Inter"/>
              </a:endParaRPr>
            </a:p>
            <a:p>
              <a:pPr indent="0" lvl="0" marL="0" rtl="0" algn="l">
                <a:spcBef>
                  <a:spcPts val="900"/>
                </a:spcBef>
                <a:spcAft>
                  <a:spcPts val="0"/>
                </a:spcAft>
                <a:buNone/>
              </a:pPr>
              <a:r>
                <a:rPr b="1" i="1" lang="en" sz="900">
                  <a:solidFill>
                    <a:srgbClr val="9333EA"/>
                  </a:solidFill>
                  <a:highlight>
                    <a:srgbClr val="FFFFFF"/>
                  </a:highlight>
                  <a:latin typeface="Courier New"/>
                  <a:ea typeface="Courier New"/>
                  <a:cs typeface="Courier New"/>
                  <a:sym typeface="Courier New"/>
                </a:rPr>
                <a:t>// Guardrails Evaluation</a:t>
              </a:r>
              <a:br>
                <a:rPr b="1" lang="en" sz="900">
                  <a:solidFill>
                    <a:srgbClr val="1E40AF"/>
                  </a:solidFill>
                  <a:highlight>
                    <a:srgbClr val="FFFFFF"/>
                  </a:highlight>
                  <a:latin typeface="Courier New"/>
                  <a:ea typeface="Courier New"/>
                  <a:cs typeface="Courier New"/>
                  <a:sym typeface="Courier New"/>
                </a:rPr>
              </a:br>
              <a:r>
                <a:rPr b="1" lang="en" sz="900">
                  <a:solidFill>
                    <a:srgbClr val="1E40AF"/>
                  </a:solidFill>
                  <a:highlight>
                    <a:srgbClr val="FFFFFF"/>
                  </a:highlight>
                  <a:latin typeface="Courier New"/>
                  <a:ea typeface="Courier New"/>
                  <a:cs typeface="Courier New"/>
                  <a:sym typeface="Courier New"/>
                </a:rPr>
                <a:t>eval = shield(query);</a:t>
              </a:r>
              <a:br>
                <a:rPr b="1" lang="en" sz="900">
                  <a:solidFill>
                    <a:srgbClr val="1E40AF"/>
                  </a:solidFill>
                  <a:highlight>
                    <a:srgbClr val="FFFFFF"/>
                  </a:highlight>
                  <a:latin typeface="Courier New"/>
                  <a:ea typeface="Courier New"/>
                  <a:cs typeface="Courier New"/>
                  <a:sym typeface="Courier New"/>
                </a:rPr>
              </a:br>
              <a:r>
                <a:rPr b="1" lang="en" sz="900">
                  <a:solidFill>
                    <a:srgbClr val="1E40AF"/>
                  </a:solidFill>
                  <a:highlight>
                    <a:srgbClr val="FFFFFF"/>
                  </a:highlight>
                  <a:latin typeface="Courier New"/>
                  <a:ea typeface="Courier New"/>
                  <a:cs typeface="Courier New"/>
                  <a:sym typeface="Courier New"/>
                </a:rPr>
                <a:t>if (eval.flagged) {</a:t>
              </a:r>
              <a:br>
                <a:rPr b="1" lang="en" sz="900">
                  <a:solidFill>
                    <a:srgbClr val="1E40AF"/>
                  </a:solidFill>
                  <a:highlight>
                    <a:srgbClr val="FFFFFF"/>
                  </a:highlight>
                  <a:latin typeface="Courier New"/>
                  <a:ea typeface="Courier New"/>
                  <a:cs typeface="Courier New"/>
                  <a:sym typeface="Courier New"/>
                </a:rPr>
              </a:br>
              <a:r>
                <a:rPr b="1" lang="en" sz="900">
                  <a:solidFill>
                    <a:srgbClr val="1E40AF"/>
                  </a:solidFill>
                  <a:highlight>
                    <a:srgbClr val="FFFFFF"/>
                  </a:highlight>
                  <a:latin typeface="Courier New"/>
                  <a:ea typeface="Courier New"/>
                  <a:cs typeface="Courier New"/>
                  <a:sym typeface="Courier New"/>
                </a:rPr>
                <a:t>throw BlockedRequest();</a:t>
              </a:r>
              <a:br>
                <a:rPr b="1" lang="en" sz="900">
                  <a:solidFill>
                    <a:srgbClr val="1E40AF"/>
                  </a:solidFill>
                  <a:highlight>
                    <a:srgbClr val="FFFFFF"/>
                  </a:highlight>
                  <a:latin typeface="Courier New"/>
                  <a:ea typeface="Courier New"/>
                  <a:cs typeface="Courier New"/>
                  <a:sym typeface="Courier New"/>
                </a:rPr>
              </a:br>
              <a:r>
                <a:rPr b="1" lang="en" sz="900">
                  <a:solidFill>
                    <a:srgbClr val="1E40AF"/>
                  </a:solidFill>
                  <a:highlight>
                    <a:srgbClr val="FFFFFF"/>
                  </a:highlight>
                  <a:latin typeface="Courier New"/>
                  <a:ea typeface="Courier New"/>
                  <a:cs typeface="Courier New"/>
                  <a:sym typeface="Courier New"/>
                </a:rPr>
                <a:t>}</a:t>
              </a:r>
              <a:endParaRPr b="1" sz="900">
                <a:solidFill>
                  <a:srgbClr val="1E40AF"/>
                </a:solidFill>
                <a:highlight>
                  <a:srgbClr val="FFFFFF"/>
                </a:highlight>
                <a:latin typeface="Courier New"/>
                <a:ea typeface="Courier New"/>
                <a:cs typeface="Courier New"/>
                <a:sym typeface="Courier New"/>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52" name="Shape 252"/>
        <p:cNvGrpSpPr/>
        <p:nvPr/>
      </p:nvGrpSpPr>
      <p:grpSpPr>
        <a:xfrm>
          <a:off x="0" y="0"/>
          <a:ext cx="0" cy="0"/>
          <a:chOff x="0" y="0"/>
          <a:chExt cx="0" cy="0"/>
        </a:xfrm>
      </p:grpSpPr>
      <p:sp>
        <p:nvSpPr>
          <p:cNvPr id="253" name="Google Shape;253;p24"/>
          <p:cNvSpPr/>
          <p:nvPr/>
        </p:nvSpPr>
        <p:spPr>
          <a:xfrm>
            <a:off x="381000" y="1143000"/>
            <a:ext cx="8382000" cy="0"/>
          </a:xfrm>
          <a:custGeom>
            <a:rect b="b" l="l" r="r" t="t"/>
            <a:pathLst>
              <a:path extrusionOk="0" fill="none" h="120000" w="120000">
                <a:moveTo>
                  <a:pt x="0" y="0"/>
                </a:moveTo>
                <a:lnTo>
                  <a:pt x="120000" y="0"/>
                </a:lnTo>
              </a:path>
            </a:pathLst>
          </a:cu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4"/>
          <p:cNvSpPr txBox="1"/>
          <p:nvPr/>
        </p:nvSpPr>
        <p:spPr>
          <a:xfrm>
            <a:off x="381000" y="28575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111827"/>
                </a:solidFill>
                <a:latin typeface="Inter"/>
                <a:ea typeface="Inter"/>
                <a:cs typeface="Inter"/>
                <a:sym typeface="Inter"/>
              </a:rPr>
              <a:t>05 - </a:t>
            </a:r>
            <a:r>
              <a:rPr b="1" lang="en" sz="2000">
                <a:solidFill>
                  <a:srgbClr val="111827"/>
                </a:solidFill>
                <a:latin typeface="Inter"/>
                <a:ea typeface="Inter"/>
                <a:cs typeface="Inter"/>
                <a:sym typeface="Inter"/>
              </a:rPr>
              <a:t>What is a Large Language Model (LLM)?</a:t>
            </a:r>
            <a:endParaRPr b="1" sz="2000">
              <a:solidFill>
                <a:srgbClr val="111827"/>
              </a:solidFill>
              <a:latin typeface="Inter"/>
              <a:ea typeface="Inter"/>
              <a:cs typeface="Inter"/>
              <a:sym typeface="Inter"/>
            </a:endParaRPr>
          </a:p>
          <a:p>
            <a:pPr indent="0" lvl="0" marL="0" rtl="0" algn="l">
              <a:spcBef>
                <a:spcPts val="300"/>
              </a:spcBef>
              <a:spcAft>
                <a:spcPts val="0"/>
              </a:spcAft>
              <a:buNone/>
            </a:pPr>
            <a:r>
              <a:rPr b="0" lang="en" sz="1100">
                <a:solidFill>
                  <a:srgbClr val="2563EB"/>
                </a:solidFill>
                <a:latin typeface="Inter Medium"/>
                <a:ea typeface="Inter Medium"/>
                <a:cs typeface="Inter Medium"/>
                <a:sym typeface="Inter Medium"/>
              </a:rPr>
              <a:t>The foundational probabilistic engines powering modern artificial intelligence</a:t>
            </a:r>
            <a:endParaRPr b="0" sz="1100">
              <a:solidFill>
                <a:srgbClr val="2563EB"/>
              </a:solidFill>
              <a:latin typeface="Inter Medium"/>
              <a:ea typeface="Inter Medium"/>
              <a:cs typeface="Inter Medium"/>
              <a:sym typeface="Inter Medium"/>
            </a:endParaRPr>
          </a:p>
        </p:txBody>
      </p:sp>
      <p:sp>
        <p:nvSpPr>
          <p:cNvPr id="255" name="Google Shape;255;p24"/>
          <p:cNvSpPr/>
          <p:nvPr/>
        </p:nvSpPr>
        <p:spPr>
          <a:xfrm>
            <a:off x="381000" y="1428750"/>
            <a:ext cx="4000500" cy="3238500"/>
          </a:xfrm>
          <a:prstGeom prst="roundRect">
            <a:avLst>
              <a:gd fmla="val 235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4"/>
          <p:cNvSpPr txBox="1"/>
          <p:nvPr/>
        </p:nvSpPr>
        <p:spPr>
          <a:xfrm>
            <a:off x="609600" y="1657350"/>
            <a:ext cx="35433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F97316"/>
                </a:solidFill>
                <a:latin typeface="Inter SemiBold"/>
                <a:ea typeface="Inter SemiBold"/>
                <a:cs typeface="Inter SemiBold"/>
                <a:sym typeface="Inter SemiBold"/>
              </a:rPr>
              <a:t>CORE CONCEPT</a:t>
            </a:r>
            <a:endParaRPr b="0" sz="850">
              <a:solidFill>
                <a:srgbClr val="F97316"/>
              </a:solidFill>
              <a:latin typeface="Inter SemiBold"/>
              <a:ea typeface="Inter SemiBold"/>
              <a:cs typeface="Inter SemiBold"/>
              <a:sym typeface="Inter SemiBold"/>
            </a:endParaRPr>
          </a:p>
          <a:p>
            <a:pPr indent="0" lvl="0" marL="0" rtl="0" algn="l">
              <a:spcBef>
                <a:spcPts val="900"/>
              </a:spcBef>
              <a:spcAft>
                <a:spcPts val="0"/>
              </a:spcAft>
              <a:buNone/>
            </a:pPr>
            <a:r>
              <a:rPr b="1" lang="en" sz="1190">
                <a:solidFill>
                  <a:srgbClr val="111827"/>
                </a:solidFill>
                <a:latin typeface="Inter"/>
                <a:ea typeface="Inter"/>
                <a:cs typeface="Inter"/>
                <a:sym typeface="Inter"/>
              </a:rPr>
              <a:t>Deep Learning at Scale</a:t>
            </a:r>
            <a:endParaRPr b="1" sz="1190">
              <a:solidFill>
                <a:srgbClr val="111827"/>
              </a:solidFill>
              <a:latin typeface="Inter"/>
              <a:ea typeface="Inter"/>
              <a:cs typeface="Inter"/>
              <a:sym typeface="Inter"/>
            </a:endParaRPr>
          </a:p>
          <a:p>
            <a:pPr indent="0" lvl="0" marL="0" rtl="0" algn="l">
              <a:spcBef>
                <a:spcPts val="1200"/>
              </a:spcBef>
              <a:spcAft>
                <a:spcPts val="0"/>
              </a:spcAft>
              <a:buNone/>
            </a:pPr>
            <a:r>
              <a:rPr b="0" lang="en" sz="893">
                <a:solidFill>
                  <a:srgbClr val="4B5563"/>
                </a:solidFill>
                <a:latin typeface="Inter"/>
                <a:ea typeface="Inter"/>
                <a:cs typeface="Inter"/>
                <a:sym typeface="Inter"/>
              </a:rPr>
              <a:t>At its core, a Large Language Model (LLM) is a highly sophisticated neural network trained on vast amounts of text data. It processes and generates human-like language by calculating statistical probabilities.</a:t>
            </a:r>
            <a:endParaRPr b="0" sz="893">
              <a:solidFill>
                <a:srgbClr val="4B5563"/>
              </a:solidFill>
              <a:latin typeface="Inter"/>
              <a:ea typeface="Inter"/>
              <a:cs typeface="Inter"/>
              <a:sym typeface="Inter"/>
            </a:endParaRPr>
          </a:p>
          <a:p>
            <a:pPr indent="-285274" lvl="0" marL="457200" rtl="0" algn="l">
              <a:spcBef>
                <a:spcPts val="1200"/>
              </a:spcBef>
              <a:spcAft>
                <a:spcPts val="0"/>
              </a:spcAft>
              <a:buClr>
                <a:srgbClr val="4B5563"/>
              </a:buClr>
              <a:buSzPts val="893"/>
              <a:buFont typeface="Inter"/>
              <a:buChar char="●"/>
            </a:pPr>
            <a:r>
              <a:rPr b="1" lang="en" sz="893">
                <a:solidFill>
                  <a:srgbClr val="4B5563"/>
                </a:solidFill>
                <a:latin typeface="Inter"/>
                <a:ea typeface="Inter"/>
                <a:cs typeface="Inter"/>
                <a:sym typeface="Inter"/>
              </a:rPr>
              <a:t>Transformer Architecture:</a:t>
            </a:r>
            <a:r>
              <a:rPr b="0" lang="en" sz="893">
                <a:solidFill>
                  <a:srgbClr val="4B5563"/>
                </a:solidFill>
                <a:latin typeface="Inter"/>
                <a:ea typeface="Inter"/>
                <a:cs typeface="Inter"/>
                <a:sym typeface="Inter"/>
              </a:rPr>
              <a:t> Utilizes self-attention mechanism to understand context and relationships between words in a sequence.</a:t>
            </a:r>
            <a:endParaRPr b="0" sz="893">
              <a:solidFill>
                <a:srgbClr val="4B5563"/>
              </a:solidFill>
              <a:latin typeface="Inter"/>
              <a:ea typeface="Inter"/>
              <a:cs typeface="Inter"/>
              <a:sym typeface="Inter"/>
            </a:endParaRPr>
          </a:p>
          <a:p>
            <a:pPr indent="-285274" lvl="0" marL="457200" rtl="0" algn="l">
              <a:spcBef>
                <a:spcPts val="600"/>
              </a:spcBef>
              <a:spcAft>
                <a:spcPts val="0"/>
              </a:spcAft>
              <a:buClr>
                <a:srgbClr val="4B5563"/>
              </a:buClr>
              <a:buSzPts val="893"/>
              <a:buFont typeface="Inter"/>
              <a:buChar char="●"/>
            </a:pPr>
            <a:r>
              <a:rPr b="1" lang="en" sz="893">
                <a:solidFill>
                  <a:srgbClr val="4B5563"/>
                </a:solidFill>
                <a:latin typeface="Inter"/>
                <a:ea typeface="Inter"/>
                <a:cs typeface="Inter"/>
                <a:sym typeface="Inter"/>
              </a:rPr>
              <a:t>Pattern Recognition:</a:t>
            </a:r>
            <a:r>
              <a:rPr b="0" lang="en" sz="893">
                <a:solidFill>
                  <a:srgbClr val="4B5563"/>
                </a:solidFill>
                <a:latin typeface="Inter"/>
                <a:ea typeface="Inter"/>
                <a:cs typeface="Inter"/>
                <a:sym typeface="Inter"/>
              </a:rPr>
              <a:t> Learned from massive datasets, enabling translation, reasoning, coding, and structured output generation.</a:t>
            </a:r>
            <a:endParaRPr b="0" sz="893">
              <a:solidFill>
                <a:srgbClr val="4B5563"/>
              </a:solidFill>
              <a:latin typeface="Inter"/>
              <a:ea typeface="Inter"/>
              <a:cs typeface="Inter"/>
              <a:sym typeface="Inter"/>
            </a:endParaRPr>
          </a:p>
          <a:p>
            <a:pPr indent="-285274" lvl="0" marL="457200" rtl="0" algn="l">
              <a:spcBef>
                <a:spcPts val="600"/>
              </a:spcBef>
              <a:spcAft>
                <a:spcPts val="600"/>
              </a:spcAft>
              <a:buClr>
                <a:srgbClr val="4B5563"/>
              </a:buClr>
              <a:buSzPts val="893"/>
              <a:buFont typeface="Inter"/>
              <a:buChar char="●"/>
            </a:pPr>
            <a:r>
              <a:rPr b="1" lang="en" sz="893">
                <a:solidFill>
                  <a:srgbClr val="4B5563"/>
                </a:solidFill>
                <a:latin typeface="Inter"/>
                <a:ea typeface="Inter"/>
                <a:cs typeface="Inter"/>
                <a:sym typeface="Inter"/>
              </a:rPr>
              <a:t>Next Token Prediction:</a:t>
            </a:r>
            <a:r>
              <a:rPr b="0" lang="en" sz="893">
                <a:solidFill>
                  <a:srgbClr val="4B5563"/>
                </a:solidFill>
                <a:latin typeface="Inter"/>
                <a:ea typeface="Inter"/>
                <a:cs typeface="Inter"/>
                <a:sym typeface="Inter"/>
              </a:rPr>
              <a:t> Operates fundamentally by calculating the highest-probability next word or sub-word (token) given a context window.</a:t>
            </a:r>
            <a:endParaRPr b="0" sz="893">
              <a:solidFill>
                <a:srgbClr val="4B5563"/>
              </a:solidFill>
              <a:latin typeface="Inter"/>
              <a:ea typeface="Inter"/>
              <a:cs typeface="Inter"/>
              <a:sym typeface="Inter"/>
            </a:endParaRPr>
          </a:p>
        </p:txBody>
      </p:sp>
      <p:pic>
        <p:nvPicPr>
          <p:cNvPr id="257" name="Google Shape;257;p24" title="llms-vs-generative-ai.png"/>
          <p:cNvPicPr preferRelativeResize="0"/>
          <p:nvPr/>
        </p:nvPicPr>
        <p:blipFill rotWithShape="1">
          <a:blip r:embed="rId3">
            <a:alphaModFix/>
          </a:blip>
          <a:srcRect b="8745" l="0" r="0" t="2200"/>
          <a:stretch/>
        </p:blipFill>
        <p:spPr>
          <a:xfrm>
            <a:off x="4572000" y="1428750"/>
            <a:ext cx="4191000" cy="3238500"/>
          </a:xfrm>
          <a:prstGeom prst="roundRect">
            <a:avLst>
              <a:gd fmla="val 2352"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5"/>
          <p:cNvSpPr/>
          <p:nvPr/>
        </p:nvSpPr>
        <p:spPr>
          <a:xfrm>
            <a:off x="0" y="0"/>
            <a:ext cx="4572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3" name="Google Shape;263;p25"/>
          <p:cNvPicPr preferRelativeResize="0"/>
          <p:nvPr/>
        </p:nvPicPr>
        <p:blipFill rotWithShape="1">
          <a:blip r:embed="rId3">
            <a:alphaModFix/>
          </a:blip>
          <a:srcRect b="0" l="0" r="0" t="0"/>
          <a:stretch/>
        </p:blipFill>
        <p:spPr>
          <a:xfrm>
            <a:off x="0" y="0"/>
            <a:ext cx="4572000" cy="5143500"/>
          </a:xfrm>
          <a:prstGeom prst="rect">
            <a:avLst/>
          </a:prstGeom>
          <a:noFill/>
          <a:ln>
            <a:noFill/>
          </a:ln>
        </p:spPr>
      </p:pic>
      <p:sp>
        <p:nvSpPr>
          <p:cNvPr id="264" name="Google Shape;264;p25"/>
          <p:cNvSpPr/>
          <p:nvPr/>
        </p:nvSpPr>
        <p:spPr>
          <a:xfrm>
            <a:off x="4572000" y="0"/>
            <a:ext cx="4572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5"/>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6" name="Google Shape;266;p25"/>
          <p:cNvGrpSpPr/>
          <p:nvPr/>
        </p:nvGrpSpPr>
        <p:grpSpPr>
          <a:xfrm>
            <a:off x="8458200" y="381000"/>
            <a:ext cx="304800" cy="304800"/>
            <a:chOff x="0" y="0"/>
            <a:chExt cx="304800" cy="304800"/>
          </a:xfrm>
        </p:grpSpPr>
        <p:sp>
          <p:nvSpPr>
            <p:cNvPr id="267" name="Google Shape;267;p25"/>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5"/>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5"/>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0" name="Google Shape;270;p25"/>
          <p:cNvSpPr txBox="1"/>
          <p:nvPr/>
        </p:nvSpPr>
        <p:spPr>
          <a:xfrm>
            <a:off x="381000" y="381000"/>
            <a:ext cx="3810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2000">
                <a:solidFill>
                  <a:srgbClr val="111827"/>
                </a:solidFill>
                <a:latin typeface="Inter"/>
                <a:ea typeface="Inter"/>
                <a:cs typeface="Inter"/>
                <a:sym typeface="Inter"/>
              </a:rPr>
              <a:t>06 - MCP</a:t>
            </a:r>
            <a:endParaRPr b="1" sz="2000">
              <a:solidFill>
                <a:srgbClr val="111827"/>
              </a:solidFill>
              <a:latin typeface="Inter"/>
              <a:ea typeface="Inter"/>
              <a:cs typeface="Inter"/>
              <a:sym typeface="Inter"/>
            </a:endParaRPr>
          </a:p>
          <a:p>
            <a:pPr indent="0" lvl="0" marL="0" rtl="0" algn="l">
              <a:spcBef>
                <a:spcPts val="300"/>
              </a:spcBef>
              <a:spcAft>
                <a:spcPts val="0"/>
              </a:spcAft>
              <a:buNone/>
            </a:pPr>
            <a:r>
              <a:t/>
            </a:r>
            <a:endParaRPr sz="1100">
              <a:solidFill>
                <a:srgbClr val="2563EB"/>
              </a:solidFill>
              <a:latin typeface="Inter SemiBold"/>
              <a:ea typeface="Inter SemiBold"/>
              <a:cs typeface="Inter SemiBold"/>
              <a:sym typeface="Inter SemiBold"/>
            </a:endParaRPr>
          </a:p>
        </p:txBody>
      </p:sp>
      <p:sp>
        <p:nvSpPr>
          <p:cNvPr id="271" name="Google Shape;271;p25"/>
          <p:cNvSpPr txBox="1"/>
          <p:nvPr/>
        </p:nvSpPr>
        <p:spPr>
          <a:xfrm>
            <a:off x="381000" y="1333500"/>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10">
                <a:solidFill>
                  <a:srgbClr val="111827"/>
                </a:solidFill>
                <a:latin typeface="Inter"/>
                <a:ea typeface="Inter"/>
                <a:cs typeface="Inter"/>
                <a:sym typeface="Inter"/>
              </a:rPr>
              <a:t>Standardizing Interoperability</a:t>
            </a:r>
            <a:endParaRPr b="1" sz="2210">
              <a:solidFill>
                <a:srgbClr val="111827"/>
              </a:solidFill>
              <a:latin typeface="Inter"/>
              <a:ea typeface="Inter"/>
              <a:cs typeface="Inter"/>
              <a:sym typeface="Inter"/>
            </a:endParaRPr>
          </a:p>
          <a:p>
            <a:pPr indent="0" lvl="0" marL="0" rtl="0" algn="l">
              <a:spcBef>
                <a:spcPts val="600"/>
              </a:spcBef>
              <a:spcAft>
                <a:spcPts val="0"/>
              </a:spcAft>
              <a:buNone/>
            </a:pPr>
            <a:r>
              <a:rPr b="0" lang="en" sz="1275">
                <a:solidFill>
                  <a:srgbClr val="4B5563"/>
                </a:solidFill>
                <a:latin typeface="Inter Medium"/>
                <a:ea typeface="Inter Medium"/>
                <a:cs typeface="Inter Medium"/>
                <a:sym typeface="Inter Medium"/>
              </a:rPr>
              <a:t>Connecting AI models to external tools &amp; data</a:t>
            </a:r>
            <a:endParaRPr b="0" sz="1275">
              <a:solidFill>
                <a:srgbClr val="4B5563"/>
              </a:solidFill>
              <a:latin typeface="Inter Medium"/>
              <a:ea typeface="Inter Medium"/>
              <a:cs typeface="Inter Medium"/>
              <a:sym typeface="Inter Medium"/>
            </a:endParaRPr>
          </a:p>
        </p:txBody>
      </p:sp>
      <p:sp>
        <p:nvSpPr>
          <p:cNvPr id="272" name="Google Shape;272;p25"/>
          <p:cNvSpPr txBox="1"/>
          <p:nvPr/>
        </p:nvSpPr>
        <p:spPr>
          <a:xfrm>
            <a:off x="381000" y="2667000"/>
            <a:ext cx="38100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11827"/>
                </a:solidFill>
                <a:latin typeface="Inter"/>
                <a:ea typeface="Inter"/>
                <a:cs typeface="Inter"/>
                <a:sym typeface="Inter"/>
              </a:rPr>
              <a:t>The Model Context Protocol (MCP) establishes a universal language for linking AI models with data sources and tools.</a:t>
            </a:r>
            <a:endParaRPr b="0" sz="1300">
              <a:solidFill>
                <a:srgbClr val="111827"/>
              </a:solidFill>
              <a:latin typeface="Inter"/>
              <a:ea typeface="Inter"/>
              <a:cs typeface="Inter"/>
              <a:sym typeface="Inter"/>
            </a:endParaRPr>
          </a:p>
          <a:p>
            <a:pPr indent="0" lvl="0" marL="0" rtl="0" algn="l">
              <a:spcBef>
                <a:spcPts val="900"/>
              </a:spcBef>
              <a:spcAft>
                <a:spcPts val="0"/>
              </a:spcAft>
              <a:buNone/>
            </a:pPr>
            <a:r>
              <a:rPr b="0" lang="en" sz="1200">
                <a:solidFill>
                  <a:srgbClr val="4B5563"/>
                </a:solidFill>
                <a:latin typeface="Inter"/>
                <a:ea typeface="Inter"/>
                <a:cs typeface="Inter"/>
                <a:sym typeface="Inter"/>
              </a:rPr>
              <a:t>By standardizing connection patterns, MCP allows developers to seamlessly plug any supported AI model into enterprise infrastructure. This bypasses the need to build and maintain custom, brittle integrations for every single model or data source.</a:t>
            </a:r>
            <a:endParaRPr b="0" sz="1200">
              <a:solidFill>
                <a:srgbClr val="4B5563"/>
              </a:solidFill>
              <a:latin typeface="Inter"/>
              <a:ea typeface="Inter"/>
              <a:cs typeface="Inter"/>
              <a:sym typeface="Inter"/>
            </a:endParaRPr>
          </a:p>
        </p:txBody>
      </p:sp>
      <p:sp>
        <p:nvSpPr>
          <p:cNvPr id="273" name="Google Shape;273;p25"/>
          <p:cNvSpPr txBox="1"/>
          <p:nvPr/>
        </p:nvSpPr>
        <p:spPr>
          <a:xfrm>
            <a:off x="4953000" y="381000"/>
            <a:ext cx="2857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4B5563"/>
                </a:solidFill>
                <a:latin typeface="Inter SemiBold"/>
                <a:ea typeface="Inter SemiBold"/>
                <a:cs typeface="Inter SemiBold"/>
                <a:sym typeface="Inter SemiBold"/>
              </a:rPr>
              <a:t>PROTOCOL ARCHITECTURE</a:t>
            </a:r>
            <a:endParaRPr b="0" sz="1100">
              <a:solidFill>
                <a:srgbClr val="4B5563"/>
              </a:solidFill>
              <a:latin typeface="Inter SemiBold"/>
              <a:ea typeface="Inter SemiBold"/>
              <a:cs typeface="Inter SemiBold"/>
              <a:sym typeface="Inter SemiBold"/>
            </a:endParaRPr>
          </a:p>
        </p:txBody>
      </p:sp>
      <p:grpSp>
        <p:nvGrpSpPr>
          <p:cNvPr id="274" name="Google Shape;274;p25"/>
          <p:cNvGrpSpPr/>
          <p:nvPr/>
        </p:nvGrpSpPr>
        <p:grpSpPr>
          <a:xfrm>
            <a:off x="4953000" y="1333500"/>
            <a:ext cx="3810000" cy="857400"/>
            <a:chOff x="0" y="0"/>
            <a:chExt cx="3810000" cy="857400"/>
          </a:xfrm>
        </p:grpSpPr>
        <p:sp>
          <p:nvSpPr>
            <p:cNvPr id="275" name="Google Shape;275;p25"/>
            <p:cNvSpPr/>
            <p:nvPr/>
          </p:nvSpPr>
          <p:spPr>
            <a:xfrm>
              <a:off x="0" y="0"/>
              <a:ext cx="3810000" cy="857400"/>
            </a:xfrm>
            <a:prstGeom prst="roundRect">
              <a:avLst>
                <a:gd fmla="val 6666" name="adj"/>
              </a:avLst>
            </a:prstGeom>
            <a:solidFill>
              <a:srgbClr val="F0F9FF"/>
            </a:solidFill>
            <a:ln cap="flat" cmpd="sng" w="9525">
              <a:solidFill>
                <a:srgbClr val="0EA5E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5"/>
            <p:cNvSpPr txBox="1"/>
            <p:nvPr/>
          </p:nvSpPr>
          <p:spPr>
            <a:xfrm>
              <a:off x="190500" y="114300"/>
              <a:ext cx="3429000" cy="6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33">
                  <a:solidFill>
                    <a:srgbClr val="0EA5E9"/>
                  </a:solidFill>
                  <a:latin typeface="Inter SemiBold"/>
                  <a:ea typeface="Inter SemiBold"/>
                  <a:cs typeface="Inter SemiBold"/>
                  <a:sym typeface="Inter SemiBold"/>
                </a:rPr>
                <a:t>01 / HOST</a:t>
              </a:r>
              <a:endParaRPr b="0" sz="833">
                <a:solidFill>
                  <a:srgbClr val="0EA5E9"/>
                </a:solidFill>
                <a:latin typeface="Inter SemiBold"/>
                <a:ea typeface="Inter SemiBold"/>
                <a:cs typeface="Inter SemiBold"/>
                <a:sym typeface="Inter SemiBold"/>
              </a:endParaRPr>
            </a:p>
            <a:p>
              <a:pPr indent="0" lvl="0" marL="0" rtl="0" algn="l">
                <a:spcBef>
                  <a:spcPts val="150"/>
                </a:spcBef>
                <a:spcAft>
                  <a:spcPts val="0"/>
                </a:spcAft>
                <a:buNone/>
              </a:pPr>
              <a:r>
                <a:rPr b="1" lang="en" sz="1203">
                  <a:solidFill>
                    <a:srgbClr val="0369A1"/>
                  </a:solidFill>
                  <a:latin typeface="Inter"/>
                  <a:ea typeface="Inter"/>
                  <a:cs typeface="Inter"/>
                  <a:sym typeface="Inter"/>
                </a:rPr>
                <a:t>AI Applications</a:t>
              </a:r>
              <a:endParaRPr b="1" sz="1203">
                <a:solidFill>
                  <a:srgbClr val="0369A1"/>
                </a:solidFill>
                <a:latin typeface="Inter"/>
                <a:ea typeface="Inter"/>
                <a:cs typeface="Inter"/>
                <a:sym typeface="Inter"/>
              </a:endParaRPr>
            </a:p>
            <a:p>
              <a:pPr indent="0" lvl="0" marL="0" rtl="0" algn="l">
                <a:spcBef>
                  <a:spcPts val="150"/>
                </a:spcBef>
                <a:spcAft>
                  <a:spcPts val="0"/>
                </a:spcAft>
                <a:buNone/>
              </a:pPr>
              <a:r>
                <a:rPr b="0" lang="en" sz="1018">
                  <a:solidFill>
                    <a:srgbClr val="0369A1"/>
                  </a:solidFill>
                  <a:latin typeface="Inter"/>
                  <a:ea typeface="Inter"/>
                  <a:cs typeface="Inter"/>
                  <a:sym typeface="Inter"/>
                </a:rPr>
                <a:t>Initiates connections and coordinates model activities.</a:t>
              </a:r>
              <a:endParaRPr b="0" sz="1018">
                <a:solidFill>
                  <a:srgbClr val="0369A1"/>
                </a:solidFill>
                <a:latin typeface="Inter"/>
                <a:ea typeface="Inter"/>
                <a:cs typeface="Inter"/>
                <a:sym typeface="Inter"/>
              </a:endParaRPr>
            </a:p>
          </p:txBody>
        </p:sp>
      </p:grpSp>
      <p:pic>
        <p:nvPicPr>
          <p:cNvPr id="277" name="Google Shape;277;p25"/>
          <p:cNvPicPr preferRelativeResize="0"/>
          <p:nvPr/>
        </p:nvPicPr>
        <p:blipFill rotWithShape="1">
          <a:blip r:embed="rId4">
            <a:alphaModFix/>
          </a:blip>
          <a:srcRect b="0" l="0" r="0" t="0"/>
          <a:stretch/>
        </p:blipFill>
        <p:spPr>
          <a:xfrm>
            <a:off x="6848475" y="2190750"/>
            <a:ext cx="19200" cy="190500"/>
          </a:xfrm>
          <a:prstGeom prst="rect">
            <a:avLst/>
          </a:prstGeom>
          <a:noFill/>
          <a:ln>
            <a:noFill/>
          </a:ln>
        </p:spPr>
      </p:pic>
      <p:grpSp>
        <p:nvGrpSpPr>
          <p:cNvPr id="278" name="Google Shape;278;p25"/>
          <p:cNvGrpSpPr/>
          <p:nvPr/>
        </p:nvGrpSpPr>
        <p:grpSpPr>
          <a:xfrm>
            <a:off x="4953000" y="2381250"/>
            <a:ext cx="3810000" cy="857400"/>
            <a:chOff x="0" y="0"/>
            <a:chExt cx="3810000" cy="857400"/>
          </a:xfrm>
        </p:grpSpPr>
        <p:sp>
          <p:nvSpPr>
            <p:cNvPr id="279" name="Google Shape;279;p25"/>
            <p:cNvSpPr/>
            <p:nvPr/>
          </p:nvSpPr>
          <p:spPr>
            <a:xfrm>
              <a:off x="0" y="0"/>
              <a:ext cx="3810000" cy="857400"/>
            </a:xfrm>
            <a:prstGeom prst="roundRect">
              <a:avLst>
                <a:gd fmla="val 6666" name="adj"/>
              </a:avLst>
            </a:prstGeom>
            <a:solidFill>
              <a:srgbClr val="EFF6FF"/>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5"/>
            <p:cNvSpPr txBox="1"/>
            <p:nvPr/>
          </p:nvSpPr>
          <p:spPr>
            <a:xfrm>
              <a:off x="190500" y="114300"/>
              <a:ext cx="3429000" cy="6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33">
                  <a:solidFill>
                    <a:srgbClr val="3B82F6"/>
                  </a:solidFill>
                  <a:latin typeface="Inter SemiBold"/>
                  <a:ea typeface="Inter SemiBold"/>
                  <a:cs typeface="Inter SemiBold"/>
                  <a:sym typeface="Inter SemiBold"/>
                </a:rPr>
                <a:t>02 / CLIENT</a:t>
              </a:r>
              <a:endParaRPr b="0" sz="833">
                <a:solidFill>
                  <a:srgbClr val="3B82F6"/>
                </a:solidFill>
                <a:latin typeface="Inter SemiBold"/>
                <a:ea typeface="Inter SemiBold"/>
                <a:cs typeface="Inter SemiBold"/>
                <a:sym typeface="Inter SemiBold"/>
              </a:endParaRPr>
            </a:p>
            <a:p>
              <a:pPr indent="0" lvl="0" marL="0" rtl="0" algn="l">
                <a:spcBef>
                  <a:spcPts val="150"/>
                </a:spcBef>
                <a:spcAft>
                  <a:spcPts val="0"/>
                </a:spcAft>
                <a:buNone/>
              </a:pPr>
              <a:r>
                <a:rPr b="1" lang="en" sz="1203">
                  <a:solidFill>
                    <a:srgbClr val="1D4ED8"/>
                  </a:solidFill>
                  <a:latin typeface="Inter"/>
                  <a:ea typeface="Inter"/>
                  <a:cs typeface="Inter"/>
                  <a:sym typeface="Inter"/>
                </a:rPr>
                <a:t>Protocol Orchestrator</a:t>
              </a:r>
              <a:endParaRPr b="1" sz="1203">
                <a:solidFill>
                  <a:srgbClr val="1D4ED8"/>
                </a:solidFill>
                <a:latin typeface="Inter"/>
                <a:ea typeface="Inter"/>
                <a:cs typeface="Inter"/>
                <a:sym typeface="Inter"/>
              </a:endParaRPr>
            </a:p>
            <a:p>
              <a:pPr indent="0" lvl="0" marL="0" rtl="0" algn="l">
                <a:spcBef>
                  <a:spcPts val="150"/>
                </a:spcBef>
                <a:spcAft>
                  <a:spcPts val="0"/>
                </a:spcAft>
                <a:buNone/>
              </a:pPr>
              <a:r>
                <a:rPr b="0" lang="en" sz="1018">
                  <a:solidFill>
                    <a:srgbClr val="1D4ED8"/>
                  </a:solidFill>
                  <a:latin typeface="Inter"/>
                  <a:ea typeface="Inter"/>
                  <a:cs typeface="Inter"/>
                  <a:sym typeface="Inter"/>
                </a:rPr>
                <a:t>Maintains active context and manages secure requests.</a:t>
              </a:r>
              <a:endParaRPr b="0" sz="1018">
                <a:solidFill>
                  <a:srgbClr val="1D4ED8"/>
                </a:solidFill>
                <a:latin typeface="Inter"/>
                <a:ea typeface="Inter"/>
                <a:cs typeface="Inter"/>
                <a:sym typeface="Inter"/>
              </a:endParaRPr>
            </a:p>
          </p:txBody>
        </p:sp>
      </p:grpSp>
      <p:pic>
        <p:nvPicPr>
          <p:cNvPr id="281" name="Google Shape;281;p25"/>
          <p:cNvPicPr preferRelativeResize="0"/>
          <p:nvPr/>
        </p:nvPicPr>
        <p:blipFill rotWithShape="1">
          <a:blip r:embed="rId5">
            <a:alphaModFix/>
          </a:blip>
          <a:srcRect b="0" l="0" r="0" t="0"/>
          <a:stretch/>
        </p:blipFill>
        <p:spPr>
          <a:xfrm>
            <a:off x="6848475" y="3238500"/>
            <a:ext cx="19200" cy="190500"/>
          </a:xfrm>
          <a:prstGeom prst="rect">
            <a:avLst/>
          </a:prstGeom>
          <a:noFill/>
          <a:ln>
            <a:noFill/>
          </a:ln>
        </p:spPr>
      </p:pic>
      <p:grpSp>
        <p:nvGrpSpPr>
          <p:cNvPr id="282" name="Google Shape;282;p25"/>
          <p:cNvGrpSpPr/>
          <p:nvPr/>
        </p:nvGrpSpPr>
        <p:grpSpPr>
          <a:xfrm>
            <a:off x="4953000" y="3429000"/>
            <a:ext cx="3810000" cy="857400"/>
            <a:chOff x="0" y="0"/>
            <a:chExt cx="3810000" cy="857400"/>
          </a:xfrm>
        </p:grpSpPr>
        <p:sp>
          <p:nvSpPr>
            <p:cNvPr id="283" name="Google Shape;283;p25"/>
            <p:cNvSpPr/>
            <p:nvPr/>
          </p:nvSpPr>
          <p:spPr>
            <a:xfrm>
              <a:off x="0" y="0"/>
              <a:ext cx="3810000" cy="857400"/>
            </a:xfrm>
            <a:prstGeom prst="roundRect">
              <a:avLst>
                <a:gd fmla="val 6666" name="adj"/>
              </a:avLst>
            </a:prstGeom>
            <a:solidFill>
              <a:srgbClr val="EFF6FF"/>
            </a:solidFill>
            <a:ln cap="flat" cmpd="sng" w="95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5"/>
            <p:cNvSpPr txBox="1"/>
            <p:nvPr/>
          </p:nvSpPr>
          <p:spPr>
            <a:xfrm>
              <a:off x="190500" y="114300"/>
              <a:ext cx="3429000" cy="6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33">
                  <a:solidFill>
                    <a:srgbClr val="2563EB"/>
                  </a:solidFill>
                  <a:latin typeface="Inter SemiBold"/>
                  <a:ea typeface="Inter SemiBold"/>
                  <a:cs typeface="Inter SemiBold"/>
                  <a:sym typeface="Inter SemiBold"/>
                </a:rPr>
                <a:t>03 / SERVER</a:t>
              </a:r>
              <a:endParaRPr b="0" sz="833">
                <a:solidFill>
                  <a:srgbClr val="2563EB"/>
                </a:solidFill>
                <a:latin typeface="Inter SemiBold"/>
                <a:ea typeface="Inter SemiBold"/>
                <a:cs typeface="Inter SemiBold"/>
                <a:sym typeface="Inter SemiBold"/>
              </a:endParaRPr>
            </a:p>
            <a:p>
              <a:pPr indent="0" lvl="0" marL="0" rtl="0" algn="l">
                <a:spcBef>
                  <a:spcPts val="150"/>
                </a:spcBef>
                <a:spcAft>
                  <a:spcPts val="0"/>
                </a:spcAft>
                <a:buNone/>
              </a:pPr>
              <a:r>
                <a:rPr b="1" lang="en" sz="1203">
                  <a:solidFill>
                    <a:srgbClr val="1E3A8A"/>
                  </a:solidFill>
                  <a:latin typeface="Inter"/>
                  <a:ea typeface="Inter"/>
                  <a:cs typeface="Inter"/>
                  <a:sym typeface="Inter"/>
                </a:rPr>
                <a:t>Tools &amp; Data Repositories</a:t>
              </a:r>
              <a:endParaRPr b="1" sz="1203">
                <a:solidFill>
                  <a:srgbClr val="1E3A8A"/>
                </a:solidFill>
                <a:latin typeface="Inter"/>
                <a:ea typeface="Inter"/>
                <a:cs typeface="Inter"/>
                <a:sym typeface="Inter"/>
              </a:endParaRPr>
            </a:p>
            <a:p>
              <a:pPr indent="0" lvl="0" marL="0" rtl="0" algn="l">
                <a:spcBef>
                  <a:spcPts val="150"/>
                </a:spcBef>
                <a:spcAft>
                  <a:spcPts val="0"/>
                </a:spcAft>
                <a:buNone/>
              </a:pPr>
              <a:r>
                <a:rPr b="0" lang="en" sz="1018">
                  <a:solidFill>
                    <a:srgbClr val="1E3A8A"/>
                  </a:solidFill>
                  <a:latin typeface="Inter"/>
                  <a:ea typeface="Inter"/>
                  <a:cs typeface="Inter"/>
                  <a:sym typeface="Inter"/>
                </a:rPr>
                <a:t>Exposes data resources and execution tools securely.</a:t>
              </a:r>
              <a:endParaRPr b="0" sz="1018">
                <a:solidFill>
                  <a:srgbClr val="1E3A8A"/>
                </a:solidFill>
                <a:latin typeface="Inter"/>
                <a:ea typeface="Inter"/>
                <a:cs typeface="Inter"/>
                <a:sym typeface="Inte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6"/>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0" name="Google Shape;290;p26"/>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291" name="Google Shape;291;p26"/>
          <p:cNvGrpSpPr/>
          <p:nvPr/>
        </p:nvGrpSpPr>
        <p:grpSpPr>
          <a:xfrm>
            <a:off x="8458200" y="381000"/>
            <a:ext cx="304800" cy="304800"/>
            <a:chOff x="0" y="0"/>
            <a:chExt cx="304800" cy="304800"/>
          </a:xfrm>
        </p:grpSpPr>
        <p:sp>
          <p:nvSpPr>
            <p:cNvPr id="292" name="Google Shape;292;p26"/>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6"/>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26"/>
            <p:cNvSpPr/>
            <p:nvPr/>
          </p:nvSpPr>
          <p:spPr>
            <a:xfrm>
              <a:off x="38100" y="38100"/>
              <a:ext cx="228600" cy="228600"/>
            </a:xfrm>
            <a:custGeom>
              <a:rect b="b" l="l" r="r" t="t"/>
              <a:pathLst>
                <a:path extrusionOk="0"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95" name="Google Shape;295;p26"/>
          <p:cNvSpPr txBox="1"/>
          <p:nvPr/>
        </p:nvSpPr>
        <p:spPr>
          <a:xfrm>
            <a:off x="381000" y="285750"/>
            <a:ext cx="762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06 - Reusable Skills</a:t>
            </a:r>
            <a:endParaRPr b="1" sz="2400">
              <a:solidFill>
                <a:srgbClr val="111827"/>
              </a:solidFill>
              <a:latin typeface="Inter"/>
              <a:ea typeface="Inter"/>
              <a:cs typeface="Inter"/>
              <a:sym typeface="Inter"/>
            </a:endParaRPr>
          </a:p>
          <a:p>
            <a:pPr indent="0" lvl="0" marL="0" rtl="0" algn="l">
              <a:spcBef>
                <a:spcPts val="300"/>
              </a:spcBef>
              <a:spcAft>
                <a:spcPts val="0"/>
              </a:spcAft>
              <a:buNone/>
            </a:pPr>
            <a:r>
              <a:rPr b="0" lang="en" sz="1200">
                <a:solidFill>
                  <a:srgbClr val="2563EB"/>
                </a:solidFill>
                <a:latin typeface="Inter Medium"/>
                <a:ea typeface="Inter Medium"/>
                <a:cs typeface="Inter Medium"/>
                <a:sym typeface="Inter Medium"/>
              </a:rPr>
              <a:t>Standardizing behavior through portable and deterministic instructions</a:t>
            </a:r>
            <a:endParaRPr b="0" sz="1200">
              <a:solidFill>
                <a:srgbClr val="2563EB"/>
              </a:solidFill>
              <a:latin typeface="Inter Medium"/>
              <a:ea typeface="Inter Medium"/>
              <a:cs typeface="Inter Medium"/>
              <a:sym typeface="Inter Medium"/>
            </a:endParaRPr>
          </a:p>
        </p:txBody>
      </p:sp>
      <p:sp>
        <p:nvSpPr>
          <p:cNvPr id="296" name="Google Shape;296;p26"/>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6"/>
          <p:cNvGrpSpPr/>
          <p:nvPr/>
        </p:nvGrpSpPr>
        <p:grpSpPr>
          <a:xfrm>
            <a:off x="381000" y="1428750"/>
            <a:ext cx="4038600" cy="3238500"/>
            <a:chOff x="0" y="0"/>
            <a:chExt cx="4038600" cy="3238500"/>
          </a:xfrm>
        </p:grpSpPr>
        <p:sp>
          <p:nvSpPr>
            <p:cNvPr id="298" name="Google Shape;298;p26"/>
            <p:cNvSpPr/>
            <p:nvPr/>
          </p:nvSpPr>
          <p:spPr>
            <a:xfrm>
              <a:off x="0" y="0"/>
              <a:ext cx="4038600" cy="3238500"/>
            </a:xfrm>
            <a:prstGeom prst="roundRect">
              <a:avLst>
                <a:gd fmla="val 235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6"/>
            <p:cNvSpPr txBox="1"/>
            <p:nvPr/>
          </p:nvSpPr>
          <p:spPr>
            <a:xfrm>
              <a:off x="228600" y="228600"/>
              <a:ext cx="35814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97316"/>
                  </a:solidFill>
                  <a:latin typeface="Inter"/>
                  <a:ea typeface="Inter"/>
                  <a:cs typeface="Inter"/>
                  <a:sym typeface="Inter"/>
                </a:rPr>
                <a:t>CORE ARCHITECTURE</a:t>
              </a:r>
              <a:endParaRPr b="1" sz="800">
                <a:solidFill>
                  <a:srgbClr val="F97316"/>
                </a:solidFill>
                <a:latin typeface="Inter"/>
                <a:ea typeface="Inter"/>
                <a:cs typeface="Inter"/>
                <a:sym typeface="Inter"/>
              </a:endParaRPr>
            </a:p>
            <a:p>
              <a:pPr indent="0" lvl="0" marL="0" rtl="0" algn="l">
                <a:spcBef>
                  <a:spcPts val="300"/>
                </a:spcBef>
                <a:spcAft>
                  <a:spcPts val="0"/>
                </a:spcAft>
                <a:buNone/>
              </a:pPr>
              <a:r>
                <a:rPr b="1" lang="en" sz="1400">
                  <a:solidFill>
                    <a:srgbClr val="111827"/>
                  </a:solidFill>
                  <a:latin typeface="Inter"/>
                  <a:ea typeface="Inter"/>
                  <a:cs typeface="Inter"/>
                  <a:sym typeface="Inter"/>
                </a:rPr>
                <a:t>Deterministic Skill Definition</a:t>
              </a:r>
              <a:endParaRPr b="1" sz="1400">
                <a:solidFill>
                  <a:srgbClr val="111827"/>
                </a:solidFill>
                <a:latin typeface="Inter"/>
                <a:ea typeface="Inter"/>
                <a:cs typeface="Inter"/>
                <a:sym typeface="Inter"/>
              </a:endParaRPr>
            </a:p>
            <a:p>
              <a:pPr indent="0" lvl="0" marL="0" rtl="0" algn="l">
                <a:spcBef>
                  <a:spcPts val="900"/>
                </a:spcBef>
                <a:spcAft>
                  <a:spcPts val="0"/>
                </a:spcAft>
                <a:buNone/>
              </a:pPr>
              <a:r>
                <a:rPr b="0" lang="en" sz="1050">
                  <a:solidFill>
                    <a:srgbClr val="4B5563"/>
                  </a:solidFill>
                  <a:latin typeface="Inter"/>
                  <a:ea typeface="Inter"/>
                  <a:cs typeface="Inter"/>
                  <a:sym typeface="Inter"/>
                </a:rPr>
                <a:t>Unlike general system prompts, skills are modular, highly-specific packages designed to inject reliable capabilities directly into compatible agent runtimes.</a:t>
              </a:r>
              <a:endParaRPr b="0" sz="1050">
                <a:solidFill>
                  <a:srgbClr val="4B5563"/>
                </a:solidFill>
                <a:latin typeface="Inter"/>
                <a:ea typeface="Inter"/>
                <a:cs typeface="Inter"/>
                <a:sym typeface="Inter"/>
              </a:endParaRPr>
            </a:p>
            <a:p>
              <a:pPr indent="-292100" lvl="0" marL="457200" rtl="0" algn="l">
                <a:spcBef>
                  <a:spcPts val="900"/>
                </a:spcBef>
                <a:spcAft>
                  <a:spcPts val="0"/>
                </a:spcAft>
                <a:buClr>
                  <a:srgbClr val="4B5563"/>
                </a:buClr>
                <a:buSzPts val="1000"/>
                <a:buFont typeface="Inter"/>
                <a:buChar char="●"/>
              </a:pPr>
              <a:r>
                <a:rPr b="1" lang="en" sz="1000">
                  <a:solidFill>
                    <a:srgbClr val="111827"/>
                  </a:solidFill>
                  <a:latin typeface="Inter"/>
                  <a:ea typeface="Inter"/>
                  <a:cs typeface="Inter"/>
                  <a:sym typeface="Inter"/>
                </a:rPr>
                <a:t>100% Reusable:</a:t>
              </a:r>
              <a:r>
                <a:rPr lang="en" sz="1000">
                  <a:solidFill>
                    <a:srgbClr val="4B5563"/>
                  </a:solidFill>
                  <a:latin typeface="Inter"/>
                  <a:ea typeface="Inter"/>
                  <a:cs typeface="Inter"/>
                  <a:sym typeface="Inter"/>
                </a:rPr>
                <a:t> Easily shared across completely different model configurations and custom-built assistants.</a:t>
              </a:r>
              <a:endParaRPr sz="1000">
                <a:solidFill>
                  <a:srgbClr val="4B5563"/>
                </a:solidFill>
                <a:latin typeface="Inter"/>
                <a:ea typeface="Inter"/>
                <a:cs typeface="Inter"/>
                <a:sym typeface="Inter"/>
              </a:endParaRPr>
            </a:p>
            <a:p>
              <a:pPr indent="-292100" lvl="0" marL="457200" rtl="0" algn="l">
                <a:spcBef>
                  <a:spcPts val="450"/>
                </a:spcBef>
                <a:spcAft>
                  <a:spcPts val="0"/>
                </a:spcAft>
                <a:buClr>
                  <a:srgbClr val="4B5563"/>
                </a:buClr>
                <a:buSzPts val="1000"/>
                <a:buFont typeface="Inter"/>
                <a:buChar char="●"/>
              </a:pPr>
              <a:r>
                <a:rPr b="1" lang="en" sz="1000">
                  <a:solidFill>
                    <a:srgbClr val="111827"/>
                  </a:solidFill>
                  <a:latin typeface="Inter"/>
                  <a:ea typeface="Inter"/>
                  <a:cs typeface="Inter"/>
                  <a:sym typeface="Inter"/>
                </a:rPr>
                <a:t>Deterministic Executions:</a:t>
              </a:r>
              <a:r>
                <a:rPr lang="en" sz="1000">
                  <a:solidFill>
                    <a:srgbClr val="4B5563"/>
                  </a:solidFill>
                  <a:latin typeface="Inter"/>
                  <a:ea typeface="Inter"/>
                  <a:cs typeface="Inter"/>
                  <a:sym typeface="Inter"/>
                </a:rPr>
                <a:t> Standardizes outputs by constraining reasoning boundaries using strict structural rules.</a:t>
              </a:r>
              <a:endParaRPr sz="1000">
                <a:solidFill>
                  <a:srgbClr val="4B5563"/>
                </a:solidFill>
                <a:latin typeface="Inter"/>
                <a:ea typeface="Inter"/>
                <a:cs typeface="Inter"/>
                <a:sym typeface="Inter"/>
              </a:endParaRPr>
            </a:p>
            <a:p>
              <a:pPr indent="-292100" lvl="0" marL="457200" rtl="0" algn="l">
                <a:spcBef>
                  <a:spcPts val="450"/>
                </a:spcBef>
                <a:spcAft>
                  <a:spcPts val="0"/>
                </a:spcAft>
                <a:buClr>
                  <a:srgbClr val="4B5563"/>
                </a:buClr>
                <a:buSzPts val="1000"/>
                <a:buFont typeface="Inter"/>
                <a:buChar char="●"/>
              </a:pPr>
              <a:r>
                <a:rPr b="1" lang="en" sz="1000">
                  <a:solidFill>
                    <a:srgbClr val="111827"/>
                  </a:solidFill>
                  <a:latin typeface="Inter"/>
                  <a:ea typeface="Inter"/>
                  <a:cs typeface="Inter"/>
                  <a:sym typeface="Inter"/>
                </a:rPr>
                <a:t>No-Code Integration:</a:t>
              </a:r>
              <a:r>
                <a:rPr lang="en" sz="1000">
                  <a:solidFill>
                    <a:srgbClr val="4B5563"/>
                  </a:solidFill>
                  <a:latin typeface="Inter"/>
                  <a:ea typeface="Inter"/>
                  <a:cs typeface="Inter"/>
                  <a:sym typeface="Inter"/>
                </a:rPr>
                <a:t> Enables rapid behavioral alignment without changing underlying model weights.</a:t>
              </a:r>
              <a:endParaRPr sz="1000">
                <a:solidFill>
                  <a:srgbClr val="4B5563"/>
                </a:solidFill>
                <a:latin typeface="Inter"/>
                <a:ea typeface="Inter"/>
                <a:cs typeface="Inter"/>
                <a:sym typeface="Inter"/>
              </a:endParaRPr>
            </a:p>
          </p:txBody>
        </p:sp>
      </p:grpSp>
      <p:grpSp>
        <p:nvGrpSpPr>
          <p:cNvPr id="300" name="Google Shape;300;p26"/>
          <p:cNvGrpSpPr/>
          <p:nvPr/>
        </p:nvGrpSpPr>
        <p:grpSpPr>
          <a:xfrm>
            <a:off x="4724400" y="1428750"/>
            <a:ext cx="4038600" cy="3238500"/>
            <a:chOff x="0" y="0"/>
            <a:chExt cx="4038600" cy="3238500"/>
          </a:xfrm>
        </p:grpSpPr>
        <p:sp>
          <p:nvSpPr>
            <p:cNvPr id="301" name="Google Shape;301;p26"/>
            <p:cNvSpPr/>
            <p:nvPr/>
          </p:nvSpPr>
          <p:spPr>
            <a:xfrm>
              <a:off x="0" y="0"/>
              <a:ext cx="4038600" cy="3238500"/>
            </a:xfrm>
            <a:prstGeom prst="roundRect">
              <a:avLst>
                <a:gd fmla="val 235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6"/>
            <p:cNvSpPr txBox="1"/>
            <p:nvPr/>
          </p:nvSpPr>
          <p:spPr>
            <a:xfrm>
              <a:off x="228600" y="228600"/>
              <a:ext cx="3581400" cy="27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97316"/>
                  </a:solidFill>
                  <a:latin typeface="Inter"/>
                  <a:ea typeface="Inter"/>
                  <a:cs typeface="Inter"/>
                  <a:sym typeface="Inter"/>
                </a:rPr>
                <a:t>SPECIFICATION</a:t>
              </a:r>
              <a:endParaRPr b="1" sz="800">
                <a:solidFill>
                  <a:srgbClr val="F97316"/>
                </a:solidFill>
                <a:latin typeface="Inter"/>
                <a:ea typeface="Inter"/>
                <a:cs typeface="Inter"/>
                <a:sym typeface="Inter"/>
              </a:endParaRPr>
            </a:p>
            <a:p>
              <a:pPr indent="0" lvl="0" marL="0" rtl="0" algn="l">
                <a:spcBef>
                  <a:spcPts val="300"/>
                </a:spcBef>
                <a:spcAft>
                  <a:spcPts val="0"/>
                </a:spcAft>
                <a:buNone/>
              </a:pPr>
              <a:r>
                <a:rPr b="1" lang="en" sz="1400">
                  <a:solidFill>
                    <a:srgbClr val="111827"/>
                  </a:solidFill>
                  <a:latin typeface="Inter"/>
                  <a:ea typeface="Inter"/>
                  <a:cs typeface="Inter"/>
                  <a:sym typeface="Inter"/>
                </a:rPr>
                <a:t>Markdown-Based Configurations</a:t>
              </a:r>
              <a:endParaRPr b="1" sz="1400">
                <a:solidFill>
                  <a:srgbClr val="111827"/>
                </a:solidFill>
                <a:latin typeface="Inter"/>
                <a:ea typeface="Inter"/>
                <a:cs typeface="Inter"/>
                <a:sym typeface="Inter"/>
              </a:endParaRPr>
            </a:p>
            <a:p>
              <a:pPr indent="0" lvl="0" marL="0" rtl="0" algn="l">
                <a:spcBef>
                  <a:spcPts val="900"/>
                </a:spcBef>
                <a:spcAft>
                  <a:spcPts val="0"/>
                </a:spcAft>
                <a:buNone/>
              </a:pPr>
              <a:r>
                <a:rPr b="0" lang="en" sz="1050">
                  <a:solidFill>
                    <a:srgbClr val="4B5563"/>
                  </a:solidFill>
                  <a:latin typeface="Inter"/>
                  <a:ea typeface="Inter"/>
                  <a:cs typeface="Inter"/>
                  <a:sym typeface="Inter"/>
                </a:rPr>
                <a:t>Skills are strictly written in pure </a:t>
              </a:r>
              <a:r>
                <a:rPr b="1" lang="en" sz="1050">
                  <a:solidFill>
                    <a:srgbClr val="111827"/>
                  </a:solidFill>
                  <a:latin typeface="Inter"/>
                  <a:ea typeface="Inter"/>
                  <a:cs typeface="Inter"/>
                  <a:sym typeface="Inter"/>
                </a:rPr>
                <a:t>Markdown (.md)</a:t>
              </a:r>
              <a:r>
                <a:rPr b="0" lang="en" sz="1050">
                  <a:solidFill>
                    <a:srgbClr val="4B5563"/>
                  </a:solidFill>
                  <a:latin typeface="Inter"/>
                  <a:ea typeface="Inter"/>
                  <a:cs typeface="Inter"/>
                  <a:sym typeface="Inter"/>
                </a:rPr>
                <a:t> format. This ensures they are perfectly parsed by both LLMs and standard developer environments.</a:t>
              </a:r>
              <a:endParaRPr b="0" sz="1050">
                <a:solidFill>
                  <a:srgbClr val="4B5563"/>
                </a:solidFill>
                <a:latin typeface="Inter"/>
                <a:ea typeface="Inter"/>
                <a:cs typeface="Inter"/>
                <a:sym typeface="Inter"/>
              </a:endParaRPr>
            </a:p>
            <a:p>
              <a:pPr indent="0" lvl="0" marL="0" rtl="0" algn="l">
                <a:spcBef>
                  <a:spcPts val="750"/>
                </a:spcBef>
                <a:spcAft>
                  <a:spcPts val="0"/>
                </a:spcAft>
                <a:buNone/>
              </a:pPr>
              <a:r>
                <a:rPr b="1" lang="en" sz="900">
                  <a:solidFill>
                    <a:srgbClr val="9333EA"/>
                  </a:solidFill>
                  <a:highlight>
                    <a:srgbClr val="F3F4F6"/>
                  </a:highlight>
                  <a:latin typeface="Courier New"/>
                  <a:ea typeface="Courier New"/>
                  <a:cs typeface="Courier New"/>
                  <a:sym typeface="Courier New"/>
                </a:rPr>
                <a:t># skill_format.md</a:t>
              </a:r>
              <a:endParaRPr b="1" sz="900">
                <a:solidFill>
                  <a:srgbClr val="9333EA"/>
                </a:solidFill>
                <a:highlight>
                  <a:srgbClr val="F3F4F6"/>
                </a:highlight>
                <a:latin typeface="Courier New"/>
                <a:ea typeface="Courier New"/>
                <a:cs typeface="Courier New"/>
                <a:sym typeface="Courier New"/>
              </a:endParaRPr>
            </a:p>
            <a:p>
              <a:pPr indent="0" lvl="0" marL="0" rtl="0" algn="l">
                <a:spcBef>
                  <a:spcPts val="300"/>
                </a:spcBef>
                <a:spcAft>
                  <a:spcPts val="0"/>
                </a:spcAft>
                <a:buNone/>
              </a:pPr>
              <a:r>
                <a:rPr lang="en" sz="900">
                  <a:solidFill>
                    <a:srgbClr val="1E40AF"/>
                  </a:solidFill>
                  <a:highlight>
                    <a:srgbClr val="F3F4F6"/>
                  </a:highlight>
                  <a:latin typeface="Courier New"/>
                  <a:ea typeface="Courier New"/>
                  <a:cs typeface="Courier New"/>
                  <a:sym typeface="Courier New"/>
                </a:rPr>
                <a:t>---</a:t>
              </a:r>
              <a:endParaRPr sz="900">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1E40AF"/>
                  </a:solidFill>
                  <a:highlight>
                    <a:srgbClr val="F3F4F6"/>
                  </a:highlight>
                  <a:latin typeface="Courier New"/>
                  <a:ea typeface="Courier New"/>
                  <a:cs typeface="Courier New"/>
                  <a:sym typeface="Courier New"/>
                </a:rPr>
                <a:t>name: text_structured_parser</a:t>
              </a:r>
              <a:endParaRPr sz="900">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1E40AF"/>
                  </a:solidFill>
                  <a:highlight>
                    <a:srgbClr val="F3F4F6"/>
                  </a:highlight>
                  <a:latin typeface="Courier New"/>
                  <a:ea typeface="Courier New"/>
                  <a:cs typeface="Courier New"/>
                  <a:sym typeface="Courier New"/>
                </a:rPr>
                <a:t>type: deterministic_utility</a:t>
              </a:r>
              <a:endParaRPr sz="900">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1E40AF"/>
                  </a:solidFill>
                  <a:highlight>
                    <a:srgbClr val="F3F4F6"/>
                  </a:highlight>
                  <a:latin typeface="Courier New"/>
                  <a:ea typeface="Courier New"/>
                  <a:cs typeface="Courier New"/>
                  <a:sym typeface="Courier New"/>
                </a:rPr>
                <a:t>---</a:t>
              </a:r>
              <a:endParaRPr sz="900">
                <a:solidFill>
                  <a:srgbClr val="1E40AF"/>
                </a:solidFill>
                <a:highlight>
                  <a:srgbClr val="F3F4F6"/>
                </a:highlight>
                <a:latin typeface="Courier New"/>
                <a:ea typeface="Courier New"/>
                <a:cs typeface="Courier New"/>
                <a:sym typeface="Courier New"/>
              </a:endParaRPr>
            </a:p>
            <a:p>
              <a:pPr indent="0" lvl="0" marL="0" rtl="0" algn="l">
                <a:spcBef>
                  <a:spcPts val="300"/>
                </a:spcBef>
                <a:spcAft>
                  <a:spcPts val="0"/>
                </a:spcAft>
                <a:buNone/>
              </a:pPr>
              <a:r>
                <a:rPr lang="en" sz="900">
                  <a:solidFill>
                    <a:srgbClr val="1E40AF"/>
                  </a:solidFill>
                  <a:highlight>
                    <a:srgbClr val="F3F4F6"/>
                  </a:highlight>
                  <a:latin typeface="Courier New"/>
                  <a:ea typeface="Courier New"/>
                  <a:cs typeface="Courier New"/>
                  <a:sym typeface="Courier New"/>
                </a:rPr>
                <a:t>## 1. Objectives</a:t>
              </a:r>
              <a:endParaRPr sz="900">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1E40AF"/>
                  </a:solidFill>
                  <a:highlight>
                    <a:srgbClr val="F3F4F6"/>
                  </a:highlight>
                  <a:latin typeface="Courier New"/>
                  <a:ea typeface="Courier New"/>
                  <a:cs typeface="Courier New"/>
                  <a:sym typeface="Courier New"/>
                </a:rPr>
                <a:t>- Extract parameters cleanly</a:t>
              </a:r>
              <a:endParaRPr sz="900">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1E40AF"/>
                  </a:solidFill>
                  <a:highlight>
                    <a:srgbClr val="F3F4F6"/>
                  </a:highlight>
                  <a:latin typeface="Courier New"/>
                  <a:ea typeface="Courier New"/>
                  <a:cs typeface="Courier New"/>
                  <a:sym typeface="Courier New"/>
                </a:rPr>
                <a:t>- Output pure JSON schemas</a:t>
              </a:r>
              <a:endParaRPr sz="900">
                <a:solidFill>
                  <a:srgbClr val="1E40AF"/>
                </a:solidFill>
                <a:highlight>
                  <a:srgbClr val="F3F4F6"/>
                </a:highlight>
                <a:latin typeface="Courier New"/>
                <a:ea typeface="Courier New"/>
                <a:cs typeface="Courier New"/>
                <a:sym typeface="Courier New"/>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06" name="Shape 306"/>
        <p:cNvGrpSpPr/>
        <p:nvPr/>
      </p:nvGrpSpPr>
      <p:grpSpPr>
        <a:xfrm>
          <a:off x="0" y="0"/>
          <a:ext cx="0" cy="0"/>
          <a:chOff x="0" y="0"/>
          <a:chExt cx="0" cy="0"/>
        </a:xfrm>
      </p:grpSpPr>
      <p:grpSp>
        <p:nvGrpSpPr>
          <p:cNvPr id="307" name="Google Shape;307;p27"/>
          <p:cNvGrpSpPr/>
          <p:nvPr/>
        </p:nvGrpSpPr>
        <p:grpSpPr>
          <a:xfrm>
            <a:off x="8458200" y="381000"/>
            <a:ext cx="304800" cy="304800"/>
            <a:chOff x="0" y="0"/>
            <a:chExt cx="304800" cy="304800"/>
          </a:xfrm>
        </p:grpSpPr>
        <p:sp>
          <p:nvSpPr>
            <p:cNvPr id="308" name="Google Shape;308;p27"/>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7"/>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7"/>
            <p:cNvSpPr/>
            <p:nvPr/>
          </p:nvSpPr>
          <p:spPr>
            <a:xfrm>
              <a:off x="38100" y="38100"/>
              <a:ext cx="228600" cy="228600"/>
            </a:xfrm>
            <a:custGeom>
              <a:rect b="b" l="l" r="r" t="t"/>
              <a:pathLst>
                <a:path extrusionOk="0"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11" name="Google Shape;311;p27"/>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7"/>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07 - State &amp; Memory Synchronization</a:t>
            </a:r>
            <a:endParaRPr b="1" sz="2400">
              <a:solidFill>
                <a:srgbClr val="111827"/>
              </a:solidFill>
              <a:latin typeface="Inter"/>
              <a:ea typeface="Inter"/>
              <a:cs typeface="Inter"/>
              <a:sym typeface="Inter"/>
            </a:endParaRPr>
          </a:p>
          <a:p>
            <a:pPr indent="0" lvl="0" marL="0" rtl="0" algn="l">
              <a:spcBef>
                <a:spcPts val="400"/>
              </a:spcBef>
              <a:spcAft>
                <a:spcPts val="0"/>
              </a:spcAft>
              <a:buNone/>
            </a:pPr>
            <a:r>
              <a:rPr b="0" lang="en" sz="1200">
                <a:solidFill>
                  <a:srgbClr val="2563EB"/>
                </a:solidFill>
                <a:latin typeface="Inter Medium"/>
                <a:ea typeface="Inter Medium"/>
                <a:cs typeface="Inter Medium"/>
                <a:sym typeface="Inter Medium"/>
              </a:rPr>
              <a:t>Ensuring Agent Continuity through Durative Persistence and Scratchpad Updates</a:t>
            </a:r>
            <a:endParaRPr b="0" sz="1200">
              <a:solidFill>
                <a:srgbClr val="2563EB"/>
              </a:solidFill>
              <a:latin typeface="Inter Medium"/>
              <a:ea typeface="Inter Medium"/>
              <a:cs typeface="Inter Medium"/>
              <a:sym typeface="Inter Medium"/>
            </a:endParaRPr>
          </a:p>
        </p:txBody>
      </p:sp>
      <p:grpSp>
        <p:nvGrpSpPr>
          <p:cNvPr id="313" name="Google Shape;313;p27"/>
          <p:cNvGrpSpPr/>
          <p:nvPr/>
        </p:nvGrpSpPr>
        <p:grpSpPr>
          <a:xfrm>
            <a:off x="381000" y="1333500"/>
            <a:ext cx="2476500" cy="3333900"/>
            <a:chOff x="0" y="0"/>
            <a:chExt cx="2476500" cy="3333900"/>
          </a:xfrm>
        </p:grpSpPr>
        <p:sp>
          <p:nvSpPr>
            <p:cNvPr id="314" name="Google Shape;314;p27"/>
            <p:cNvSpPr/>
            <p:nvPr/>
          </p:nvSpPr>
          <p:spPr>
            <a:xfrm>
              <a:off x="0" y="0"/>
              <a:ext cx="2476500" cy="3333900"/>
            </a:xfrm>
            <a:prstGeom prst="roundRect">
              <a:avLst>
                <a:gd fmla="val 3076"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7"/>
            <p:cNvSpPr txBox="1"/>
            <p:nvPr/>
          </p:nvSpPr>
          <p:spPr>
            <a:xfrm>
              <a:off x="190500" y="190500"/>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59E0B"/>
                  </a:solidFill>
                  <a:latin typeface="Inter"/>
                  <a:ea typeface="Inter"/>
                  <a:cs typeface="Inter"/>
                  <a:sym typeface="Inter"/>
                </a:rPr>
                <a:t>07 / STATE PERSISTENCE</a:t>
              </a:r>
              <a:endParaRPr b="1" sz="800">
                <a:solidFill>
                  <a:srgbClr val="F59E0B"/>
                </a:solidFill>
                <a:latin typeface="Inter"/>
                <a:ea typeface="Inter"/>
                <a:cs typeface="Inter"/>
                <a:sym typeface="Inter"/>
              </a:endParaRPr>
            </a:p>
            <a:p>
              <a:pPr indent="0" lvl="0" marL="0" rtl="0" algn="l">
                <a:spcBef>
                  <a:spcPts val="600"/>
                </a:spcBef>
                <a:spcAft>
                  <a:spcPts val="0"/>
                </a:spcAft>
                <a:buNone/>
              </a:pPr>
              <a:r>
                <a:rPr b="1" lang="en" sz="1300">
                  <a:solidFill>
                    <a:srgbClr val="111827"/>
                  </a:solidFill>
                  <a:latin typeface="Inter"/>
                  <a:ea typeface="Inter"/>
                  <a:cs typeface="Inter"/>
                  <a:sym typeface="Inter"/>
                </a:rPr>
                <a:t>Execution Tracking</a:t>
              </a:r>
              <a:endParaRPr b="1" sz="1300">
                <a:solidFill>
                  <a:srgbClr val="111827"/>
                </a:solidFill>
                <a:latin typeface="Inter"/>
                <a:ea typeface="Inter"/>
                <a:cs typeface="Inter"/>
                <a:sym typeface="Inter"/>
              </a:endParaRPr>
            </a:p>
            <a:p>
              <a:pPr indent="0" lvl="0" marL="0" rtl="0" algn="l">
                <a:spcBef>
                  <a:spcPts val="750"/>
                </a:spcBef>
                <a:spcAft>
                  <a:spcPts val="0"/>
                </a:spcAft>
                <a:buNone/>
              </a:pPr>
              <a:r>
                <a:rPr b="0" lang="en" sz="1000">
                  <a:solidFill>
                    <a:srgbClr val="4B5563"/>
                  </a:solidFill>
                  <a:latin typeface="Inter"/>
                  <a:ea typeface="Inter"/>
                  <a:cs typeface="Inter"/>
                  <a:sym typeface="Inter"/>
                </a:rPr>
                <a:t>The orchestrator commits current execution variables to the database to ensure state recovery and durability.</a:t>
              </a:r>
              <a:endParaRPr b="0" sz="1000">
                <a:solidFill>
                  <a:srgbClr val="4B5563"/>
                </a:solidFill>
                <a:latin typeface="Inter"/>
                <a:ea typeface="Inter"/>
                <a:cs typeface="Inter"/>
                <a:sym typeface="Inter"/>
              </a:endParaRPr>
            </a:p>
            <a:p>
              <a:pPr indent="0" lvl="0" marL="0" rtl="0" algn="l">
                <a:spcBef>
                  <a:spcPts val="900"/>
                </a:spcBef>
                <a:spcAft>
                  <a:spcPts val="0"/>
                </a:spcAft>
                <a:buNone/>
              </a:pPr>
              <a:r>
                <a:rPr b="0" lang="en" sz="1000">
                  <a:solidFill>
                    <a:srgbClr val="2563EB"/>
                  </a:solidFill>
                  <a:latin typeface="Inter SemiBold"/>
                  <a:ea typeface="Inter SemiBold"/>
                  <a:cs typeface="Inter SemiBold"/>
                  <a:sym typeface="Inter SemiBold"/>
                </a:rPr>
                <a:t>State Attributes Saved:</a:t>
              </a:r>
              <a:endParaRPr b="0" sz="1000">
                <a:solidFill>
                  <a:srgbClr val="2563EB"/>
                </a:solidFill>
                <a:latin typeface="Inter SemiBold"/>
                <a:ea typeface="Inter SemiBold"/>
                <a:cs typeface="Inter SemiBold"/>
                <a:sym typeface="Inter SemiBold"/>
              </a:endParaRPr>
            </a:p>
            <a:p>
              <a:pPr indent="-292100" lvl="0" marL="457200" rtl="0" algn="l">
                <a:spcBef>
                  <a:spcPts val="900"/>
                </a:spcBef>
                <a:spcAft>
                  <a:spcPts val="0"/>
                </a:spcAft>
                <a:buClr>
                  <a:srgbClr val="4B5563"/>
                </a:buClr>
                <a:buSzPts val="1000"/>
                <a:buFont typeface="Inter"/>
                <a:buChar char="●"/>
              </a:pPr>
              <a:r>
                <a:rPr b="0" lang="en" sz="1000">
                  <a:solidFill>
                    <a:srgbClr val="2563EB"/>
                  </a:solidFill>
                  <a:latin typeface="Inter SemiBold"/>
                  <a:ea typeface="Inter SemiBold"/>
                  <a:cs typeface="Inter SemiBold"/>
                  <a:sym typeface="Inter SemiBold"/>
                </a:rPr>
                <a:t>session_id:</a:t>
              </a:r>
              <a:r>
                <a:rPr b="0" lang="en" sz="1000">
                  <a:solidFill>
                    <a:srgbClr val="4B5563"/>
                  </a:solidFill>
                  <a:latin typeface="Inter"/>
                  <a:ea typeface="Inter"/>
                  <a:cs typeface="Inter"/>
                  <a:sym typeface="Inter"/>
                </a:rPr>
                <a:t> active_run</a:t>
              </a:r>
              <a:endParaRPr b="0" sz="1000">
                <a:solidFill>
                  <a:srgbClr val="4B5563"/>
                </a:solidFill>
                <a:latin typeface="Inter"/>
                <a:ea typeface="Inter"/>
                <a:cs typeface="Inter"/>
                <a:sym typeface="Inter"/>
              </a:endParaRPr>
            </a:p>
            <a:p>
              <a:pPr indent="-292100" lvl="0" marL="457200" rtl="0" algn="l">
                <a:spcBef>
                  <a:spcPts val="900"/>
                </a:spcBef>
                <a:spcAft>
                  <a:spcPts val="0"/>
                </a:spcAft>
                <a:buClr>
                  <a:srgbClr val="4B5563"/>
                </a:buClr>
                <a:buSzPts val="1000"/>
                <a:buFont typeface="Inter"/>
                <a:buChar char="●"/>
              </a:pPr>
              <a:r>
                <a:rPr b="0" lang="en" sz="1000">
                  <a:solidFill>
                    <a:srgbClr val="2563EB"/>
                  </a:solidFill>
                  <a:latin typeface="Inter SemiBold"/>
                  <a:ea typeface="Inter SemiBold"/>
                  <a:cs typeface="Inter SemiBold"/>
                  <a:sym typeface="Inter SemiBold"/>
                </a:rPr>
                <a:t>step_index:</a:t>
              </a:r>
              <a:r>
                <a:rPr b="0" lang="en" sz="1000">
                  <a:solidFill>
                    <a:srgbClr val="4B5563"/>
                  </a:solidFill>
                  <a:latin typeface="Inter"/>
                  <a:ea typeface="Inter"/>
                  <a:cs typeface="Inter"/>
                  <a:sym typeface="Inter"/>
                </a:rPr>
                <a:t> 07_sync</a:t>
              </a:r>
              <a:endParaRPr b="0" sz="1000">
                <a:solidFill>
                  <a:srgbClr val="4B5563"/>
                </a:solidFill>
                <a:latin typeface="Inter"/>
                <a:ea typeface="Inter"/>
                <a:cs typeface="Inter"/>
                <a:sym typeface="Inter"/>
              </a:endParaRPr>
            </a:p>
            <a:p>
              <a:pPr indent="-292100" lvl="0" marL="457200" rtl="0" algn="l">
                <a:spcBef>
                  <a:spcPts val="900"/>
                </a:spcBef>
                <a:spcAft>
                  <a:spcPts val="900"/>
                </a:spcAft>
                <a:buClr>
                  <a:srgbClr val="4B5563"/>
                </a:buClr>
                <a:buSzPts val="1000"/>
                <a:buFont typeface="Inter"/>
                <a:buChar char="●"/>
              </a:pPr>
              <a:r>
                <a:rPr b="0" lang="en" sz="1000">
                  <a:solidFill>
                    <a:srgbClr val="2563EB"/>
                  </a:solidFill>
                  <a:latin typeface="Inter SemiBold"/>
                  <a:ea typeface="Inter SemiBold"/>
                  <a:cs typeface="Inter SemiBold"/>
                  <a:sym typeface="Inter SemiBold"/>
                </a:rPr>
                <a:t>agent_status:</a:t>
              </a:r>
              <a:r>
                <a:rPr b="0" lang="en" sz="1000">
                  <a:solidFill>
                    <a:srgbClr val="4B5563"/>
                  </a:solidFill>
                  <a:latin typeface="Inter"/>
                  <a:ea typeface="Inter"/>
                  <a:cs typeface="Inter"/>
                  <a:sym typeface="Inter"/>
                </a:rPr>
                <a:t> persisting</a:t>
              </a:r>
              <a:endParaRPr b="0" sz="1000">
                <a:solidFill>
                  <a:srgbClr val="4B5563"/>
                </a:solidFill>
                <a:latin typeface="Inter"/>
                <a:ea typeface="Inter"/>
                <a:cs typeface="Inter"/>
                <a:sym typeface="Inter"/>
              </a:endParaRPr>
            </a:p>
          </p:txBody>
        </p:sp>
      </p:grpSp>
      <p:grpSp>
        <p:nvGrpSpPr>
          <p:cNvPr id="316" name="Google Shape;316;p27"/>
          <p:cNvGrpSpPr/>
          <p:nvPr/>
        </p:nvGrpSpPr>
        <p:grpSpPr>
          <a:xfrm>
            <a:off x="3048000" y="2724150"/>
            <a:ext cx="238200" cy="76200"/>
            <a:chOff x="0" y="-38100"/>
            <a:chExt cx="238200" cy="76200"/>
          </a:xfrm>
        </p:grpSpPr>
        <p:sp>
          <p:nvSpPr>
            <p:cNvPr id="317" name="Google Shape;317;p27"/>
            <p:cNvSpPr/>
            <p:nvPr/>
          </p:nvSpPr>
          <p:spPr>
            <a:xfrm>
              <a:off x="0" y="0"/>
              <a:ext cx="190500" cy="0"/>
            </a:xfrm>
            <a:custGeom>
              <a:rect b="b" l="l" r="r" t="t"/>
              <a:pathLst>
                <a:path extrusionOk="0" h="120000" w="120000">
                  <a:moveTo>
                    <a:pt x="0" y="0"/>
                  </a:moveTo>
                  <a:lnTo>
                    <a:pt x="120000" y="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7"/>
            <p:cNvSpPr/>
            <p:nvPr/>
          </p:nvSpPr>
          <p:spPr>
            <a:xfrm>
              <a:off x="190500" y="-38100"/>
              <a:ext cx="47700" cy="76200"/>
            </a:xfrm>
            <a:custGeom>
              <a:rect b="b" l="l" r="r" t="t"/>
              <a:pathLst>
                <a:path extrusionOk="0" h="120000" w="120000">
                  <a:moveTo>
                    <a:pt x="0" y="0"/>
                  </a:moveTo>
                  <a:lnTo>
                    <a:pt x="120000" y="6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19" name="Google Shape;319;p27"/>
          <p:cNvGrpSpPr/>
          <p:nvPr/>
        </p:nvGrpSpPr>
        <p:grpSpPr>
          <a:xfrm>
            <a:off x="3476625" y="1333500"/>
            <a:ext cx="2476500" cy="3333900"/>
            <a:chOff x="0" y="0"/>
            <a:chExt cx="2476500" cy="3333900"/>
          </a:xfrm>
        </p:grpSpPr>
        <p:sp>
          <p:nvSpPr>
            <p:cNvPr id="320" name="Google Shape;320;p27"/>
            <p:cNvSpPr/>
            <p:nvPr/>
          </p:nvSpPr>
          <p:spPr>
            <a:xfrm>
              <a:off x="0" y="0"/>
              <a:ext cx="2476500" cy="3333900"/>
            </a:xfrm>
            <a:prstGeom prst="roundRect">
              <a:avLst>
                <a:gd fmla="val 3076"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7"/>
            <p:cNvSpPr txBox="1"/>
            <p:nvPr/>
          </p:nvSpPr>
          <p:spPr>
            <a:xfrm>
              <a:off x="190500" y="190500"/>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59E0B"/>
                  </a:solidFill>
                  <a:latin typeface="Inter"/>
                  <a:ea typeface="Inter"/>
                  <a:cs typeface="Inter"/>
                  <a:sym typeface="Inter"/>
                </a:rPr>
                <a:t>07 / SCRATCHPAD UPDATES</a:t>
              </a:r>
              <a:endParaRPr b="1" sz="800">
                <a:solidFill>
                  <a:srgbClr val="F59E0B"/>
                </a:solidFill>
                <a:latin typeface="Inter"/>
                <a:ea typeface="Inter"/>
                <a:cs typeface="Inter"/>
                <a:sym typeface="Inter"/>
              </a:endParaRPr>
            </a:p>
            <a:p>
              <a:pPr indent="0" lvl="0" marL="0" rtl="0" algn="l">
                <a:spcBef>
                  <a:spcPts val="600"/>
                </a:spcBef>
                <a:spcAft>
                  <a:spcPts val="0"/>
                </a:spcAft>
                <a:buNone/>
              </a:pPr>
              <a:r>
                <a:rPr b="1" lang="en" sz="1300">
                  <a:solidFill>
                    <a:srgbClr val="111827"/>
                  </a:solidFill>
                  <a:latin typeface="Inter"/>
                  <a:ea typeface="Inter"/>
                  <a:cs typeface="Inter"/>
                  <a:sym typeface="Inter"/>
                </a:rPr>
                <a:t>Durative Context</a:t>
              </a:r>
              <a:endParaRPr b="1" sz="1300">
                <a:solidFill>
                  <a:srgbClr val="111827"/>
                </a:solidFill>
                <a:latin typeface="Inter"/>
                <a:ea typeface="Inter"/>
                <a:cs typeface="Inter"/>
                <a:sym typeface="Inter"/>
              </a:endParaRPr>
            </a:p>
            <a:p>
              <a:pPr indent="0" lvl="0" marL="0" rtl="0" algn="l">
                <a:spcBef>
                  <a:spcPts val="750"/>
                </a:spcBef>
                <a:spcAft>
                  <a:spcPts val="0"/>
                </a:spcAft>
                <a:buNone/>
              </a:pPr>
              <a:r>
                <a:rPr b="0" lang="en" sz="1000">
                  <a:solidFill>
                    <a:srgbClr val="4B5563"/>
                  </a:solidFill>
                  <a:latin typeface="Inter"/>
                  <a:ea typeface="Inter"/>
                  <a:cs typeface="Inter"/>
                  <a:sym typeface="Inter"/>
                </a:rPr>
                <a:t>Updates the system scratchpad dynamically, merging real-time outcomes back into the context window.</a:t>
              </a:r>
              <a:endParaRPr b="0" sz="1000">
                <a:solidFill>
                  <a:srgbClr val="4B5563"/>
                </a:solidFill>
                <a:latin typeface="Inter"/>
                <a:ea typeface="Inter"/>
                <a:cs typeface="Inter"/>
                <a:sym typeface="Inter"/>
              </a:endParaRPr>
            </a:p>
            <a:p>
              <a:pPr indent="0" lvl="0" marL="0" rtl="0" algn="l">
                <a:spcBef>
                  <a:spcPts val="900"/>
                </a:spcBef>
                <a:spcAft>
                  <a:spcPts val="0"/>
                </a:spcAft>
                <a:buNone/>
              </a:pPr>
              <a:r>
                <a:rPr b="0" lang="en" sz="1000">
                  <a:solidFill>
                    <a:srgbClr val="2563EB"/>
                  </a:solidFill>
                  <a:latin typeface="Inter SemiBold"/>
                  <a:ea typeface="Inter SemiBold"/>
                  <a:cs typeface="Inter SemiBold"/>
                  <a:sym typeface="Inter SemiBold"/>
                </a:rPr>
                <a:t>Latest Commit Payload:</a:t>
              </a:r>
              <a:endParaRPr b="0" sz="1000">
                <a:solidFill>
                  <a:srgbClr val="2563EB"/>
                </a:solidFill>
                <a:latin typeface="Inter SemiBold"/>
                <a:ea typeface="Inter SemiBold"/>
                <a:cs typeface="Inter SemiBold"/>
                <a:sym typeface="Inter SemiBold"/>
              </a:endParaRPr>
            </a:p>
            <a:p>
              <a:pPr indent="0" lvl="0" marL="0" rtl="0" algn="l">
                <a:spcBef>
                  <a:spcPts val="450"/>
                </a:spcBef>
                <a:spcAft>
                  <a:spcPts val="0"/>
                </a:spcAft>
                <a:buNone/>
              </a:pPr>
              <a:r>
                <a:rPr b="1" lang="en" sz="950">
                  <a:solidFill>
                    <a:srgbClr val="9333EA"/>
                  </a:solidFill>
                  <a:highlight>
                    <a:srgbClr val="FFFFFF"/>
                  </a:highlight>
                  <a:latin typeface="Courier New"/>
                  <a:ea typeface="Courier New"/>
                  <a:cs typeface="Courier New"/>
                  <a:sym typeface="Courier New"/>
                </a:rPr>
                <a:t>// Memory scratchpad</a:t>
              </a:r>
              <a:endParaRPr b="1" sz="950">
                <a:solidFill>
                  <a:srgbClr val="9333EA"/>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scratchpad.update({</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  state: "java_spring",</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  db_changes: true</a:t>
              </a:r>
              <a:endParaRPr b="1" sz="950">
                <a:solidFill>
                  <a:srgbClr val="1E40A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1E40AF"/>
                  </a:solidFill>
                  <a:highlight>
                    <a:srgbClr val="FFFFFF"/>
                  </a:highlight>
                  <a:latin typeface="Courier New"/>
                  <a:ea typeface="Courier New"/>
                  <a:cs typeface="Courier New"/>
                  <a:sym typeface="Courier New"/>
                </a:rPr>
                <a:t>});</a:t>
              </a:r>
              <a:endParaRPr b="1" sz="950">
                <a:solidFill>
                  <a:srgbClr val="1E40AF"/>
                </a:solidFill>
                <a:highlight>
                  <a:srgbClr val="FFFFFF"/>
                </a:highlight>
                <a:latin typeface="Courier New"/>
                <a:ea typeface="Courier New"/>
                <a:cs typeface="Courier New"/>
                <a:sym typeface="Courier New"/>
              </a:endParaRPr>
            </a:p>
          </p:txBody>
        </p:sp>
      </p:grpSp>
      <p:grpSp>
        <p:nvGrpSpPr>
          <p:cNvPr id="322" name="Google Shape;322;p27"/>
          <p:cNvGrpSpPr/>
          <p:nvPr/>
        </p:nvGrpSpPr>
        <p:grpSpPr>
          <a:xfrm>
            <a:off x="6143625" y="2724150"/>
            <a:ext cx="238200" cy="76200"/>
            <a:chOff x="0" y="-38100"/>
            <a:chExt cx="238200" cy="76200"/>
          </a:xfrm>
        </p:grpSpPr>
        <p:sp>
          <p:nvSpPr>
            <p:cNvPr id="323" name="Google Shape;323;p27"/>
            <p:cNvSpPr/>
            <p:nvPr/>
          </p:nvSpPr>
          <p:spPr>
            <a:xfrm>
              <a:off x="0" y="0"/>
              <a:ext cx="190500" cy="0"/>
            </a:xfrm>
            <a:custGeom>
              <a:rect b="b" l="l" r="r" t="t"/>
              <a:pathLst>
                <a:path extrusionOk="0" h="120000" w="120000">
                  <a:moveTo>
                    <a:pt x="0" y="0"/>
                  </a:moveTo>
                  <a:lnTo>
                    <a:pt x="120000" y="0"/>
                  </a:lnTo>
                </a:path>
              </a:pathLst>
            </a:custGeom>
            <a:solidFill>
              <a:srgbClr val="000000">
                <a:alpha val="0"/>
              </a:srgbClr>
            </a:solidFill>
            <a:ln cap="rnd"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7"/>
            <p:cNvSpPr/>
            <p:nvPr/>
          </p:nvSpPr>
          <p:spPr>
            <a:xfrm>
              <a:off x="190500" y="-38100"/>
              <a:ext cx="47700" cy="76200"/>
            </a:xfrm>
            <a:custGeom>
              <a:rect b="b" l="l" r="r" t="t"/>
              <a:pathLst>
                <a:path extrusionOk="0" h="120000" w="120000">
                  <a:moveTo>
                    <a:pt x="0" y="0"/>
                  </a:moveTo>
                  <a:lnTo>
                    <a:pt x="120000" y="6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25" name="Google Shape;325;p27"/>
          <p:cNvGrpSpPr/>
          <p:nvPr/>
        </p:nvGrpSpPr>
        <p:grpSpPr>
          <a:xfrm>
            <a:off x="6572250" y="1333500"/>
            <a:ext cx="2190900" cy="3333900"/>
            <a:chOff x="0" y="0"/>
            <a:chExt cx="2190900" cy="3333900"/>
          </a:xfrm>
        </p:grpSpPr>
        <p:sp>
          <p:nvSpPr>
            <p:cNvPr id="326" name="Google Shape;326;p27"/>
            <p:cNvSpPr/>
            <p:nvPr/>
          </p:nvSpPr>
          <p:spPr>
            <a:xfrm>
              <a:off x="0" y="0"/>
              <a:ext cx="2190900" cy="3333900"/>
            </a:xfrm>
            <a:prstGeom prst="roundRect">
              <a:avLst>
                <a:gd fmla="val 3478"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7"/>
            <p:cNvSpPr txBox="1"/>
            <p:nvPr/>
          </p:nvSpPr>
          <p:spPr>
            <a:xfrm>
              <a:off x="190500" y="190500"/>
              <a:ext cx="18096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2563EB"/>
                  </a:solidFill>
                  <a:latin typeface="Inter"/>
                  <a:ea typeface="Inter"/>
                  <a:cs typeface="Inter"/>
                  <a:sym typeface="Inter"/>
                </a:rPr>
                <a:t>07 / SYNCHRONIZATION</a:t>
              </a:r>
              <a:endParaRPr b="1" sz="800">
                <a:solidFill>
                  <a:srgbClr val="2563EB"/>
                </a:solidFill>
                <a:latin typeface="Inter"/>
                <a:ea typeface="Inter"/>
                <a:cs typeface="Inter"/>
                <a:sym typeface="Inter"/>
              </a:endParaRPr>
            </a:p>
            <a:p>
              <a:pPr indent="0" lvl="0" marL="0" rtl="0" algn="l">
                <a:spcBef>
                  <a:spcPts val="600"/>
                </a:spcBef>
                <a:spcAft>
                  <a:spcPts val="0"/>
                </a:spcAft>
                <a:buNone/>
              </a:pPr>
              <a:r>
                <a:rPr b="1" lang="en" sz="1300">
                  <a:solidFill>
                    <a:srgbClr val="111827"/>
                  </a:solidFill>
                  <a:latin typeface="Inter"/>
                  <a:ea typeface="Inter"/>
                  <a:cs typeface="Inter"/>
                  <a:sym typeface="Inter"/>
                </a:rPr>
                <a:t>Filesystem Commit</a:t>
              </a:r>
              <a:endParaRPr b="1" sz="1300">
                <a:solidFill>
                  <a:srgbClr val="111827"/>
                </a:solidFill>
                <a:latin typeface="Inter"/>
                <a:ea typeface="Inter"/>
                <a:cs typeface="Inter"/>
                <a:sym typeface="Inter"/>
              </a:endParaRPr>
            </a:p>
            <a:p>
              <a:pPr indent="0" lvl="0" marL="0" rtl="0" algn="l">
                <a:spcBef>
                  <a:spcPts val="750"/>
                </a:spcBef>
                <a:spcAft>
                  <a:spcPts val="0"/>
                </a:spcAft>
                <a:buNone/>
              </a:pPr>
              <a:r>
                <a:rPr b="0" lang="en" sz="1000">
                  <a:solidFill>
                    <a:srgbClr val="4B5563"/>
                  </a:solidFill>
                  <a:latin typeface="Inter"/>
                  <a:ea typeface="Inter"/>
                  <a:cs typeface="Inter"/>
                  <a:sym typeface="Inter"/>
                </a:rPr>
                <a:t>Final write-back operation executed before output filtering. All files and database mutations are securely flushed to the disk.</a:t>
              </a:r>
              <a:endParaRPr b="0" sz="1000">
                <a:solidFill>
                  <a:srgbClr val="4B5563"/>
                </a:solidFill>
                <a:latin typeface="Inter"/>
                <a:ea typeface="Inter"/>
                <a:cs typeface="Inter"/>
                <a:sym typeface="Inter"/>
              </a:endParaRPr>
            </a:p>
            <a:p>
              <a:pPr indent="0" lvl="0" marL="0" rtl="0" algn="l">
                <a:spcBef>
                  <a:spcPts val="900"/>
                </a:spcBef>
                <a:spcAft>
                  <a:spcPts val="0"/>
                </a:spcAft>
                <a:buNone/>
              </a:pPr>
              <a:r>
                <a:rPr b="0" lang="en" sz="1000">
                  <a:solidFill>
                    <a:srgbClr val="2563EB"/>
                  </a:solidFill>
                  <a:latin typeface="Inter SemiBold"/>
                  <a:ea typeface="Inter SemiBold"/>
                  <a:cs typeface="Inter SemiBold"/>
                  <a:sym typeface="Inter SemiBold"/>
                </a:rPr>
                <a:t>Active I/O Channels:</a:t>
              </a:r>
              <a:endParaRPr b="0" sz="1000">
                <a:solidFill>
                  <a:srgbClr val="2563EB"/>
                </a:solidFill>
                <a:latin typeface="Inter SemiBold"/>
                <a:ea typeface="Inter SemiBold"/>
                <a:cs typeface="Inter SemiBold"/>
                <a:sym typeface="Inter SemiBold"/>
              </a:endParaRPr>
            </a:p>
            <a:p>
              <a:pPr indent="-292100" lvl="0" marL="457200" rtl="0" algn="l">
                <a:spcBef>
                  <a:spcPts val="450"/>
                </a:spcBef>
                <a:spcAft>
                  <a:spcPts val="0"/>
                </a:spcAft>
                <a:buClr>
                  <a:srgbClr val="4B5563"/>
                </a:buClr>
                <a:buSzPts val="1000"/>
                <a:buFont typeface="Inter"/>
                <a:buChar char="●"/>
              </a:pPr>
              <a:r>
                <a:rPr b="0" lang="en" sz="1000">
                  <a:solidFill>
                    <a:srgbClr val="2563EB"/>
                  </a:solidFill>
                  <a:latin typeface="Inter SemiBold"/>
                  <a:ea typeface="Inter SemiBold"/>
                  <a:cs typeface="Inter SemiBold"/>
                  <a:sym typeface="Inter SemiBold"/>
                </a:rPr>
                <a:t>Target:</a:t>
              </a:r>
              <a:r>
                <a:rPr b="0" lang="en" sz="1000">
                  <a:solidFill>
                    <a:srgbClr val="4B5563"/>
                  </a:solidFill>
                  <a:latin typeface="Inter"/>
                  <a:ea typeface="Inter"/>
                  <a:cs typeface="Inter"/>
                  <a:sym typeface="Inter"/>
                </a:rPr>
                <a:t> PostgreSQL / Git</a:t>
              </a:r>
              <a:endParaRPr b="0" sz="1000">
                <a:solidFill>
                  <a:srgbClr val="4B5563"/>
                </a:solidFill>
                <a:latin typeface="Inter"/>
                <a:ea typeface="Inter"/>
                <a:cs typeface="Inter"/>
                <a:sym typeface="Inter"/>
              </a:endParaRPr>
            </a:p>
            <a:p>
              <a:pPr indent="-292100" lvl="0" marL="457200" rtl="0" algn="l">
                <a:spcBef>
                  <a:spcPts val="900"/>
                </a:spcBef>
                <a:spcAft>
                  <a:spcPts val="0"/>
                </a:spcAft>
                <a:buClr>
                  <a:srgbClr val="4B5563"/>
                </a:buClr>
                <a:buSzPts val="1000"/>
                <a:buFont typeface="Inter"/>
                <a:buChar char="●"/>
              </a:pPr>
              <a:r>
                <a:rPr b="0" lang="en" sz="1000">
                  <a:solidFill>
                    <a:srgbClr val="2563EB"/>
                  </a:solidFill>
                  <a:latin typeface="Inter SemiBold"/>
                  <a:ea typeface="Inter SemiBold"/>
                  <a:cs typeface="Inter SemiBold"/>
                  <a:sym typeface="Inter SemiBold"/>
                </a:rPr>
                <a:t>Action:</a:t>
              </a:r>
              <a:r>
                <a:rPr b="0" lang="en" sz="1000">
                  <a:solidFill>
                    <a:srgbClr val="4B5563"/>
                  </a:solidFill>
                  <a:latin typeface="Inter"/>
                  <a:ea typeface="Inter"/>
                  <a:cs typeface="Inter"/>
                  <a:sym typeface="Inter"/>
                </a:rPr>
                <a:t> commit_state()</a:t>
              </a:r>
              <a:endParaRPr b="0" sz="1000">
                <a:solidFill>
                  <a:srgbClr val="4B5563"/>
                </a:solidFill>
                <a:latin typeface="Inter"/>
                <a:ea typeface="Inter"/>
                <a:cs typeface="Inter"/>
                <a:sym typeface="Inter"/>
              </a:endParaRPr>
            </a:p>
            <a:p>
              <a:pPr indent="-292100" lvl="0" marL="457200" rtl="0" algn="l">
                <a:spcBef>
                  <a:spcPts val="900"/>
                </a:spcBef>
                <a:spcAft>
                  <a:spcPts val="900"/>
                </a:spcAft>
                <a:buClr>
                  <a:srgbClr val="4B5563"/>
                </a:buClr>
                <a:buSzPts val="1000"/>
                <a:buFont typeface="Inter"/>
                <a:buChar char="●"/>
              </a:pPr>
              <a:r>
                <a:rPr b="0" lang="en" sz="1000">
                  <a:solidFill>
                    <a:srgbClr val="2563EB"/>
                  </a:solidFill>
                  <a:latin typeface="Inter SemiBold"/>
                  <a:ea typeface="Inter SemiBold"/>
                  <a:cs typeface="Inter SemiBold"/>
                  <a:sym typeface="Inter SemiBold"/>
                </a:rPr>
                <a:t>Result:</a:t>
              </a:r>
              <a:r>
                <a:rPr b="0" lang="en" sz="1000">
                  <a:solidFill>
                    <a:srgbClr val="4B5563"/>
                  </a:solidFill>
                  <a:latin typeface="Inter"/>
                  <a:ea typeface="Inter"/>
                  <a:cs typeface="Inter"/>
                  <a:sym typeface="Inter"/>
                </a:rPr>
                <a:t> sync_verified_ok</a:t>
              </a:r>
              <a:endParaRPr b="0" sz="1000">
                <a:solidFill>
                  <a:srgbClr val="4B5563"/>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8"/>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3" name="Google Shape;333;p28"/>
          <p:cNvGrpSpPr/>
          <p:nvPr/>
        </p:nvGrpSpPr>
        <p:grpSpPr>
          <a:xfrm>
            <a:off x="8458200" y="381000"/>
            <a:ext cx="304800" cy="304800"/>
            <a:chOff x="0" y="0"/>
            <a:chExt cx="304800" cy="304800"/>
          </a:xfrm>
        </p:grpSpPr>
        <p:sp>
          <p:nvSpPr>
            <p:cNvPr id="334" name="Google Shape;334;p28"/>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8"/>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8"/>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7" name="Google Shape;337;p28"/>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07 - Agentic Memory Systems</a:t>
            </a:r>
            <a:endParaRPr b="1" sz="2400">
              <a:solidFill>
                <a:srgbClr val="111827"/>
              </a:solidFill>
              <a:latin typeface="Inter"/>
              <a:ea typeface="Inter"/>
              <a:cs typeface="Inter"/>
              <a:sym typeface="Inter"/>
            </a:endParaRPr>
          </a:p>
          <a:p>
            <a:pPr indent="0" lvl="0" marL="0" rtl="0" algn="l">
              <a:spcBef>
                <a:spcPts val="300"/>
              </a:spcBef>
              <a:spcAft>
                <a:spcPts val="0"/>
              </a:spcAft>
              <a:buNone/>
            </a:pPr>
            <a:r>
              <a:rPr b="0" lang="en" sz="1200">
                <a:solidFill>
                  <a:srgbClr val="2563EB"/>
                </a:solidFill>
                <a:latin typeface="Inter Medium"/>
                <a:ea typeface="Inter Medium"/>
                <a:cs typeface="Inter Medium"/>
                <a:sym typeface="Inter Medium"/>
              </a:rPr>
              <a:t>Procedural, Semantic, and Episodic Architectures for Cognitive Continuity</a:t>
            </a:r>
            <a:endParaRPr b="0" sz="1200">
              <a:solidFill>
                <a:srgbClr val="2563EB"/>
              </a:solidFill>
              <a:latin typeface="Inter Medium"/>
              <a:ea typeface="Inter Medium"/>
              <a:cs typeface="Inter Medium"/>
              <a:sym typeface="Inter Medium"/>
            </a:endParaRPr>
          </a:p>
        </p:txBody>
      </p:sp>
      <p:cxnSp>
        <p:nvCxnSpPr>
          <p:cNvPr id="338" name="Google Shape;338;p28"/>
          <p:cNvCxnSpPr/>
          <p:nvPr/>
        </p:nvCxnSpPr>
        <p:spPr>
          <a:xfrm>
            <a:off x="381000" y="1143000"/>
            <a:ext cx="8382000" cy="0"/>
          </a:xfrm>
          <a:prstGeom prst="straightConnector1">
            <a:avLst/>
          </a:prstGeom>
          <a:solidFill>
            <a:srgbClr val="FFFFFF"/>
          </a:solidFill>
          <a:ln cap="flat" cmpd="sng" w="9525">
            <a:solidFill>
              <a:srgbClr val="E5E7EB"/>
            </a:solidFill>
            <a:prstDash val="solid"/>
            <a:round/>
            <a:headEnd len="sm" w="sm" type="none"/>
            <a:tailEnd len="sm" w="sm" type="none"/>
          </a:ln>
        </p:spPr>
      </p:cxnSp>
      <p:grpSp>
        <p:nvGrpSpPr>
          <p:cNvPr id="339" name="Google Shape;339;p28"/>
          <p:cNvGrpSpPr/>
          <p:nvPr/>
        </p:nvGrpSpPr>
        <p:grpSpPr>
          <a:xfrm>
            <a:off x="371475" y="1371600"/>
            <a:ext cx="2590800" cy="3305100"/>
            <a:chOff x="-9525" y="-9525"/>
            <a:chExt cx="2590800" cy="3305100"/>
          </a:xfrm>
        </p:grpSpPr>
        <p:pic>
          <p:nvPicPr>
            <p:cNvPr id="340" name="Google Shape;340;p28"/>
            <p:cNvPicPr preferRelativeResize="0"/>
            <p:nvPr/>
          </p:nvPicPr>
          <p:blipFill rotWithShape="1">
            <a:blip r:embed="rId3">
              <a:alphaModFix/>
            </a:blip>
            <a:srcRect b="0" l="0" r="0" t="0"/>
            <a:stretch/>
          </p:blipFill>
          <p:spPr>
            <a:xfrm>
              <a:off x="-9525" y="-9525"/>
              <a:ext cx="2590800" cy="3305100"/>
            </a:xfrm>
            <a:prstGeom prst="rect">
              <a:avLst/>
            </a:prstGeom>
            <a:noFill/>
            <a:ln>
              <a:noFill/>
            </a:ln>
          </p:spPr>
        </p:pic>
        <p:sp>
          <p:nvSpPr>
            <p:cNvPr id="341" name="Google Shape;341;p28"/>
            <p:cNvSpPr txBox="1"/>
            <p:nvPr/>
          </p:nvSpPr>
          <p:spPr>
            <a:xfrm>
              <a:off x="190500" y="228600"/>
              <a:ext cx="2190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40">
                  <a:solidFill>
                    <a:srgbClr val="2563EB"/>
                  </a:solidFill>
                  <a:latin typeface="Inter"/>
                  <a:ea typeface="Inter"/>
                  <a:cs typeface="Inter"/>
                  <a:sym typeface="Inter"/>
                </a:rPr>
                <a:t>SYSTEM SKILLS &amp; FLOWS</a:t>
              </a:r>
              <a:endParaRPr b="1" sz="740">
                <a:solidFill>
                  <a:srgbClr val="2563EB"/>
                </a:solidFill>
                <a:latin typeface="Inter"/>
                <a:ea typeface="Inter"/>
                <a:cs typeface="Inter"/>
                <a:sym typeface="Inter"/>
              </a:endParaRPr>
            </a:p>
            <a:p>
              <a:pPr indent="0" lvl="0" marL="0" rtl="0" algn="l">
                <a:spcBef>
                  <a:spcPts val="450"/>
                </a:spcBef>
                <a:spcAft>
                  <a:spcPts val="0"/>
                </a:spcAft>
                <a:buNone/>
              </a:pPr>
              <a:r>
                <a:rPr b="1" lang="en" sz="1295">
                  <a:solidFill>
                    <a:srgbClr val="111827"/>
                  </a:solidFill>
                  <a:latin typeface="Inter"/>
                  <a:ea typeface="Inter"/>
                  <a:cs typeface="Inter"/>
                  <a:sym typeface="Inter"/>
                </a:rPr>
                <a:t>Procedural Memory</a:t>
              </a:r>
              <a:endParaRPr b="1" sz="1295">
                <a:solidFill>
                  <a:srgbClr val="111827"/>
                </a:solidFill>
                <a:latin typeface="Inter"/>
                <a:ea typeface="Inter"/>
                <a:cs typeface="Inter"/>
                <a:sym typeface="Inter"/>
              </a:endParaRPr>
            </a:p>
            <a:p>
              <a:pPr indent="0" lvl="0" marL="0" rtl="0" algn="l">
                <a:spcBef>
                  <a:spcPts val="600"/>
                </a:spcBef>
                <a:spcAft>
                  <a:spcPts val="0"/>
                </a:spcAft>
                <a:buNone/>
              </a:pPr>
              <a:r>
                <a:rPr b="0" lang="en" sz="925">
                  <a:solidFill>
                    <a:srgbClr val="4B5563"/>
                  </a:solidFill>
                  <a:latin typeface="Inter"/>
                  <a:ea typeface="Inter"/>
                  <a:cs typeface="Inter"/>
                  <a:sym typeface="Inter"/>
                </a:rPr>
                <a:t>Stores the rule-based execution steps, operational workflows, and behavioral logic that dictate how the agent performs multi-step reasoning processes.</a:t>
              </a:r>
              <a:endParaRPr b="0" sz="925">
                <a:solidFill>
                  <a:srgbClr val="4B5563"/>
                </a:solidFill>
                <a:latin typeface="Inter"/>
                <a:ea typeface="Inter"/>
                <a:cs typeface="Inter"/>
                <a:sym typeface="Inter"/>
              </a:endParaRPr>
            </a:p>
            <a:p>
              <a:pPr indent="0" lvl="0" marL="0" rtl="0" algn="l">
                <a:spcBef>
                  <a:spcPts val="900"/>
                </a:spcBef>
                <a:spcAft>
                  <a:spcPts val="0"/>
                </a:spcAft>
                <a:buNone/>
              </a:pPr>
              <a:r>
                <a:rPr b="0" lang="en" sz="879">
                  <a:solidFill>
                    <a:srgbClr val="1E40AF"/>
                  </a:solidFill>
                  <a:latin typeface="Inter SemiBold"/>
                  <a:ea typeface="Inter SemiBold"/>
                  <a:cs typeface="Inter SemiBold"/>
                  <a:sym typeface="Inter SemiBold"/>
                </a:rPr>
                <a:t>When to use:</a:t>
              </a:r>
              <a:endParaRPr b="0" sz="879">
                <a:solidFill>
                  <a:srgbClr val="1E40AF"/>
                </a:solidFill>
                <a:latin typeface="Inter SemiBold"/>
                <a:ea typeface="Inter SemiBold"/>
                <a:cs typeface="Inter SemiBold"/>
                <a:sym typeface="Inter SemiBold"/>
              </a:endParaRPr>
            </a:p>
            <a:p>
              <a:pPr indent="0" lvl="0" marL="0" rtl="0" algn="l">
                <a:spcBef>
                  <a:spcPts val="450"/>
                </a:spcBef>
                <a:spcAft>
                  <a:spcPts val="0"/>
                </a:spcAft>
                <a:buNone/>
              </a:pPr>
              <a:r>
                <a:rPr b="0" lang="en" sz="925">
                  <a:solidFill>
                    <a:srgbClr val="4B5563"/>
                  </a:solidFill>
                  <a:latin typeface="Inter"/>
                  <a:ea typeface="Inter"/>
                  <a:cs typeface="Inter"/>
                  <a:sym typeface="Inter"/>
                </a:rPr>
                <a:t>For executing standardized loops, tool invocations, structural parsing guidelines, and complex deterministic sequences.</a:t>
              </a:r>
              <a:endParaRPr b="0" sz="925">
                <a:solidFill>
                  <a:srgbClr val="4B5563"/>
                </a:solidFill>
                <a:latin typeface="Inter"/>
                <a:ea typeface="Inter"/>
                <a:cs typeface="Inter"/>
                <a:sym typeface="Inter"/>
              </a:endParaRPr>
            </a:p>
            <a:p>
              <a:pPr indent="0" lvl="0" marL="0" rtl="0" algn="l">
                <a:spcBef>
                  <a:spcPts val="900"/>
                </a:spcBef>
                <a:spcAft>
                  <a:spcPts val="0"/>
                </a:spcAft>
                <a:buNone/>
              </a:pPr>
              <a:r>
                <a:rPr b="1" lang="en" sz="786">
                  <a:solidFill>
                    <a:srgbClr val="1E40AF"/>
                  </a:solidFill>
                  <a:highlight>
                    <a:srgbClr val="F3F4F6"/>
                  </a:highlight>
                  <a:latin typeface="Courier New"/>
                  <a:ea typeface="Courier New"/>
                  <a:cs typeface="Courier New"/>
                  <a:sym typeface="Courier New"/>
                </a:rPr>
                <a:t>// Execution flow logic</a:t>
              </a:r>
              <a:endParaRPr b="1" sz="786">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b="1" lang="en" sz="786">
                  <a:solidFill>
                    <a:srgbClr val="1E40AF"/>
                  </a:solidFill>
                  <a:highlight>
                    <a:srgbClr val="F3F4F6"/>
                  </a:highlight>
                  <a:latin typeface="Courier New"/>
                  <a:ea typeface="Courier New"/>
                  <a:cs typeface="Courier New"/>
                  <a:sym typeface="Courier New"/>
                </a:rPr>
                <a:t>agent.execute_skill("ReactLoop");</a:t>
              </a:r>
              <a:endParaRPr b="1" sz="786">
                <a:solidFill>
                  <a:srgbClr val="1E40AF"/>
                </a:solidFill>
                <a:highlight>
                  <a:srgbClr val="F3F4F6"/>
                </a:highlight>
                <a:latin typeface="Courier New"/>
                <a:ea typeface="Courier New"/>
                <a:cs typeface="Courier New"/>
                <a:sym typeface="Courier New"/>
              </a:endParaRPr>
            </a:p>
          </p:txBody>
        </p:sp>
      </p:grpSp>
      <p:grpSp>
        <p:nvGrpSpPr>
          <p:cNvPr id="342" name="Google Shape;342;p28"/>
          <p:cNvGrpSpPr/>
          <p:nvPr/>
        </p:nvGrpSpPr>
        <p:grpSpPr>
          <a:xfrm>
            <a:off x="3276600" y="1371600"/>
            <a:ext cx="2590800" cy="3305100"/>
            <a:chOff x="-9525" y="-9525"/>
            <a:chExt cx="2590800" cy="3305100"/>
          </a:xfrm>
        </p:grpSpPr>
        <p:pic>
          <p:nvPicPr>
            <p:cNvPr id="343" name="Google Shape;343;p28"/>
            <p:cNvPicPr preferRelativeResize="0"/>
            <p:nvPr/>
          </p:nvPicPr>
          <p:blipFill rotWithShape="1">
            <a:blip r:embed="rId3">
              <a:alphaModFix/>
            </a:blip>
            <a:srcRect b="0" l="0" r="0" t="0"/>
            <a:stretch/>
          </p:blipFill>
          <p:spPr>
            <a:xfrm>
              <a:off x="-9525" y="-9525"/>
              <a:ext cx="2590800" cy="3305100"/>
            </a:xfrm>
            <a:prstGeom prst="rect">
              <a:avLst/>
            </a:prstGeom>
            <a:noFill/>
            <a:ln>
              <a:noFill/>
            </a:ln>
          </p:spPr>
        </p:pic>
        <p:sp>
          <p:nvSpPr>
            <p:cNvPr id="344" name="Google Shape;344;p28"/>
            <p:cNvSpPr txBox="1"/>
            <p:nvPr/>
          </p:nvSpPr>
          <p:spPr>
            <a:xfrm>
              <a:off x="190500" y="228600"/>
              <a:ext cx="2190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40">
                  <a:solidFill>
                    <a:srgbClr val="2563EB"/>
                  </a:solidFill>
                  <a:latin typeface="Inter"/>
                  <a:ea typeface="Inter"/>
                  <a:cs typeface="Inter"/>
                  <a:sym typeface="Inter"/>
                </a:rPr>
                <a:t>KNOWLEDGE BASE &amp; FACTS</a:t>
              </a:r>
              <a:endParaRPr b="1" sz="740">
                <a:solidFill>
                  <a:srgbClr val="2563EB"/>
                </a:solidFill>
                <a:latin typeface="Inter"/>
                <a:ea typeface="Inter"/>
                <a:cs typeface="Inter"/>
                <a:sym typeface="Inter"/>
              </a:endParaRPr>
            </a:p>
            <a:p>
              <a:pPr indent="0" lvl="0" marL="0" rtl="0" algn="l">
                <a:spcBef>
                  <a:spcPts val="450"/>
                </a:spcBef>
                <a:spcAft>
                  <a:spcPts val="0"/>
                </a:spcAft>
                <a:buNone/>
              </a:pPr>
              <a:r>
                <a:rPr b="1" lang="en" sz="1295">
                  <a:solidFill>
                    <a:srgbClr val="111827"/>
                  </a:solidFill>
                  <a:latin typeface="Inter"/>
                  <a:ea typeface="Inter"/>
                  <a:cs typeface="Inter"/>
                  <a:sym typeface="Inter"/>
                </a:rPr>
                <a:t>Semantic Memory</a:t>
              </a:r>
              <a:endParaRPr b="1" sz="1295">
                <a:solidFill>
                  <a:srgbClr val="111827"/>
                </a:solidFill>
                <a:latin typeface="Inter"/>
                <a:ea typeface="Inter"/>
                <a:cs typeface="Inter"/>
                <a:sym typeface="Inter"/>
              </a:endParaRPr>
            </a:p>
            <a:p>
              <a:pPr indent="0" lvl="0" marL="0" rtl="0" algn="l">
                <a:spcBef>
                  <a:spcPts val="600"/>
                </a:spcBef>
                <a:spcAft>
                  <a:spcPts val="0"/>
                </a:spcAft>
                <a:buNone/>
              </a:pPr>
              <a:r>
                <a:rPr b="0" lang="en" sz="925">
                  <a:solidFill>
                    <a:srgbClr val="4B5563"/>
                  </a:solidFill>
                  <a:latin typeface="Inter"/>
                  <a:ea typeface="Inter"/>
                  <a:cs typeface="Inter"/>
                  <a:sym typeface="Inter"/>
                </a:rPr>
                <a:t>Acts as the core repository of structured facts, system concepts, specialized ontologies, and static background information integrated into the context window.</a:t>
              </a:r>
              <a:endParaRPr b="0" sz="925">
                <a:solidFill>
                  <a:srgbClr val="4B5563"/>
                </a:solidFill>
                <a:latin typeface="Inter"/>
                <a:ea typeface="Inter"/>
                <a:cs typeface="Inter"/>
                <a:sym typeface="Inter"/>
              </a:endParaRPr>
            </a:p>
            <a:p>
              <a:pPr indent="0" lvl="0" marL="0" rtl="0" algn="l">
                <a:spcBef>
                  <a:spcPts val="900"/>
                </a:spcBef>
                <a:spcAft>
                  <a:spcPts val="0"/>
                </a:spcAft>
                <a:buNone/>
              </a:pPr>
              <a:r>
                <a:rPr b="0" lang="en" sz="879">
                  <a:solidFill>
                    <a:srgbClr val="1E40AF"/>
                  </a:solidFill>
                  <a:latin typeface="Inter SemiBold"/>
                  <a:ea typeface="Inter SemiBold"/>
                  <a:cs typeface="Inter SemiBold"/>
                  <a:sym typeface="Inter SemiBold"/>
                </a:rPr>
                <a:t>When to use:</a:t>
              </a:r>
              <a:endParaRPr b="0" sz="879">
                <a:solidFill>
                  <a:srgbClr val="1E40AF"/>
                </a:solidFill>
                <a:latin typeface="Inter SemiBold"/>
                <a:ea typeface="Inter SemiBold"/>
                <a:cs typeface="Inter SemiBold"/>
                <a:sym typeface="Inter SemiBold"/>
              </a:endParaRPr>
            </a:p>
            <a:p>
              <a:pPr indent="0" lvl="0" marL="0" rtl="0" algn="l">
                <a:spcBef>
                  <a:spcPts val="450"/>
                </a:spcBef>
                <a:spcAft>
                  <a:spcPts val="0"/>
                </a:spcAft>
                <a:buNone/>
              </a:pPr>
              <a:r>
                <a:rPr b="0" lang="en" sz="925">
                  <a:solidFill>
                    <a:srgbClr val="4B5563"/>
                  </a:solidFill>
                  <a:latin typeface="Inter"/>
                  <a:ea typeface="Inter"/>
                  <a:cs typeface="Inter"/>
                  <a:sym typeface="Inter"/>
                </a:rPr>
                <a:t>For querying schema definitions, resolving domain-specific terminology, and retrieving business rules from a vector store.</a:t>
              </a:r>
              <a:endParaRPr b="0" sz="925">
                <a:solidFill>
                  <a:srgbClr val="4B5563"/>
                </a:solidFill>
                <a:latin typeface="Inter"/>
                <a:ea typeface="Inter"/>
                <a:cs typeface="Inter"/>
                <a:sym typeface="Inter"/>
              </a:endParaRPr>
            </a:p>
            <a:p>
              <a:pPr indent="0" lvl="0" marL="0" rtl="0" algn="l">
                <a:spcBef>
                  <a:spcPts val="900"/>
                </a:spcBef>
                <a:spcAft>
                  <a:spcPts val="0"/>
                </a:spcAft>
                <a:buNone/>
              </a:pPr>
              <a:r>
                <a:rPr b="1" lang="en" sz="786">
                  <a:solidFill>
                    <a:srgbClr val="1E40AF"/>
                  </a:solidFill>
                  <a:highlight>
                    <a:srgbClr val="F3F4F6"/>
                  </a:highlight>
                  <a:latin typeface="Courier New"/>
                  <a:ea typeface="Courier New"/>
                  <a:cs typeface="Courier New"/>
                  <a:sym typeface="Courier New"/>
                </a:rPr>
                <a:t>// Query knowledge graph</a:t>
              </a:r>
              <a:endParaRPr b="1" sz="786">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b="1" lang="en" sz="786">
                  <a:solidFill>
                    <a:srgbClr val="1E40AF"/>
                  </a:solidFill>
                  <a:highlight>
                    <a:srgbClr val="F3F4F6"/>
                  </a:highlight>
                  <a:latin typeface="Courier New"/>
                  <a:ea typeface="Courier New"/>
                  <a:cs typeface="Courier New"/>
                  <a:sym typeface="Courier New"/>
                </a:rPr>
                <a:t>vector_store.search("JSON_schema");</a:t>
              </a:r>
              <a:endParaRPr b="1" sz="786">
                <a:solidFill>
                  <a:srgbClr val="1E40AF"/>
                </a:solidFill>
                <a:highlight>
                  <a:srgbClr val="F3F4F6"/>
                </a:highlight>
                <a:latin typeface="Courier New"/>
                <a:ea typeface="Courier New"/>
                <a:cs typeface="Courier New"/>
                <a:sym typeface="Courier New"/>
              </a:endParaRPr>
            </a:p>
          </p:txBody>
        </p:sp>
      </p:grpSp>
      <p:grpSp>
        <p:nvGrpSpPr>
          <p:cNvPr id="345" name="Google Shape;345;p28"/>
          <p:cNvGrpSpPr/>
          <p:nvPr/>
        </p:nvGrpSpPr>
        <p:grpSpPr>
          <a:xfrm>
            <a:off x="6181725" y="1371600"/>
            <a:ext cx="2590800" cy="3305100"/>
            <a:chOff x="-9525" y="-9525"/>
            <a:chExt cx="2590800" cy="3305100"/>
          </a:xfrm>
        </p:grpSpPr>
        <p:pic>
          <p:nvPicPr>
            <p:cNvPr id="346" name="Google Shape;346;p28"/>
            <p:cNvPicPr preferRelativeResize="0"/>
            <p:nvPr/>
          </p:nvPicPr>
          <p:blipFill rotWithShape="1">
            <a:blip r:embed="rId4">
              <a:alphaModFix/>
            </a:blip>
            <a:srcRect b="0" l="0" r="0" t="0"/>
            <a:stretch/>
          </p:blipFill>
          <p:spPr>
            <a:xfrm>
              <a:off x="-9525" y="-9525"/>
              <a:ext cx="2590800" cy="3305100"/>
            </a:xfrm>
            <a:prstGeom prst="rect">
              <a:avLst/>
            </a:prstGeom>
            <a:noFill/>
            <a:ln>
              <a:noFill/>
            </a:ln>
          </p:spPr>
        </p:pic>
        <p:sp>
          <p:nvSpPr>
            <p:cNvPr id="347" name="Google Shape;347;p28"/>
            <p:cNvSpPr txBox="1"/>
            <p:nvPr/>
          </p:nvSpPr>
          <p:spPr>
            <a:xfrm>
              <a:off x="190500" y="228600"/>
              <a:ext cx="2190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40">
                  <a:solidFill>
                    <a:srgbClr val="2563EB"/>
                  </a:solidFill>
                  <a:latin typeface="Inter"/>
                  <a:ea typeface="Inter"/>
                  <a:cs typeface="Inter"/>
                  <a:sym typeface="Inter"/>
                </a:rPr>
                <a:t>RUN-TIME HISTORY</a:t>
              </a:r>
              <a:endParaRPr b="1" sz="740">
                <a:solidFill>
                  <a:srgbClr val="2563EB"/>
                </a:solidFill>
                <a:latin typeface="Inter"/>
                <a:ea typeface="Inter"/>
                <a:cs typeface="Inter"/>
                <a:sym typeface="Inter"/>
              </a:endParaRPr>
            </a:p>
            <a:p>
              <a:pPr indent="0" lvl="0" marL="0" rtl="0" algn="l">
                <a:spcBef>
                  <a:spcPts val="450"/>
                </a:spcBef>
                <a:spcAft>
                  <a:spcPts val="0"/>
                </a:spcAft>
                <a:buNone/>
              </a:pPr>
              <a:r>
                <a:rPr b="1" lang="en" sz="1295">
                  <a:solidFill>
                    <a:srgbClr val="111827"/>
                  </a:solidFill>
                  <a:latin typeface="Inter"/>
                  <a:ea typeface="Inter"/>
                  <a:cs typeface="Inter"/>
                  <a:sym typeface="Inter"/>
                </a:rPr>
                <a:t>Episodic Memory</a:t>
              </a:r>
              <a:endParaRPr b="1" sz="1295">
                <a:solidFill>
                  <a:srgbClr val="111827"/>
                </a:solidFill>
                <a:latin typeface="Inter"/>
                <a:ea typeface="Inter"/>
                <a:cs typeface="Inter"/>
                <a:sym typeface="Inter"/>
              </a:endParaRPr>
            </a:p>
            <a:p>
              <a:pPr indent="0" lvl="0" marL="0" rtl="0" algn="l">
                <a:spcBef>
                  <a:spcPts val="600"/>
                </a:spcBef>
                <a:spcAft>
                  <a:spcPts val="0"/>
                </a:spcAft>
                <a:buNone/>
              </a:pPr>
              <a:r>
                <a:rPr b="0" lang="en" sz="925">
                  <a:solidFill>
                    <a:srgbClr val="4B5563"/>
                  </a:solidFill>
                  <a:latin typeface="Inter"/>
                  <a:ea typeface="Inter"/>
                  <a:cs typeface="Inter"/>
                  <a:sym typeface="Inter"/>
                </a:rPr>
                <a:t>Captures the temporal chain of raw execution histories, previous user interactions, tool execution outputs, and conversational state variables.</a:t>
              </a:r>
              <a:endParaRPr b="0" sz="925">
                <a:solidFill>
                  <a:srgbClr val="4B5563"/>
                </a:solidFill>
                <a:latin typeface="Inter"/>
                <a:ea typeface="Inter"/>
                <a:cs typeface="Inter"/>
                <a:sym typeface="Inter"/>
              </a:endParaRPr>
            </a:p>
            <a:p>
              <a:pPr indent="0" lvl="0" marL="0" rtl="0" algn="l">
                <a:spcBef>
                  <a:spcPts val="900"/>
                </a:spcBef>
                <a:spcAft>
                  <a:spcPts val="0"/>
                </a:spcAft>
                <a:buNone/>
              </a:pPr>
              <a:r>
                <a:rPr b="0" lang="en" sz="879">
                  <a:solidFill>
                    <a:srgbClr val="1E40AF"/>
                  </a:solidFill>
                  <a:latin typeface="Inter SemiBold"/>
                  <a:ea typeface="Inter SemiBold"/>
                  <a:cs typeface="Inter SemiBold"/>
                  <a:sym typeface="Inter SemiBold"/>
                </a:rPr>
                <a:t>When to use:</a:t>
              </a:r>
              <a:endParaRPr b="0" sz="879">
                <a:solidFill>
                  <a:srgbClr val="1E40AF"/>
                </a:solidFill>
                <a:latin typeface="Inter SemiBold"/>
                <a:ea typeface="Inter SemiBold"/>
                <a:cs typeface="Inter SemiBold"/>
                <a:sym typeface="Inter SemiBold"/>
              </a:endParaRPr>
            </a:p>
            <a:p>
              <a:pPr indent="0" lvl="0" marL="0" rtl="0" algn="l">
                <a:spcBef>
                  <a:spcPts val="450"/>
                </a:spcBef>
                <a:spcAft>
                  <a:spcPts val="0"/>
                </a:spcAft>
                <a:buNone/>
              </a:pPr>
              <a:r>
                <a:rPr b="0" lang="en" sz="925">
                  <a:solidFill>
                    <a:srgbClr val="4B5563"/>
                  </a:solidFill>
                  <a:latin typeface="Inter"/>
                  <a:ea typeface="Inter"/>
                  <a:cs typeface="Inter"/>
                  <a:sym typeface="Inter"/>
                </a:rPr>
                <a:t>For contextualizing ongoing multi-turn conversations, maintaining state, auditing decisions, and recovering from historical failures.</a:t>
              </a:r>
              <a:endParaRPr b="0" sz="925">
                <a:solidFill>
                  <a:srgbClr val="4B5563"/>
                </a:solidFill>
                <a:latin typeface="Inter"/>
                <a:ea typeface="Inter"/>
                <a:cs typeface="Inter"/>
                <a:sym typeface="Inter"/>
              </a:endParaRPr>
            </a:p>
            <a:p>
              <a:pPr indent="0" lvl="0" marL="0" rtl="0" algn="l">
                <a:spcBef>
                  <a:spcPts val="900"/>
                </a:spcBef>
                <a:spcAft>
                  <a:spcPts val="0"/>
                </a:spcAft>
                <a:buNone/>
              </a:pPr>
              <a:r>
                <a:rPr b="1" lang="en" sz="786">
                  <a:solidFill>
                    <a:srgbClr val="1E40AF"/>
                  </a:solidFill>
                  <a:highlight>
                    <a:srgbClr val="F3F4F6"/>
                  </a:highlight>
                  <a:latin typeface="Courier New"/>
                  <a:ea typeface="Courier New"/>
                  <a:cs typeface="Courier New"/>
                  <a:sym typeface="Courier New"/>
                </a:rPr>
                <a:t>// Recover past trial</a:t>
              </a:r>
              <a:endParaRPr b="1" sz="786">
                <a:solidFill>
                  <a:srgbClr val="1E40AF"/>
                </a:solidFill>
                <a:highlight>
                  <a:srgbClr val="F3F4F6"/>
                </a:highlight>
                <a:latin typeface="Courier New"/>
                <a:ea typeface="Courier New"/>
                <a:cs typeface="Courier New"/>
                <a:sym typeface="Courier New"/>
              </a:endParaRPr>
            </a:p>
            <a:p>
              <a:pPr indent="0" lvl="0" marL="0" rtl="0" algn="l">
                <a:spcBef>
                  <a:spcPts val="0"/>
                </a:spcBef>
                <a:spcAft>
                  <a:spcPts val="0"/>
                </a:spcAft>
                <a:buNone/>
              </a:pPr>
              <a:r>
                <a:rPr b="1" lang="en" sz="786">
                  <a:solidFill>
                    <a:srgbClr val="1E40AF"/>
                  </a:solidFill>
                  <a:highlight>
                    <a:srgbClr val="F3F4F6"/>
                  </a:highlight>
                  <a:latin typeface="Courier New"/>
                  <a:ea typeface="Courier New"/>
                  <a:cs typeface="Courier New"/>
                  <a:sym typeface="Courier New"/>
                </a:rPr>
                <a:t>scratchpad.get_history(run_id);</a:t>
              </a:r>
              <a:endParaRPr b="1" sz="786">
                <a:solidFill>
                  <a:srgbClr val="1E40AF"/>
                </a:solidFill>
                <a:highlight>
                  <a:srgbClr val="F3F4F6"/>
                </a:highlight>
                <a:latin typeface="Courier New"/>
                <a:ea typeface="Courier New"/>
                <a:cs typeface="Courier New"/>
                <a:sym typeface="Courier New"/>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9"/>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3" name="Google Shape;353;p29"/>
          <p:cNvGrpSpPr/>
          <p:nvPr/>
        </p:nvGrpSpPr>
        <p:grpSpPr>
          <a:xfrm>
            <a:off x="8458200" y="381000"/>
            <a:ext cx="304800" cy="304800"/>
            <a:chOff x="0" y="0"/>
            <a:chExt cx="304800" cy="304800"/>
          </a:xfrm>
        </p:grpSpPr>
        <p:sp>
          <p:nvSpPr>
            <p:cNvPr id="354" name="Google Shape;354;p29"/>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9"/>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29"/>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57" name="Google Shape;357;p29"/>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08 - Output Filter Guardrails</a:t>
            </a:r>
            <a:endParaRPr b="1" sz="2400">
              <a:solidFill>
                <a:srgbClr val="111827"/>
              </a:solidFill>
              <a:latin typeface="Inter"/>
              <a:ea typeface="Inter"/>
              <a:cs typeface="Inter"/>
              <a:sym typeface="Inter"/>
            </a:endParaRPr>
          </a:p>
          <a:p>
            <a:pPr indent="0" lvl="0" marL="0" rtl="0" algn="l">
              <a:spcBef>
                <a:spcPts val="400"/>
              </a:spcBef>
              <a:spcAft>
                <a:spcPts val="0"/>
              </a:spcAft>
              <a:buNone/>
            </a:pPr>
            <a:r>
              <a:rPr b="0" lang="en" sz="1200">
                <a:solidFill>
                  <a:srgbClr val="2563EB"/>
                </a:solidFill>
                <a:latin typeface="Inter Medium"/>
                <a:ea typeface="Inter Medium"/>
                <a:cs typeface="Inter Medium"/>
                <a:sym typeface="Inter Medium"/>
              </a:rPr>
              <a:t>Sanitizing the Model Response and Ensuring Safety Compliance Before Exit</a:t>
            </a:r>
            <a:endParaRPr b="0" sz="1200">
              <a:solidFill>
                <a:srgbClr val="2563EB"/>
              </a:solidFill>
              <a:latin typeface="Inter Medium"/>
              <a:ea typeface="Inter Medium"/>
              <a:cs typeface="Inter Medium"/>
              <a:sym typeface="Inter Medium"/>
            </a:endParaRPr>
          </a:p>
        </p:txBody>
      </p:sp>
      <p:cxnSp>
        <p:nvCxnSpPr>
          <p:cNvPr id="358" name="Google Shape;358;p29"/>
          <p:cNvCxnSpPr/>
          <p:nvPr/>
        </p:nvCxnSpPr>
        <p:spPr>
          <a:xfrm>
            <a:off x="381000" y="1143000"/>
            <a:ext cx="8382000" cy="0"/>
          </a:xfrm>
          <a:prstGeom prst="straightConnector1">
            <a:avLst/>
          </a:prstGeom>
          <a:solidFill>
            <a:srgbClr val="FFFFFF"/>
          </a:solidFill>
          <a:ln cap="flat" cmpd="sng" w="9525">
            <a:solidFill>
              <a:srgbClr val="E5E7EB"/>
            </a:solidFill>
            <a:prstDash val="solid"/>
            <a:round/>
            <a:headEnd len="sm" w="sm" type="none"/>
            <a:tailEnd len="sm" w="sm" type="none"/>
          </a:ln>
        </p:spPr>
      </p:cxnSp>
      <p:grpSp>
        <p:nvGrpSpPr>
          <p:cNvPr id="359" name="Google Shape;359;p29"/>
          <p:cNvGrpSpPr/>
          <p:nvPr/>
        </p:nvGrpSpPr>
        <p:grpSpPr>
          <a:xfrm>
            <a:off x="381000" y="1381125"/>
            <a:ext cx="4048200" cy="3286200"/>
            <a:chOff x="0" y="0"/>
            <a:chExt cx="4048200" cy="3286200"/>
          </a:xfrm>
        </p:grpSpPr>
        <p:sp>
          <p:nvSpPr>
            <p:cNvPr id="360" name="Google Shape;360;p29"/>
            <p:cNvSpPr/>
            <p:nvPr/>
          </p:nvSpPr>
          <p:spPr>
            <a:xfrm>
              <a:off x="0" y="0"/>
              <a:ext cx="4048200" cy="3286200"/>
            </a:xfrm>
            <a:prstGeom prst="roundRect">
              <a:avLst>
                <a:gd fmla="val 2318"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9"/>
            <p:cNvSpPr txBox="1"/>
            <p:nvPr/>
          </p:nvSpPr>
          <p:spPr>
            <a:xfrm>
              <a:off x="228600" y="228600"/>
              <a:ext cx="3591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33">
                  <a:solidFill>
                    <a:srgbClr val="EF4444"/>
                  </a:solidFill>
                  <a:latin typeface="Inter"/>
                  <a:ea typeface="Inter"/>
                  <a:cs typeface="Inter"/>
                  <a:sym typeface="Inter"/>
                </a:rPr>
                <a:t>STEP 08 / OUTPUT FILTER</a:t>
              </a:r>
              <a:endParaRPr b="1" sz="833">
                <a:solidFill>
                  <a:srgbClr val="EF4444"/>
                </a:solidFill>
                <a:latin typeface="Inter"/>
                <a:ea typeface="Inter"/>
                <a:cs typeface="Inter"/>
                <a:sym typeface="Inter"/>
              </a:endParaRPr>
            </a:p>
            <a:p>
              <a:pPr indent="0" lvl="0" marL="0" rtl="0" algn="l">
                <a:spcBef>
                  <a:spcPts val="450"/>
                </a:spcBef>
                <a:spcAft>
                  <a:spcPts val="0"/>
                </a:spcAft>
                <a:buNone/>
              </a:pPr>
              <a:r>
                <a:rPr b="1" lang="en" sz="1480">
                  <a:solidFill>
                    <a:srgbClr val="111827"/>
                  </a:solidFill>
                  <a:latin typeface="Inter"/>
                  <a:ea typeface="Inter"/>
                  <a:cs typeface="Inter"/>
                  <a:sym typeface="Inter"/>
                </a:rPr>
                <a:t>Guardrails (Out)</a:t>
              </a:r>
              <a:endParaRPr b="1" sz="1480">
                <a:solidFill>
                  <a:srgbClr val="111827"/>
                </a:solidFill>
                <a:latin typeface="Inter"/>
                <a:ea typeface="Inter"/>
                <a:cs typeface="Inter"/>
                <a:sym typeface="Inter"/>
              </a:endParaRPr>
            </a:p>
            <a:p>
              <a:pPr indent="0" lvl="0" marL="0" rtl="0" algn="l">
                <a:spcBef>
                  <a:spcPts val="750"/>
                </a:spcBef>
                <a:spcAft>
                  <a:spcPts val="0"/>
                </a:spcAft>
                <a:buNone/>
              </a:pPr>
              <a:r>
                <a:rPr b="0" lang="en" sz="1018">
                  <a:solidFill>
                    <a:srgbClr val="4B5563"/>
                  </a:solidFill>
                  <a:latin typeface="Inter"/>
                  <a:ea typeface="Inter"/>
                  <a:cs typeface="Inter"/>
                  <a:sym typeface="Inter"/>
                </a:rPr>
                <a:t>The final gatekeeping layer in the cognitive pipeline. It guarantees that the response returned to the user is clean, correct, and strictly aligned with safety and structural specifications.</a:t>
              </a:r>
              <a:endParaRPr b="0" sz="1018">
                <a:solidFill>
                  <a:srgbClr val="4B5563"/>
                </a:solidFill>
                <a:latin typeface="Inter"/>
                <a:ea typeface="Inter"/>
                <a:cs typeface="Inter"/>
                <a:sym typeface="Inter"/>
              </a:endParaRPr>
            </a:p>
            <a:p>
              <a:pPr indent="0" lvl="0" marL="0" rtl="0" algn="l">
                <a:spcBef>
                  <a:spcPts val="1125"/>
                </a:spcBef>
                <a:spcAft>
                  <a:spcPts val="0"/>
                </a:spcAft>
                <a:buNone/>
              </a:pPr>
              <a:r>
                <a:rPr b="0" lang="en" sz="1018">
                  <a:solidFill>
                    <a:srgbClr val="EF4444"/>
                  </a:solidFill>
                  <a:latin typeface="Inter SemiBold"/>
                  <a:ea typeface="Inter SemiBold"/>
                  <a:cs typeface="Inter SemiBold"/>
                  <a:sym typeface="Inter SemiBold"/>
                </a:rPr>
                <a:t>Core Operations:</a:t>
              </a:r>
              <a:endParaRPr b="0" sz="1018">
                <a:solidFill>
                  <a:srgbClr val="EF4444"/>
                </a:solidFill>
                <a:latin typeface="Inter SemiBold"/>
                <a:ea typeface="Inter SemiBold"/>
                <a:cs typeface="Inter SemiBold"/>
                <a:sym typeface="Inter SemiBold"/>
              </a:endParaRPr>
            </a:p>
            <a:p>
              <a:pPr indent="-293211" lvl="0" marL="457200" rtl="0" algn="l">
                <a:spcBef>
                  <a:spcPts val="600"/>
                </a:spcBef>
                <a:spcAft>
                  <a:spcPts val="0"/>
                </a:spcAft>
                <a:buClr>
                  <a:srgbClr val="4B5563"/>
                </a:buClr>
                <a:buSzPts val="1018"/>
                <a:buFont typeface="Inter"/>
                <a:buChar char="●"/>
              </a:pPr>
              <a:r>
                <a:rPr b="0" lang="en" sz="1018">
                  <a:solidFill>
                    <a:srgbClr val="111827"/>
                  </a:solidFill>
                  <a:latin typeface="Inter SemiBold"/>
                  <a:ea typeface="Inter SemiBold"/>
                  <a:cs typeface="Inter SemiBold"/>
                  <a:sym typeface="Inter SemiBold"/>
                </a:rPr>
                <a:t>Sanitize Responses:</a:t>
              </a:r>
              <a:r>
                <a:rPr b="0" lang="en" sz="1018">
                  <a:solidFill>
                    <a:srgbClr val="4B5563"/>
                  </a:solidFill>
                  <a:latin typeface="Inter"/>
                  <a:ea typeface="Inter"/>
                  <a:cs typeface="Inter"/>
                  <a:sym typeface="Inter"/>
                </a:rPr>
                <a:t> Strips sensitive strings and prevents inadvertent leakage of system prompts.</a:t>
              </a:r>
              <a:endParaRPr b="0" sz="1018">
                <a:solidFill>
                  <a:srgbClr val="4B5563"/>
                </a:solidFill>
                <a:latin typeface="Inter"/>
                <a:ea typeface="Inter"/>
                <a:cs typeface="Inter"/>
                <a:sym typeface="Inter"/>
              </a:endParaRPr>
            </a:p>
            <a:p>
              <a:pPr indent="-293211" lvl="0" marL="457200" rtl="0" algn="l">
                <a:spcBef>
                  <a:spcPts val="450"/>
                </a:spcBef>
                <a:spcAft>
                  <a:spcPts val="0"/>
                </a:spcAft>
                <a:buClr>
                  <a:srgbClr val="4B5563"/>
                </a:buClr>
                <a:buSzPts val="1018"/>
                <a:buFont typeface="Inter"/>
                <a:buChar char="●"/>
              </a:pPr>
              <a:r>
                <a:rPr b="0" lang="en" sz="1018">
                  <a:solidFill>
                    <a:srgbClr val="111827"/>
                  </a:solidFill>
                  <a:latin typeface="Inter SemiBold"/>
                  <a:ea typeface="Inter SemiBold"/>
                  <a:cs typeface="Inter SemiBold"/>
                  <a:sym typeface="Inter SemiBold"/>
                </a:rPr>
                <a:t>Detect Hallucinations:</a:t>
              </a:r>
              <a:r>
                <a:rPr b="0" lang="en" sz="1018">
                  <a:solidFill>
                    <a:srgbClr val="4B5563"/>
                  </a:solidFill>
                  <a:latin typeface="Inter"/>
                  <a:ea typeface="Inter"/>
                  <a:cs typeface="Inter"/>
                  <a:sym typeface="Inter"/>
                </a:rPr>
                <a:t> Verifies generated answers against dynamic context bounds.</a:t>
              </a:r>
              <a:endParaRPr b="0" sz="1018">
                <a:solidFill>
                  <a:srgbClr val="4B5563"/>
                </a:solidFill>
                <a:latin typeface="Inter"/>
                <a:ea typeface="Inter"/>
                <a:cs typeface="Inter"/>
                <a:sym typeface="Inter"/>
              </a:endParaRPr>
            </a:p>
            <a:p>
              <a:pPr indent="-293211" lvl="0" marL="457200" rtl="0" algn="l">
                <a:spcBef>
                  <a:spcPts val="450"/>
                </a:spcBef>
                <a:spcAft>
                  <a:spcPts val="450"/>
                </a:spcAft>
                <a:buClr>
                  <a:srgbClr val="4B5563"/>
                </a:buClr>
                <a:buSzPts val="1018"/>
                <a:buFont typeface="Inter"/>
                <a:buChar char="●"/>
              </a:pPr>
              <a:r>
                <a:rPr b="0" lang="en" sz="1018">
                  <a:solidFill>
                    <a:srgbClr val="111827"/>
                  </a:solidFill>
                  <a:latin typeface="Inter SemiBold"/>
                  <a:ea typeface="Inter SemiBold"/>
                  <a:cs typeface="Inter SemiBold"/>
                  <a:sym typeface="Inter SemiBold"/>
                </a:rPr>
                <a:t>Format Validation:</a:t>
              </a:r>
              <a:r>
                <a:rPr b="0" lang="en" sz="1018">
                  <a:solidFill>
                    <a:srgbClr val="4B5563"/>
                  </a:solidFill>
                  <a:latin typeface="Inter"/>
                  <a:ea typeface="Inter"/>
                  <a:cs typeface="Inter"/>
                  <a:sym typeface="Inter"/>
                </a:rPr>
                <a:t> Ensures structured JSON or code block payloads conform to requested schemas.</a:t>
              </a:r>
              <a:endParaRPr b="0" sz="1018">
                <a:solidFill>
                  <a:srgbClr val="4B5563"/>
                </a:solidFill>
                <a:latin typeface="Inter"/>
                <a:ea typeface="Inter"/>
                <a:cs typeface="Inter"/>
                <a:sym typeface="Inter"/>
              </a:endParaRPr>
            </a:p>
          </p:txBody>
        </p:sp>
      </p:grpSp>
      <p:grpSp>
        <p:nvGrpSpPr>
          <p:cNvPr id="362" name="Google Shape;362;p29"/>
          <p:cNvGrpSpPr/>
          <p:nvPr/>
        </p:nvGrpSpPr>
        <p:grpSpPr>
          <a:xfrm>
            <a:off x="4714875" y="1381125"/>
            <a:ext cx="4048200" cy="3286200"/>
            <a:chOff x="0" y="0"/>
            <a:chExt cx="4048200" cy="3286200"/>
          </a:xfrm>
        </p:grpSpPr>
        <p:sp>
          <p:nvSpPr>
            <p:cNvPr id="363" name="Google Shape;363;p29"/>
            <p:cNvSpPr/>
            <p:nvPr/>
          </p:nvSpPr>
          <p:spPr>
            <a:xfrm>
              <a:off x="0" y="0"/>
              <a:ext cx="4048200" cy="3286200"/>
            </a:xfrm>
            <a:prstGeom prst="roundRect">
              <a:avLst>
                <a:gd fmla="val 2318"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9"/>
            <p:cNvSpPr txBox="1"/>
            <p:nvPr/>
          </p:nvSpPr>
          <p:spPr>
            <a:xfrm>
              <a:off x="228600" y="228600"/>
              <a:ext cx="3591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33">
                  <a:solidFill>
                    <a:srgbClr val="2563EB"/>
                  </a:solidFill>
                  <a:latin typeface="Inter"/>
                  <a:ea typeface="Inter"/>
                  <a:cs typeface="Inter"/>
                  <a:sym typeface="Inter"/>
                </a:rPr>
                <a:t>VERIFICATION RULES</a:t>
              </a:r>
              <a:endParaRPr b="1" sz="833">
                <a:solidFill>
                  <a:srgbClr val="2563EB"/>
                </a:solidFill>
                <a:latin typeface="Inter"/>
                <a:ea typeface="Inter"/>
                <a:cs typeface="Inter"/>
                <a:sym typeface="Inter"/>
              </a:endParaRPr>
            </a:p>
            <a:p>
              <a:pPr indent="0" lvl="0" marL="0" rtl="0" algn="l">
                <a:spcBef>
                  <a:spcPts val="450"/>
                </a:spcBef>
                <a:spcAft>
                  <a:spcPts val="0"/>
                </a:spcAft>
                <a:buNone/>
              </a:pPr>
              <a:r>
                <a:rPr b="1" lang="en" sz="1480">
                  <a:solidFill>
                    <a:srgbClr val="1E40AF"/>
                  </a:solidFill>
                  <a:latin typeface="Inter"/>
                  <a:ea typeface="Inter"/>
                  <a:cs typeface="Inter"/>
                  <a:sym typeface="Inter"/>
                </a:rPr>
                <a:t>Active Compliance Check</a:t>
              </a:r>
              <a:endParaRPr b="1" sz="1480">
                <a:solidFill>
                  <a:srgbClr val="1E40AF"/>
                </a:solidFill>
                <a:latin typeface="Inter"/>
                <a:ea typeface="Inter"/>
                <a:cs typeface="Inter"/>
                <a:sym typeface="Inter"/>
              </a:endParaRPr>
            </a:p>
            <a:p>
              <a:pPr indent="0" lvl="0" marL="0" rtl="0" algn="l">
                <a:spcBef>
                  <a:spcPts val="750"/>
                </a:spcBef>
                <a:spcAft>
                  <a:spcPts val="0"/>
                </a:spcAft>
                <a:buNone/>
              </a:pPr>
              <a:r>
                <a:rPr b="0" lang="en" sz="1018">
                  <a:solidFill>
                    <a:srgbClr val="4B5563"/>
                  </a:solidFill>
                  <a:latin typeface="Inter"/>
                  <a:ea typeface="Inter"/>
                  <a:cs typeface="Inter"/>
                  <a:sym typeface="Inter"/>
                </a:rPr>
                <a:t>The orchestrator subjects the raw text output to programmatic validators before returning the payload to the external interface.</a:t>
              </a:r>
              <a:endParaRPr b="0" sz="1018">
                <a:solidFill>
                  <a:srgbClr val="4B5563"/>
                </a:solidFill>
                <a:latin typeface="Inter"/>
                <a:ea typeface="Inter"/>
                <a:cs typeface="Inter"/>
                <a:sym typeface="Inter"/>
              </a:endParaRPr>
            </a:p>
            <a:p>
              <a:pPr indent="0" lvl="0" marL="0" rtl="0" algn="l">
                <a:spcBef>
                  <a:spcPts val="1125"/>
                </a:spcBef>
                <a:spcAft>
                  <a:spcPts val="0"/>
                </a:spcAft>
                <a:buNone/>
              </a:pPr>
              <a:r>
                <a:rPr b="1" lang="en" sz="879">
                  <a:solidFill>
                    <a:srgbClr val="9333EA"/>
                  </a:solidFill>
                  <a:highlight>
                    <a:srgbClr val="EFF6FF"/>
                  </a:highlight>
                  <a:latin typeface="Courier New"/>
                  <a:ea typeface="Courier New"/>
                  <a:cs typeface="Courier New"/>
                  <a:sym typeface="Courier New"/>
                </a:rPr>
                <a:t>// Run outbound filter audit</a:t>
              </a:r>
              <a:endParaRPr b="1" sz="879">
                <a:solidFill>
                  <a:srgbClr val="9333EA"/>
                </a:solidFill>
                <a:highlight>
                  <a:srgbClr val="EFF6FF"/>
                </a:highlight>
                <a:latin typeface="Courier New"/>
                <a:ea typeface="Courier New"/>
                <a:cs typeface="Courier New"/>
                <a:sym typeface="Courier New"/>
              </a:endParaRPr>
            </a:p>
            <a:p>
              <a:pPr indent="0" lvl="0" marL="0" rtl="0" algn="l">
                <a:spcBef>
                  <a:spcPts val="300"/>
                </a:spcBef>
                <a:spcAft>
                  <a:spcPts val="0"/>
                </a:spcAft>
                <a:buNone/>
              </a:pPr>
              <a:r>
                <a:rPr b="1" lang="en" sz="879">
                  <a:solidFill>
                    <a:srgbClr val="1E40AF"/>
                  </a:solidFill>
                  <a:highlight>
                    <a:srgbClr val="EFF6FF"/>
                  </a:highlight>
                  <a:latin typeface="Courier New"/>
                  <a:ea typeface="Courier New"/>
                  <a:cs typeface="Courier New"/>
                  <a:sym typeface="Courier New"/>
                </a:rPr>
                <a:t>let audit = outbound_shield.verify({</a:t>
              </a:r>
              <a:endParaRPr b="1" sz="879">
                <a:solidFill>
                  <a:srgbClr val="1E40AF"/>
                </a:solidFill>
                <a:highlight>
                  <a:srgbClr val="EFF6FF"/>
                </a:highlight>
                <a:latin typeface="Courier New"/>
                <a:ea typeface="Courier New"/>
                <a:cs typeface="Courier New"/>
                <a:sym typeface="Courier New"/>
              </a:endParaRPr>
            </a:p>
            <a:p>
              <a:pPr indent="0" lvl="0" marL="0" rtl="0" algn="l">
                <a:spcBef>
                  <a:spcPts val="0"/>
                </a:spcBef>
                <a:spcAft>
                  <a:spcPts val="0"/>
                </a:spcAft>
                <a:buNone/>
              </a:pPr>
              <a:r>
                <a:rPr b="1" lang="en" sz="879">
                  <a:solidFill>
                    <a:srgbClr val="1E40AF"/>
                  </a:solidFill>
                  <a:highlight>
                    <a:srgbClr val="EFF6FF"/>
                  </a:highlight>
                  <a:latin typeface="Courier New"/>
                  <a:ea typeface="Courier New"/>
                  <a:cs typeface="Courier New"/>
                  <a:sym typeface="Courier New"/>
                </a:rPr>
                <a:t>  response: model_raw_output,</a:t>
              </a:r>
              <a:endParaRPr b="1" sz="879">
                <a:solidFill>
                  <a:srgbClr val="1E40AF"/>
                </a:solidFill>
                <a:highlight>
                  <a:srgbClr val="EFF6FF"/>
                </a:highlight>
                <a:latin typeface="Courier New"/>
                <a:ea typeface="Courier New"/>
                <a:cs typeface="Courier New"/>
                <a:sym typeface="Courier New"/>
              </a:endParaRPr>
            </a:p>
            <a:p>
              <a:pPr indent="0" lvl="0" marL="0" rtl="0" algn="l">
                <a:spcBef>
                  <a:spcPts val="0"/>
                </a:spcBef>
                <a:spcAft>
                  <a:spcPts val="0"/>
                </a:spcAft>
                <a:buNone/>
              </a:pPr>
              <a:r>
                <a:rPr b="1" lang="en" sz="879">
                  <a:solidFill>
                    <a:srgbClr val="1E40AF"/>
                  </a:solidFill>
                  <a:highlight>
                    <a:srgbClr val="EFF6FF"/>
                  </a:highlight>
                  <a:latin typeface="Courier New"/>
                  <a:ea typeface="Courier New"/>
                  <a:cs typeface="Courier New"/>
                  <a:sym typeface="Courier New"/>
                </a:rPr>
                <a:t>  allow_leakage: false,</a:t>
              </a:r>
              <a:endParaRPr b="1" sz="879">
                <a:solidFill>
                  <a:srgbClr val="1E40AF"/>
                </a:solidFill>
                <a:highlight>
                  <a:srgbClr val="EFF6FF"/>
                </a:highlight>
                <a:latin typeface="Courier New"/>
                <a:ea typeface="Courier New"/>
                <a:cs typeface="Courier New"/>
                <a:sym typeface="Courier New"/>
              </a:endParaRPr>
            </a:p>
            <a:p>
              <a:pPr indent="0" lvl="0" marL="0" rtl="0" algn="l">
                <a:spcBef>
                  <a:spcPts val="0"/>
                </a:spcBef>
                <a:spcAft>
                  <a:spcPts val="0"/>
                </a:spcAft>
                <a:buNone/>
              </a:pPr>
              <a:r>
                <a:rPr b="1" lang="en" sz="879">
                  <a:solidFill>
                    <a:srgbClr val="1E40AF"/>
                  </a:solidFill>
                  <a:highlight>
                    <a:srgbClr val="EFF6FF"/>
                  </a:highlight>
                  <a:latin typeface="Courier New"/>
                  <a:ea typeface="Courier New"/>
                  <a:cs typeface="Courier New"/>
                  <a:sym typeface="Courier New"/>
                </a:rPr>
                <a:t>  schema: target_schema</a:t>
              </a:r>
              <a:endParaRPr b="1" sz="879">
                <a:solidFill>
                  <a:srgbClr val="1E40AF"/>
                </a:solidFill>
                <a:highlight>
                  <a:srgbClr val="EFF6FF"/>
                </a:highlight>
                <a:latin typeface="Courier New"/>
                <a:ea typeface="Courier New"/>
                <a:cs typeface="Courier New"/>
                <a:sym typeface="Courier New"/>
              </a:endParaRPr>
            </a:p>
            <a:p>
              <a:pPr indent="0" lvl="0" marL="0" rtl="0" algn="l">
                <a:spcBef>
                  <a:spcPts val="0"/>
                </a:spcBef>
                <a:spcAft>
                  <a:spcPts val="0"/>
                </a:spcAft>
                <a:buNone/>
              </a:pPr>
              <a:r>
                <a:rPr b="1" lang="en" sz="879">
                  <a:solidFill>
                    <a:srgbClr val="1E40AF"/>
                  </a:solidFill>
                  <a:highlight>
                    <a:srgbClr val="EFF6FF"/>
                  </a:highlight>
                  <a:latin typeface="Courier New"/>
                  <a:ea typeface="Courier New"/>
                  <a:cs typeface="Courier New"/>
                  <a:sym typeface="Courier New"/>
                </a:rPr>
                <a:t>});</a:t>
              </a:r>
              <a:endParaRPr b="1" sz="879">
                <a:solidFill>
                  <a:srgbClr val="1E40AF"/>
                </a:solidFill>
                <a:highlight>
                  <a:srgbClr val="EFF6FF"/>
                </a:highlight>
                <a:latin typeface="Courier New"/>
                <a:ea typeface="Courier New"/>
                <a:cs typeface="Courier New"/>
                <a:sym typeface="Courier New"/>
              </a:endParaRPr>
            </a:p>
            <a:p>
              <a:pPr indent="0" lvl="0" marL="0" rtl="0" algn="l">
                <a:spcBef>
                  <a:spcPts val="450"/>
                </a:spcBef>
                <a:spcAft>
                  <a:spcPts val="0"/>
                </a:spcAft>
                <a:buNone/>
              </a:pPr>
              <a:r>
                <a:rPr b="1" lang="en" sz="879">
                  <a:solidFill>
                    <a:srgbClr val="059669"/>
                  </a:solidFill>
                  <a:latin typeface="Courier New"/>
                  <a:ea typeface="Courier New"/>
                  <a:cs typeface="Courier New"/>
                  <a:sym typeface="Courier New"/>
                </a:rPr>
                <a:t>if (audit.passed) {</a:t>
              </a:r>
              <a:endParaRPr b="1" sz="879">
                <a:solidFill>
                  <a:srgbClr val="059669"/>
                </a:solidFill>
                <a:latin typeface="Courier New"/>
                <a:ea typeface="Courier New"/>
                <a:cs typeface="Courier New"/>
                <a:sym typeface="Courier New"/>
              </a:endParaRPr>
            </a:p>
            <a:p>
              <a:pPr indent="0" lvl="0" marL="0" rtl="0" algn="l">
                <a:spcBef>
                  <a:spcPts val="0"/>
                </a:spcBef>
                <a:spcAft>
                  <a:spcPts val="0"/>
                </a:spcAft>
                <a:buNone/>
              </a:pPr>
              <a:r>
                <a:rPr b="1" lang="en" sz="879">
                  <a:solidFill>
                    <a:srgbClr val="059669"/>
                  </a:solidFill>
                  <a:latin typeface="Courier New"/>
                  <a:ea typeface="Courier New"/>
                  <a:cs typeface="Courier New"/>
                  <a:sym typeface="Courier New"/>
                </a:rPr>
                <a:t>  return deliver(audit.clean);</a:t>
              </a:r>
              <a:endParaRPr b="1" sz="879">
                <a:solidFill>
                  <a:srgbClr val="059669"/>
                </a:solidFill>
                <a:latin typeface="Courier New"/>
                <a:ea typeface="Courier New"/>
                <a:cs typeface="Courier New"/>
                <a:sym typeface="Courier New"/>
              </a:endParaRPr>
            </a:p>
            <a:p>
              <a:pPr indent="0" lvl="0" marL="0" rtl="0" algn="l">
                <a:spcBef>
                  <a:spcPts val="0"/>
                </a:spcBef>
                <a:spcAft>
                  <a:spcPts val="0"/>
                </a:spcAft>
                <a:buNone/>
              </a:pPr>
              <a:r>
                <a:rPr b="1" lang="en" sz="879">
                  <a:solidFill>
                    <a:srgbClr val="059669"/>
                  </a:solidFill>
                  <a:latin typeface="Courier New"/>
                  <a:ea typeface="Courier New"/>
                  <a:cs typeface="Courier New"/>
                  <a:sym typeface="Courier New"/>
                </a:rPr>
                <a:t>} else {</a:t>
              </a:r>
              <a:endParaRPr b="1" sz="879">
                <a:solidFill>
                  <a:srgbClr val="059669"/>
                </a:solidFill>
                <a:latin typeface="Courier New"/>
                <a:ea typeface="Courier New"/>
                <a:cs typeface="Courier New"/>
                <a:sym typeface="Courier New"/>
              </a:endParaRPr>
            </a:p>
            <a:p>
              <a:pPr indent="0" lvl="0" marL="0" rtl="0" algn="l">
                <a:spcBef>
                  <a:spcPts val="0"/>
                </a:spcBef>
                <a:spcAft>
                  <a:spcPts val="0"/>
                </a:spcAft>
                <a:buNone/>
              </a:pPr>
              <a:r>
                <a:rPr b="1" lang="en" sz="879">
                  <a:solidFill>
                    <a:srgbClr val="EF4444"/>
                  </a:solidFill>
                  <a:latin typeface="Courier New"/>
                  <a:ea typeface="Courier New"/>
                  <a:cs typeface="Courier New"/>
                  <a:sym typeface="Courier New"/>
                </a:rPr>
                <a:t>  throw SecurityException("Leak/Format Err");</a:t>
              </a:r>
              <a:endParaRPr b="1" sz="879">
                <a:solidFill>
                  <a:srgbClr val="EF4444"/>
                </a:solidFill>
                <a:latin typeface="Courier New"/>
                <a:ea typeface="Courier New"/>
                <a:cs typeface="Courier New"/>
                <a:sym typeface="Courier New"/>
              </a:endParaRPr>
            </a:p>
            <a:p>
              <a:pPr indent="0" lvl="0" marL="0" rtl="0" algn="l">
                <a:spcBef>
                  <a:spcPts val="0"/>
                </a:spcBef>
                <a:spcAft>
                  <a:spcPts val="0"/>
                </a:spcAft>
                <a:buNone/>
              </a:pPr>
              <a:r>
                <a:rPr b="1" lang="en" sz="879">
                  <a:solidFill>
                    <a:srgbClr val="059669"/>
                  </a:solidFill>
                  <a:latin typeface="Courier New"/>
                  <a:ea typeface="Courier New"/>
                  <a:cs typeface="Courier New"/>
                  <a:sym typeface="Courier New"/>
                </a:rPr>
                <a:t>}</a:t>
              </a:r>
              <a:endParaRPr b="1" sz="879">
                <a:solidFill>
                  <a:srgbClr val="059669"/>
                </a:solidFill>
                <a:latin typeface="Courier New"/>
                <a:ea typeface="Courier New"/>
                <a:cs typeface="Courier New"/>
                <a:sym typeface="Courier New"/>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0"/>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0" name="Google Shape;370;p30"/>
          <p:cNvGrpSpPr/>
          <p:nvPr/>
        </p:nvGrpSpPr>
        <p:grpSpPr>
          <a:xfrm>
            <a:off x="8458200" y="381000"/>
            <a:ext cx="304800" cy="304800"/>
            <a:chOff x="0" y="0"/>
            <a:chExt cx="304800" cy="304800"/>
          </a:xfrm>
        </p:grpSpPr>
        <p:sp>
          <p:nvSpPr>
            <p:cNvPr id="371" name="Google Shape;371;p30"/>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30"/>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30"/>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74" name="Google Shape;374;p30"/>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Agent Loop &amp; Execution Resilience</a:t>
            </a:r>
            <a:endParaRPr b="1" sz="2400">
              <a:solidFill>
                <a:srgbClr val="111827"/>
              </a:solidFill>
              <a:latin typeface="Inter"/>
              <a:ea typeface="Inter"/>
              <a:cs typeface="Inter"/>
              <a:sym typeface="Inter"/>
            </a:endParaRPr>
          </a:p>
          <a:p>
            <a:pPr indent="0" lvl="0" marL="0" rtl="0" algn="l">
              <a:spcBef>
                <a:spcPts val="300"/>
              </a:spcBef>
              <a:spcAft>
                <a:spcPts val="0"/>
              </a:spcAft>
              <a:buNone/>
            </a:pPr>
            <a:r>
              <a:rPr b="0" lang="en" sz="1200">
                <a:solidFill>
                  <a:srgbClr val="2563EB"/>
                </a:solidFill>
                <a:latin typeface="Inter Medium"/>
                <a:ea typeface="Inter Medium"/>
                <a:cs typeface="Inter Medium"/>
                <a:sym typeface="Inter Medium"/>
              </a:rPr>
              <a:t>Self-Correction, Output Validation, and Hard Budget Limits</a:t>
            </a:r>
            <a:endParaRPr b="0" sz="1200">
              <a:solidFill>
                <a:srgbClr val="2563EB"/>
              </a:solidFill>
              <a:latin typeface="Inter Medium"/>
              <a:ea typeface="Inter Medium"/>
              <a:cs typeface="Inter Medium"/>
              <a:sym typeface="Inter Medium"/>
            </a:endParaRPr>
          </a:p>
        </p:txBody>
      </p:sp>
      <p:cxnSp>
        <p:nvCxnSpPr>
          <p:cNvPr id="375" name="Google Shape;375;p30"/>
          <p:cNvCxnSpPr/>
          <p:nvPr/>
        </p:nvCxnSpPr>
        <p:spPr>
          <a:xfrm>
            <a:off x="381000" y="1143000"/>
            <a:ext cx="8382000" cy="0"/>
          </a:xfrm>
          <a:prstGeom prst="straightConnector1">
            <a:avLst/>
          </a:prstGeom>
          <a:solidFill>
            <a:srgbClr val="FFFFFF"/>
          </a:solidFill>
          <a:ln cap="flat" cmpd="sng" w="9525">
            <a:solidFill>
              <a:srgbClr val="E5E7EB"/>
            </a:solidFill>
            <a:prstDash val="solid"/>
            <a:round/>
            <a:headEnd len="sm" w="sm" type="none"/>
            <a:tailEnd len="sm" w="sm" type="none"/>
          </a:ln>
        </p:spPr>
      </p:cxnSp>
      <p:grpSp>
        <p:nvGrpSpPr>
          <p:cNvPr id="376" name="Google Shape;376;p30"/>
          <p:cNvGrpSpPr/>
          <p:nvPr/>
        </p:nvGrpSpPr>
        <p:grpSpPr>
          <a:xfrm>
            <a:off x="381000" y="1381125"/>
            <a:ext cx="2590800" cy="3305100"/>
            <a:chOff x="0" y="0"/>
            <a:chExt cx="2590800" cy="3305100"/>
          </a:xfrm>
        </p:grpSpPr>
        <p:sp>
          <p:nvSpPr>
            <p:cNvPr id="377" name="Google Shape;377;p30"/>
            <p:cNvSpPr/>
            <p:nvPr/>
          </p:nvSpPr>
          <p:spPr>
            <a:xfrm>
              <a:off x="0" y="0"/>
              <a:ext cx="2590800" cy="3305100"/>
            </a:xfrm>
            <a:prstGeom prst="roundRect">
              <a:avLst>
                <a:gd fmla="val 2941"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30"/>
            <p:cNvSpPr txBox="1"/>
            <p:nvPr/>
          </p:nvSpPr>
          <p:spPr>
            <a:xfrm>
              <a:off x="190500" y="228600"/>
              <a:ext cx="2209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F97316"/>
                  </a:solidFill>
                  <a:latin typeface="Inter"/>
                  <a:ea typeface="Inter"/>
                  <a:cs typeface="Inter"/>
                  <a:sym typeface="Inter"/>
                </a:rPr>
                <a:t>OUTPUT VALIDATION</a:t>
              </a:r>
              <a:endParaRPr b="1" sz="850">
                <a:solidFill>
                  <a:srgbClr val="F97316"/>
                </a:solidFill>
                <a:latin typeface="Inter"/>
                <a:ea typeface="Inter"/>
                <a:cs typeface="Inter"/>
                <a:sym typeface="Inter"/>
              </a:endParaRPr>
            </a:p>
            <a:p>
              <a:pPr indent="0" lvl="0" marL="0" rtl="0" algn="l">
                <a:spcBef>
                  <a:spcPts val="600"/>
                </a:spcBef>
                <a:spcAft>
                  <a:spcPts val="0"/>
                </a:spcAft>
                <a:buNone/>
              </a:pPr>
              <a:r>
                <a:rPr b="1" lang="en" sz="1400">
                  <a:solidFill>
                    <a:srgbClr val="111827"/>
                  </a:solidFill>
                  <a:latin typeface="Inter"/>
                  <a:ea typeface="Inter"/>
                  <a:cs typeface="Inter"/>
                  <a:sym typeface="Inter"/>
                </a:rPr>
                <a:t>Self-Correction Loop</a:t>
              </a:r>
              <a:endParaRPr b="1" sz="1400">
                <a:solidFill>
                  <a:srgbClr val="111827"/>
                </a:solidFill>
                <a:latin typeface="Inter"/>
                <a:ea typeface="Inter"/>
                <a:cs typeface="Inter"/>
                <a:sym typeface="Inter"/>
              </a:endParaRPr>
            </a:p>
            <a:p>
              <a:pPr indent="0" lvl="0" marL="0" rtl="0" algn="l">
                <a:spcBef>
                  <a:spcPts val="900"/>
                </a:spcBef>
                <a:spcAft>
                  <a:spcPts val="0"/>
                </a:spcAft>
                <a:buNone/>
              </a:pPr>
              <a:r>
                <a:rPr b="0" lang="en" sz="1150">
                  <a:solidFill>
                    <a:srgbClr val="4B5563"/>
                  </a:solidFill>
                  <a:latin typeface="Inter"/>
                  <a:ea typeface="Inter"/>
                  <a:cs typeface="Inter"/>
                  <a:sym typeface="Inter"/>
                </a:rPr>
                <a:t>If the agent's output fails structural validation (e.g., malformed JSON or invalid tool schemas), the validator catches the error and feeds it directly back to the agent for an immediate correction attempt.</a:t>
              </a:r>
              <a:endParaRPr b="0" sz="1150">
                <a:solidFill>
                  <a:srgbClr val="4B5563"/>
                </a:solidFill>
                <a:latin typeface="Inter"/>
                <a:ea typeface="Inter"/>
                <a:cs typeface="Inter"/>
                <a:sym typeface="Inter"/>
              </a:endParaRPr>
            </a:p>
            <a:p>
              <a:pPr indent="0" lvl="0" marL="0" rtl="0" algn="l">
                <a:spcBef>
                  <a:spcPts val="1200"/>
                </a:spcBef>
                <a:spcAft>
                  <a:spcPts val="0"/>
                </a:spcAft>
                <a:buNone/>
              </a:pPr>
              <a:r>
                <a:rPr b="1" lang="en" sz="850">
                  <a:solidFill>
                    <a:srgbClr val="1E40AF"/>
                  </a:solidFill>
                  <a:highlight>
                    <a:srgbClr val="F3F4F6"/>
                  </a:highlight>
                  <a:latin typeface="Courier New"/>
                  <a:ea typeface="Courier New"/>
                  <a:cs typeface="Courier New"/>
                  <a:sym typeface="Courier New"/>
                </a:rPr>
                <a:t>// Retry logic on validation error</a:t>
              </a:r>
              <a:br>
                <a:rPr b="1" lang="en" sz="850">
                  <a:solidFill>
                    <a:srgbClr val="1E40AF"/>
                  </a:solidFill>
                  <a:highlight>
                    <a:srgbClr val="F3F4F6"/>
                  </a:highlight>
                  <a:latin typeface="Courier New"/>
                  <a:ea typeface="Courier New"/>
                  <a:cs typeface="Courier New"/>
                  <a:sym typeface="Courier New"/>
                </a:rPr>
              </a:br>
              <a:r>
                <a:rPr b="1" lang="en" sz="850">
                  <a:solidFill>
                    <a:srgbClr val="1E40AF"/>
                  </a:solidFill>
                  <a:highlight>
                    <a:srgbClr val="F3F4F6"/>
                  </a:highlight>
                  <a:latin typeface="Courier New"/>
                  <a:ea typeface="Courier New"/>
                  <a:cs typeface="Courier New"/>
                  <a:sym typeface="Courier New"/>
                </a:rPr>
                <a:t>if (!validate(output)) {</a:t>
              </a:r>
              <a:br>
                <a:rPr b="1" lang="en" sz="850">
                  <a:solidFill>
                    <a:srgbClr val="1E40AF"/>
                  </a:solidFill>
                  <a:highlight>
                    <a:srgbClr val="F3F4F6"/>
                  </a:highlight>
                  <a:latin typeface="Courier New"/>
                  <a:ea typeface="Courier New"/>
                  <a:cs typeface="Courier New"/>
                  <a:sym typeface="Courier New"/>
                </a:rPr>
              </a:br>
              <a:r>
                <a:rPr b="1" lang="en" sz="850">
                  <a:solidFill>
                    <a:srgbClr val="1E40AF"/>
                  </a:solidFill>
                  <a:highlight>
                    <a:srgbClr val="F3F4F6"/>
                  </a:highlight>
                  <a:latin typeface="Courier New"/>
                  <a:ea typeface="Courier New"/>
                  <a:cs typeface="Courier New"/>
                  <a:sym typeface="Courier New"/>
                </a:rPr>
                <a:t>agent.retry(error);</a:t>
              </a:r>
              <a:br>
                <a:rPr b="1" lang="en" sz="850">
                  <a:solidFill>
                    <a:srgbClr val="1E40AF"/>
                  </a:solidFill>
                  <a:highlight>
                    <a:srgbClr val="F3F4F6"/>
                  </a:highlight>
                  <a:latin typeface="Courier New"/>
                  <a:ea typeface="Courier New"/>
                  <a:cs typeface="Courier New"/>
                  <a:sym typeface="Courier New"/>
                </a:rPr>
              </a:br>
              <a:r>
                <a:rPr b="1" lang="en" sz="850">
                  <a:solidFill>
                    <a:srgbClr val="1E40AF"/>
                  </a:solidFill>
                  <a:highlight>
                    <a:srgbClr val="F3F4F6"/>
                  </a:highlight>
                  <a:latin typeface="Courier New"/>
                  <a:ea typeface="Courier New"/>
                  <a:cs typeface="Courier New"/>
                  <a:sym typeface="Courier New"/>
                </a:rPr>
                <a:t>}</a:t>
              </a:r>
              <a:endParaRPr b="1" sz="850">
                <a:solidFill>
                  <a:srgbClr val="1E40AF"/>
                </a:solidFill>
                <a:highlight>
                  <a:srgbClr val="F3F4F6"/>
                </a:highlight>
                <a:latin typeface="Courier New"/>
                <a:ea typeface="Courier New"/>
                <a:cs typeface="Courier New"/>
                <a:sym typeface="Courier New"/>
              </a:endParaRPr>
            </a:p>
          </p:txBody>
        </p:sp>
      </p:grpSp>
      <p:grpSp>
        <p:nvGrpSpPr>
          <p:cNvPr id="379" name="Google Shape;379;p30"/>
          <p:cNvGrpSpPr/>
          <p:nvPr/>
        </p:nvGrpSpPr>
        <p:grpSpPr>
          <a:xfrm>
            <a:off x="3276600" y="1381125"/>
            <a:ext cx="2590800" cy="3305100"/>
            <a:chOff x="0" y="0"/>
            <a:chExt cx="2590800" cy="3305100"/>
          </a:xfrm>
        </p:grpSpPr>
        <p:sp>
          <p:nvSpPr>
            <p:cNvPr id="380" name="Google Shape;380;p30"/>
            <p:cNvSpPr/>
            <p:nvPr/>
          </p:nvSpPr>
          <p:spPr>
            <a:xfrm>
              <a:off x="0" y="0"/>
              <a:ext cx="2590800" cy="3305100"/>
            </a:xfrm>
            <a:prstGeom prst="roundRect">
              <a:avLst>
                <a:gd fmla="val 2941"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30"/>
            <p:cNvSpPr txBox="1"/>
            <p:nvPr/>
          </p:nvSpPr>
          <p:spPr>
            <a:xfrm>
              <a:off x="190500" y="228600"/>
              <a:ext cx="2209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F97316"/>
                  </a:solidFill>
                  <a:latin typeface="Inter"/>
                  <a:ea typeface="Inter"/>
                  <a:cs typeface="Inter"/>
                  <a:sym typeface="Inter"/>
                </a:rPr>
                <a:t>EXECUTION SAFETY</a:t>
              </a:r>
              <a:endParaRPr b="1" sz="850">
                <a:solidFill>
                  <a:srgbClr val="F97316"/>
                </a:solidFill>
                <a:latin typeface="Inter"/>
                <a:ea typeface="Inter"/>
                <a:cs typeface="Inter"/>
                <a:sym typeface="Inter"/>
              </a:endParaRPr>
            </a:p>
            <a:p>
              <a:pPr indent="0" lvl="0" marL="0" rtl="0" algn="l">
                <a:spcBef>
                  <a:spcPts val="600"/>
                </a:spcBef>
                <a:spcAft>
                  <a:spcPts val="0"/>
                </a:spcAft>
                <a:buNone/>
              </a:pPr>
              <a:r>
                <a:rPr b="1" lang="en" sz="1400">
                  <a:solidFill>
                    <a:srgbClr val="111827"/>
                  </a:solidFill>
                  <a:latin typeface="Inter"/>
                  <a:ea typeface="Inter"/>
                  <a:cs typeface="Inter"/>
                  <a:sym typeface="Inter"/>
                </a:rPr>
                <a:t>Token &amp; Budget Limits</a:t>
              </a:r>
              <a:endParaRPr b="1" sz="1400">
                <a:solidFill>
                  <a:srgbClr val="111827"/>
                </a:solidFill>
                <a:latin typeface="Inter"/>
                <a:ea typeface="Inter"/>
                <a:cs typeface="Inter"/>
                <a:sym typeface="Inter"/>
              </a:endParaRPr>
            </a:p>
            <a:p>
              <a:pPr indent="0" lvl="0" marL="0" rtl="0" algn="l">
                <a:spcBef>
                  <a:spcPts val="900"/>
                </a:spcBef>
                <a:spcAft>
                  <a:spcPts val="0"/>
                </a:spcAft>
                <a:buNone/>
              </a:pPr>
              <a:r>
                <a:rPr b="0" lang="en" sz="1150">
                  <a:solidFill>
                    <a:srgbClr val="4B5563"/>
                  </a:solidFill>
                  <a:latin typeface="Inter"/>
                  <a:ea typeface="Inter"/>
                  <a:cs typeface="Inter"/>
                  <a:sym typeface="Inter"/>
                </a:rPr>
                <a:t>To prevent runaway loops and infinite recursion, strict maximum execution step and token usage thresholds are actively monitored at runtime. Exceeding these limits triggers an immediate graceful termination.</a:t>
              </a:r>
              <a:endParaRPr b="0" sz="1150">
                <a:solidFill>
                  <a:srgbClr val="4B5563"/>
                </a:solidFill>
                <a:latin typeface="Inter"/>
                <a:ea typeface="Inter"/>
                <a:cs typeface="Inter"/>
                <a:sym typeface="Inter"/>
              </a:endParaRPr>
            </a:p>
            <a:p>
              <a:pPr indent="0" lvl="0" marL="0" rtl="0" algn="l">
                <a:spcBef>
                  <a:spcPts val="1200"/>
                </a:spcBef>
                <a:spcAft>
                  <a:spcPts val="0"/>
                </a:spcAft>
                <a:buNone/>
              </a:pPr>
              <a:r>
                <a:rPr b="1" lang="en" sz="850">
                  <a:solidFill>
                    <a:srgbClr val="1E40AF"/>
                  </a:solidFill>
                  <a:highlight>
                    <a:srgbClr val="F3F4F6"/>
                  </a:highlight>
                  <a:latin typeface="Courier New"/>
                  <a:ea typeface="Courier New"/>
                  <a:cs typeface="Courier New"/>
                  <a:sym typeface="Courier New"/>
                </a:rPr>
                <a:t>// Protect context window</a:t>
              </a:r>
              <a:br>
                <a:rPr b="1" lang="en" sz="850">
                  <a:solidFill>
                    <a:srgbClr val="1E40AF"/>
                  </a:solidFill>
                  <a:highlight>
                    <a:srgbClr val="F3F4F6"/>
                  </a:highlight>
                  <a:latin typeface="Courier New"/>
                  <a:ea typeface="Courier New"/>
                  <a:cs typeface="Courier New"/>
                  <a:sym typeface="Courier New"/>
                </a:rPr>
              </a:br>
              <a:r>
                <a:rPr b="1" lang="en" sz="850">
                  <a:solidFill>
                    <a:srgbClr val="1E40AF"/>
                  </a:solidFill>
                  <a:highlight>
                    <a:srgbClr val="F3F4F6"/>
                  </a:highlight>
                  <a:latin typeface="Courier New"/>
                  <a:ea typeface="Courier New"/>
                  <a:cs typeface="Courier New"/>
                  <a:sym typeface="Courier New"/>
                </a:rPr>
                <a:t>if (tokens.used &gt; limit) {</a:t>
              </a:r>
              <a:br>
                <a:rPr b="1" lang="en" sz="850">
                  <a:solidFill>
                    <a:srgbClr val="1E40AF"/>
                  </a:solidFill>
                  <a:highlight>
                    <a:srgbClr val="F3F4F6"/>
                  </a:highlight>
                  <a:latin typeface="Courier New"/>
                  <a:ea typeface="Courier New"/>
                  <a:cs typeface="Courier New"/>
                  <a:sym typeface="Courier New"/>
                </a:rPr>
              </a:br>
              <a:r>
                <a:rPr b="1" lang="en" sz="850">
                  <a:solidFill>
                    <a:srgbClr val="1E40AF"/>
                  </a:solidFill>
                  <a:highlight>
                    <a:srgbClr val="F3F4F6"/>
                  </a:highlight>
                  <a:latin typeface="Courier New"/>
                  <a:ea typeface="Courier New"/>
                  <a:cs typeface="Courier New"/>
                  <a:sym typeface="Courier New"/>
                </a:rPr>
                <a:t>throw new TokenLimitException();</a:t>
              </a:r>
              <a:br>
                <a:rPr b="1" lang="en" sz="850">
                  <a:solidFill>
                    <a:srgbClr val="1E40AF"/>
                  </a:solidFill>
                  <a:highlight>
                    <a:srgbClr val="F3F4F6"/>
                  </a:highlight>
                  <a:latin typeface="Courier New"/>
                  <a:ea typeface="Courier New"/>
                  <a:cs typeface="Courier New"/>
                  <a:sym typeface="Courier New"/>
                </a:rPr>
              </a:br>
              <a:r>
                <a:rPr b="1" lang="en" sz="850">
                  <a:solidFill>
                    <a:srgbClr val="1E40AF"/>
                  </a:solidFill>
                  <a:highlight>
                    <a:srgbClr val="F3F4F6"/>
                  </a:highlight>
                  <a:latin typeface="Courier New"/>
                  <a:ea typeface="Courier New"/>
                  <a:cs typeface="Courier New"/>
                  <a:sym typeface="Courier New"/>
                </a:rPr>
                <a:t>}</a:t>
              </a:r>
              <a:endParaRPr b="1" sz="850">
                <a:solidFill>
                  <a:srgbClr val="1E40AF"/>
                </a:solidFill>
                <a:highlight>
                  <a:srgbClr val="F3F4F6"/>
                </a:highlight>
                <a:latin typeface="Courier New"/>
                <a:ea typeface="Courier New"/>
                <a:cs typeface="Courier New"/>
                <a:sym typeface="Courier New"/>
              </a:endParaRPr>
            </a:p>
          </p:txBody>
        </p:sp>
      </p:grpSp>
      <p:grpSp>
        <p:nvGrpSpPr>
          <p:cNvPr id="382" name="Google Shape;382;p30"/>
          <p:cNvGrpSpPr/>
          <p:nvPr/>
        </p:nvGrpSpPr>
        <p:grpSpPr>
          <a:xfrm>
            <a:off x="6172200" y="1381125"/>
            <a:ext cx="2590800" cy="3305100"/>
            <a:chOff x="0" y="0"/>
            <a:chExt cx="2590800" cy="3305100"/>
          </a:xfrm>
        </p:grpSpPr>
        <p:sp>
          <p:nvSpPr>
            <p:cNvPr id="383" name="Google Shape;383;p30"/>
            <p:cNvSpPr/>
            <p:nvPr/>
          </p:nvSpPr>
          <p:spPr>
            <a:xfrm>
              <a:off x="0" y="0"/>
              <a:ext cx="2590800" cy="3305100"/>
            </a:xfrm>
            <a:prstGeom prst="roundRect">
              <a:avLst>
                <a:gd fmla="val 2941"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30"/>
            <p:cNvSpPr txBox="1"/>
            <p:nvPr/>
          </p:nvSpPr>
          <p:spPr>
            <a:xfrm>
              <a:off x="190500" y="228600"/>
              <a:ext cx="2209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2563EB"/>
                  </a:solidFill>
                  <a:latin typeface="Inter"/>
                  <a:ea typeface="Inter"/>
                  <a:cs typeface="Inter"/>
                  <a:sym typeface="Inter"/>
                </a:rPr>
                <a:t>RESILIENCE METRICS</a:t>
              </a:r>
              <a:endParaRPr b="1" sz="850">
                <a:solidFill>
                  <a:srgbClr val="2563EB"/>
                </a:solidFill>
                <a:latin typeface="Inter"/>
                <a:ea typeface="Inter"/>
                <a:cs typeface="Inter"/>
                <a:sym typeface="Inter"/>
              </a:endParaRPr>
            </a:p>
            <a:p>
              <a:pPr indent="0" lvl="0" marL="0" rtl="0" algn="l">
                <a:spcBef>
                  <a:spcPts val="600"/>
                </a:spcBef>
                <a:spcAft>
                  <a:spcPts val="0"/>
                </a:spcAft>
                <a:buNone/>
              </a:pPr>
              <a:r>
                <a:rPr b="1" lang="en" sz="1400">
                  <a:solidFill>
                    <a:srgbClr val="1E40AF"/>
                  </a:solidFill>
                  <a:latin typeface="Inter"/>
                  <a:ea typeface="Inter"/>
                  <a:cs typeface="Inter"/>
                  <a:sym typeface="Inter"/>
                </a:rPr>
                <a:t>Loop Control Guard</a:t>
              </a:r>
              <a:endParaRPr b="1" sz="1400">
                <a:solidFill>
                  <a:srgbClr val="1E40AF"/>
                </a:solidFill>
                <a:latin typeface="Inter"/>
                <a:ea typeface="Inter"/>
                <a:cs typeface="Inter"/>
                <a:sym typeface="Inter"/>
              </a:endParaRPr>
            </a:p>
            <a:p>
              <a:pPr indent="0" lvl="0" marL="0" rtl="0" algn="l">
                <a:spcBef>
                  <a:spcPts val="900"/>
                </a:spcBef>
                <a:spcAft>
                  <a:spcPts val="0"/>
                </a:spcAft>
                <a:buNone/>
              </a:pPr>
              <a:r>
                <a:rPr b="0" lang="en" sz="1150">
                  <a:solidFill>
                    <a:srgbClr val="1E3A8A"/>
                  </a:solidFill>
                  <a:latin typeface="Inter"/>
                  <a:ea typeface="Inter"/>
                  <a:cs typeface="Inter"/>
                  <a:sym typeface="Inter"/>
                </a:rPr>
                <a:t>Programmatic execution states ensure that state machines maintain determinism within non-deterministic environments, tracking exact state changes across every turn.</a:t>
              </a:r>
              <a:endParaRPr b="0" sz="1150">
                <a:solidFill>
                  <a:srgbClr val="1E3A8A"/>
                </a:solidFill>
                <a:latin typeface="Inter"/>
                <a:ea typeface="Inter"/>
                <a:cs typeface="Inter"/>
                <a:sym typeface="Inter"/>
              </a:endParaRPr>
            </a:p>
            <a:p>
              <a:pPr indent="0" lvl="0" marL="0" rtl="0" algn="l">
                <a:spcBef>
                  <a:spcPts val="1200"/>
                </a:spcBef>
                <a:spcAft>
                  <a:spcPts val="0"/>
                </a:spcAft>
                <a:buNone/>
              </a:pPr>
              <a:r>
                <a:rPr b="1" lang="en" sz="850">
                  <a:solidFill>
                    <a:srgbClr val="2563EB"/>
                  </a:solidFill>
                  <a:highlight>
                    <a:srgbClr val="EFF6FF"/>
                  </a:highlight>
                  <a:latin typeface="Courier New"/>
                  <a:ea typeface="Courier New"/>
                  <a:cs typeface="Courier New"/>
                  <a:sym typeface="Courier New"/>
                </a:rPr>
                <a:t>// Max turn threshold guard</a:t>
              </a:r>
              <a:br>
                <a:rPr b="1" lang="en" sz="850">
                  <a:solidFill>
                    <a:srgbClr val="2563EB"/>
                  </a:solidFill>
                  <a:highlight>
                    <a:srgbClr val="EFF6FF"/>
                  </a:highlight>
                  <a:latin typeface="Courier New"/>
                  <a:ea typeface="Courier New"/>
                  <a:cs typeface="Courier New"/>
                  <a:sym typeface="Courier New"/>
                </a:rPr>
              </a:br>
              <a:r>
                <a:rPr b="1" lang="en" sz="850">
                  <a:solidFill>
                    <a:srgbClr val="2563EB"/>
                  </a:solidFill>
                  <a:highlight>
                    <a:srgbClr val="EFF6FF"/>
                  </a:highlight>
                  <a:latin typeface="Courier New"/>
                  <a:ea typeface="Courier New"/>
                  <a:cs typeface="Courier New"/>
                  <a:sym typeface="Courier New"/>
                </a:rPr>
                <a:t>if (turns &gt;= MAX_TURNS) {</a:t>
              </a:r>
              <a:br>
                <a:rPr b="1" lang="en" sz="850">
                  <a:solidFill>
                    <a:srgbClr val="2563EB"/>
                  </a:solidFill>
                  <a:highlight>
                    <a:srgbClr val="EFF6FF"/>
                  </a:highlight>
                  <a:latin typeface="Courier New"/>
                  <a:ea typeface="Courier New"/>
                  <a:cs typeface="Courier New"/>
                  <a:sym typeface="Courier New"/>
                </a:rPr>
              </a:br>
              <a:r>
                <a:rPr b="1" lang="en" sz="850">
                  <a:solidFill>
                    <a:srgbClr val="2563EB"/>
                  </a:solidFill>
                  <a:highlight>
                    <a:srgbClr val="EFF6FF"/>
                  </a:highlight>
                  <a:latin typeface="Courier New"/>
                  <a:ea typeface="Courier New"/>
                  <a:cs typeface="Courier New"/>
                  <a:sym typeface="Courier New"/>
                </a:rPr>
                <a:t>return fallback_response();</a:t>
              </a:r>
              <a:br>
                <a:rPr b="1" lang="en" sz="850">
                  <a:solidFill>
                    <a:srgbClr val="2563EB"/>
                  </a:solidFill>
                  <a:highlight>
                    <a:srgbClr val="EFF6FF"/>
                  </a:highlight>
                  <a:latin typeface="Courier New"/>
                  <a:ea typeface="Courier New"/>
                  <a:cs typeface="Courier New"/>
                  <a:sym typeface="Courier New"/>
                </a:rPr>
              </a:br>
              <a:r>
                <a:rPr b="1" lang="en" sz="850">
                  <a:solidFill>
                    <a:srgbClr val="2563EB"/>
                  </a:solidFill>
                  <a:highlight>
                    <a:srgbClr val="EFF6FF"/>
                  </a:highlight>
                  <a:latin typeface="Courier New"/>
                  <a:ea typeface="Courier New"/>
                  <a:cs typeface="Courier New"/>
                  <a:sym typeface="Courier New"/>
                </a:rPr>
                <a:t>}</a:t>
              </a:r>
              <a:endParaRPr b="1" sz="850">
                <a:solidFill>
                  <a:srgbClr val="2563EB"/>
                </a:solidFill>
                <a:highlight>
                  <a:srgbClr val="EFF6FF"/>
                </a:highlight>
                <a:latin typeface="Courier New"/>
                <a:ea typeface="Courier New"/>
                <a:cs typeface="Courier New"/>
                <a:sym typeface="Courier New"/>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1"/>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0" name="Google Shape;390;p31"/>
          <p:cNvGrpSpPr/>
          <p:nvPr/>
        </p:nvGrpSpPr>
        <p:grpSpPr>
          <a:xfrm>
            <a:off x="8458200" y="381000"/>
            <a:ext cx="304800" cy="304800"/>
            <a:chOff x="0" y="0"/>
            <a:chExt cx="304800" cy="304800"/>
          </a:xfrm>
        </p:grpSpPr>
        <p:sp>
          <p:nvSpPr>
            <p:cNvPr id="391" name="Google Shape;391;p31"/>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31"/>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31"/>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94" name="Google Shape;394;p31"/>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31"/>
          <p:cNvSpPr txBox="1"/>
          <p:nvPr/>
        </p:nvSpPr>
        <p:spPr>
          <a:xfrm>
            <a:off x="381000" y="285750"/>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11827"/>
                </a:solidFill>
                <a:latin typeface="Inter"/>
                <a:ea typeface="Inter"/>
                <a:cs typeface="Inter"/>
                <a:sym typeface="Inter"/>
              </a:rPr>
              <a:t>The ReAct Loop</a:t>
            </a:r>
            <a:endParaRPr b="1" sz="2600">
              <a:solidFill>
                <a:srgbClr val="111827"/>
              </a:solidFill>
              <a:latin typeface="Inter"/>
              <a:ea typeface="Inter"/>
              <a:cs typeface="Inter"/>
              <a:sym typeface="Inter"/>
            </a:endParaRPr>
          </a:p>
          <a:p>
            <a:pPr indent="0" lvl="0" marL="0" rtl="0" algn="l">
              <a:spcBef>
                <a:spcPts val="150"/>
              </a:spcBef>
              <a:spcAft>
                <a:spcPts val="0"/>
              </a:spcAft>
              <a:buNone/>
            </a:pPr>
            <a:r>
              <a:rPr b="0" lang="en" sz="1500">
                <a:solidFill>
                  <a:srgbClr val="2563EB"/>
                </a:solidFill>
                <a:latin typeface="Inter Medium"/>
                <a:ea typeface="Inter Medium"/>
                <a:cs typeface="Inter Medium"/>
                <a:sym typeface="Inter Medium"/>
              </a:rPr>
              <a:t>Enables Continuous Planning and Execution</a:t>
            </a:r>
            <a:endParaRPr b="0" sz="1500">
              <a:solidFill>
                <a:srgbClr val="2563EB"/>
              </a:solidFill>
              <a:latin typeface="Inter Medium"/>
              <a:ea typeface="Inter Medium"/>
              <a:cs typeface="Inter Medium"/>
              <a:sym typeface="Inter Medium"/>
            </a:endParaRPr>
          </a:p>
        </p:txBody>
      </p:sp>
      <p:grpSp>
        <p:nvGrpSpPr>
          <p:cNvPr id="396" name="Google Shape;396;p31"/>
          <p:cNvGrpSpPr/>
          <p:nvPr/>
        </p:nvGrpSpPr>
        <p:grpSpPr>
          <a:xfrm>
            <a:off x="1047750" y="1428750"/>
            <a:ext cx="1905000" cy="762000"/>
            <a:chOff x="1047750" y="1428750"/>
            <a:chExt cx="1905000" cy="762000"/>
          </a:xfrm>
        </p:grpSpPr>
        <p:sp>
          <p:nvSpPr>
            <p:cNvPr id="397" name="Google Shape;397;p31"/>
            <p:cNvSpPr/>
            <p:nvPr/>
          </p:nvSpPr>
          <p:spPr>
            <a:xfrm>
              <a:off x="1047750" y="1428750"/>
              <a:ext cx="1905000" cy="762000"/>
            </a:xfrm>
            <a:prstGeom prst="roundRect">
              <a:avLst>
                <a:gd fmla="val 50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31"/>
            <p:cNvSpPr txBox="1"/>
            <p:nvPr/>
          </p:nvSpPr>
          <p:spPr>
            <a:xfrm>
              <a:off x="1047750" y="1428750"/>
              <a:ext cx="1905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F97316"/>
                  </a:solidFill>
                  <a:latin typeface="Inter SemiBold"/>
                  <a:ea typeface="Inter SemiBold"/>
                  <a:cs typeface="Inter SemiBold"/>
                  <a:sym typeface="Inter SemiBold"/>
                </a:rPr>
                <a:t>Phase 01</a:t>
              </a:r>
              <a:endParaRPr b="0" sz="900">
                <a:solidFill>
                  <a:srgbClr val="F97316"/>
                </a:solidFill>
                <a:latin typeface="Inter SemiBold"/>
                <a:ea typeface="Inter SemiBold"/>
                <a:cs typeface="Inter SemiBold"/>
                <a:sym typeface="Inter SemiBold"/>
              </a:endParaRPr>
            </a:p>
            <a:p>
              <a:pPr indent="0" lvl="0" marL="0" rtl="0" algn="ctr">
                <a:spcBef>
                  <a:spcPts val="300"/>
                </a:spcBef>
                <a:spcAft>
                  <a:spcPts val="0"/>
                </a:spcAft>
                <a:buNone/>
              </a:pPr>
              <a:r>
                <a:rPr b="1" lang="en" sz="1500">
                  <a:solidFill>
                    <a:srgbClr val="111827"/>
                  </a:solidFill>
                  <a:latin typeface="Inter"/>
                  <a:ea typeface="Inter"/>
                  <a:cs typeface="Inter"/>
                  <a:sym typeface="Inter"/>
                </a:rPr>
                <a:t>Plan</a:t>
              </a:r>
              <a:endParaRPr b="1" sz="1500">
                <a:solidFill>
                  <a:srgbClr val="111827"/>
                </a:solidFill>
                <a:latin typeface="Inter"/>
                <a:ea typeface="Inter"/>
                <a:cs typeface="Inter"/>
                <a:sym typeface="Inter"/>
              </a:endParaRPr>
            </a:p>
          </p:txBody>
        </p:sp>
      </p:grpSp>
      <p:grpSp>
        <p:nvGrpSpPr>
          <p:cNvPr id="399" name="Google Shape;399;p31"/>
          <p:cNvGrpSpPr/>
          <p:nvPr/>
        </p:nvGrpSpPr>
        <p:grpSpPr>
          <a:xfrm>
            <a:off x="3619500" y="1428750"/>
            <a:ext cx="1905000" cy="762000"/>
            <a:chOff x="3619500" y="1428750"/>
            <a:chExt cx="1905000" cy="762000"/>
          </a:xfrm>
        </p:grpSpPr>
        <p:sp>
          <p:nvSpPr>
            <p:cNvPr id="400" name="Google Shape;400;p31"/>
            <p:cNvSpPr/>
            <p:nvPr/>
          </p:nvSpPr>
          <p:spPr>
            <a:xfrm>
              <a:off x="3619500" y="1428750"/>
              <a:ext cx="1905000" cy="762000"/>
            </a:xfrm>
            <a:prstGeom prst="roundRect">
              <a:avLst>
                <a:gd fmla="val 50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31"/>
            <p:cNvSpPr txBox="1"/>
            <p:nvPr/>
          </p:nvSpPr>
          <p:spPr>
            <a:xfrm>
              <a:off x="3619500" y="1428750"/>
              <a:ext cx="1905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F97316"/>
                  </a:solidFill>
                  <a:latin typeface="Inter SemiBold"/>
                  <a:ea typeface="Inter SemiBold"/>
                  <a:cs typeface="Inter SemiBold"/>
                  <a:sym typeface="Inter SemiBold"/>
                </a:rPr>
                <a:t>Phase 02</a:t>
              </a:r>
              <a:endParaRPr b="0" sz="900">
                <a:solidFill>
                  <a:srgbClr val="F97316"/>
                </a:solidFill>
                <a:latin typeface="Inter SemiBold"/>
                <a:ea typeface="Inter SemiBold"/>
                <a:cs typeface="Inter SemiBold"/>
                <a:sym typeface="Inter SemiBold"/>
              </a:endParaRPr>
            </a:p>
            <a:p>
              <a:pPr indent="0" lvl="0" marL="0" rtl="0" algn="ctr">
                <a:spcBef>
                  <a:spcPts val="300"/>
                </a:spcBef>
                <a:spcAft>
                  <a:spcPts val="0"/>
                </a:spcAft>
                <a:buNone/>
              </a:pPr>
              <a:r>
                <a:rPr b="1" lang="en" sz="1500">
                  <a:solidFill>
                    <a:srgbClr val="111827"/>
                  </a:solidFill>
                  <a:latin typeface="Inter"/>
                  <a:ea typeface="Inter"/>
                  <a:cs typeface="Inter"/>
                  <a:sym typeface="Inter"/>
                </a:rPr>
                <a:t>Act</a:t>
              </a:r>
              <a:endParaRPr b="1" sz="1500">
                <a:solidFill>
                  <a:srgbClr val="111827"/>
                </a:solidFill>
                <a:latin typeface="Inter"/>
                <a:ea typeface="Inter"/>
                <a:cs typeface="Inter"/>
                <a:sym typeface="Inter"/>
              </a:endParaRPr>
            </a:p>
          </p:txBody>
        </p:sp>
      </p:grpSp>
      <p:grpSp>
        <p:nvGrpSpPr>
          <p:cNvPr id="402" name="Google Shape;402;p31"/>
          <p:cNvGrpSpPr/>
          <p:nvPr/>
        </p:nvGrpSpPr>
        <p:grpSpPr>
          <a:xfrm>
            <a:off x="6191250" y="1428750"/>
            <a:ext cx="1905000" cy="762000"/>
            <a:chOff x="6191250" y="1428750"/>
            <a:chExt cx="1905000" cy="762000"/>
          </a:xfrm>
        </p:grpSpPr>
        <p:sp>
          <p:nvSpPr>
            <p:cNvPr id="403" name="Google Shape;403;p31"/>
            <p:cNvSpPr/>
            <p:nvPr/>
          </p:nvSpPr>
          <p:spPr>
            <a:xfrm>
              <a:off x="6191250" y="1428750"/>
              <a:ext cx="1905000" cy="762000"/>
            </a:xfrm>
            <a:prstGeom prst="roundRect">
              <a:avLst>
                <a:gd fmla="val 5000" name="adj"/>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31"/>
            <p:cNvSpPr txBox="1"/>
            <p:nvPr/>
          </p:nvSpPr>
          <p:spPr>
            <a:xfrm>
              <a:off x="6191250" y="1428750"/>
              <a:ext cx="1905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F97316"/>
                  </a:solidFill>
                  <a:latin typeface="Inter SemiBold"/>
                  <a:ea typeface="Inter SemiBold"/>
                  <a:cs typeface="Inter SemiBold"/>
                  <a:sym typeface="Inter SemiBold"/>
                </a:rPr>
                <a:t>Phase 03</a:t>
              </a:r>
              <a:endParaRPr b="0" sz="900">
                <a:solidFill>
                  <a:srgbClr val="F97316"/>
                </a:solidFill>
                <a:latin typeface="Inter SemiBold"/>
                <a:ea typeface="Inter SemiBold"/>
                <a:cs typeface="Inter SemiBold"/>
                <a:sym typeface="Inter SemiBold"/>
              </a:endParaRPr>
            </a:p>
            <a:p>
              <a:pPr indent="0" lvl="0" marL="0" rtl="0" algn="ctr">
                <a:spcBef>
                  <a:spcPts val="300"/>
                </a:spcBef>
                <a:spcAft>
                  <a:spcPts val="0"/>
                </a:spcAft>
                <a:buNone/>
              </a:pPr>
              <a:r>
                <a:rPr b="1" lang="en" sz="1500">
                  <a:solidFill>
                    <a:srgbClr val="111827"/>
                  </a:solidFill>
                  <a:latin typeface="Inter"/>
                  <a:ea typeface="Inter"/>
                  <a:cs typeface="Inter"/>
                  <a:sym typeface="Inter"/>
                </a:rPr>
                <a:t>Observe</a:t>
              </a:r>
              <a:endParaRPr b="1" sz="1500">
                <a:solidFill>
                  <a:srgbClr val="111827"/>
                </a:solidFill>
                <a:latin typeface="Inter"/>
                <a:ea typeface="Inter"/>
                <a:cs typeface="Inter"/>
                <a:sym typeface="Inter"/>
              </a:endParaRPr>
            </a:p>
          </p:txBody>
        </p:sp>
      </p:grpSp>
      <p:sp>
        <p:nvSpPr>
          <p:cNvPr id="405" name="Google Shape;405;p31"/>
          <p:cNvSpPr txBox="1"/>
          <p:nvPr/>
        </p:nvSpPr>
        <p:spPr>
          <a:xfrm>
            <a:off x="2190750" y="2476500"/>
            <a:ext cx="4762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F97316"/>
                </a:solidFill>
                <a:latin typeface="Inter SemiBold"/>
                <a:ea typeface="Inter SemiBold"/>
                <a:cs typeface="Inter SemiBold"/>
                <a:sym typeface="Inter SemiBold"/>
              </a:rPr>
              <a:t>If goal is not met: Feed observation back to adjust plan</a:t>
            </a:r>
            <a:endParaRPr b="0" sz="850">
              <a:solidFill>
                <a:srgbClr val="F97316"/>
              </a:solidFill>
              <a:latin typeface="Inter SemiBold"/>
              <a:ea typeface="Inter SemiBold"/>
              <a:cs typeface="Inter SemiBold"/>
              <a:sym typeface="Inter SemiBold"/>
            </a:endParaRPr>
          </a:p>
        </p:txBody>
      </p:sp>
      <p:sp>
        <p:nvSpPr>
          <p:cNvPr id="406" name="Google Shape;406;p31"/>
          <p:cNvSpPr txBox="1"/>
          <p:nvPr/>
        </p:nvSpPr>
        <p:spPr>
          <a:xfrm>
            <a:off x="1047750" y="3000375"/>
            <a:ext cx="33339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2563EB"/>
                </a:solidFill>
                <a:latin typeface="Inter SemiBold"/>
                <a:ea typeface="Inter SemiBold"/>
                <a:cs typeface="Inter SemiBold"/>
                <a:sym typeface="Inter SemiBold"/>
              </a:rPr>
              <a:t>The Iterative Cycle</a:t>
            </a:r>
            <a:endParaRPr b="0" sz="1000">
              <a:solidFill>
                <a:srgbClr val="2563EB"/>
              </a:solidFill>
              <a:latin typeface="Inter SemiBold"/>
              <a:ea typeface="Inter SemiBold"/>
              <a:cs typeface="Inter SemiBold"/>
              <a:sym typeface="Inter SemiBold"/>
            </a:endParaRPr>
          </a:p>
          <a:p>
            <a:pPr indent="0" lvl="0" marL="0" rtl="0" algn="l">
              <a:spcBef>
                <a:spcPts val="600"/>
              </a:spcBef>
              <a:spcAft>
                <a:spcPts val="0"/>
              </a:spcAft>
              <a:buNone/>
            </a:pPr>
            <a:r>
              <a:rPr b="0" lang="en" sz="1100">
                <a:solidFill>
                  <a:srgbClr val="4B5563"/>
                </a:solidFill>
                <a:latin typeface="Inter"/>
                <a:ea typeface="Inter"/>
                <a:cs typeface="Inter"/>
                <a:sym typeface="Inter"/>
              </a:rPr>
              <a:t>Intelligent agents navigate complex tasks using the ReAct (Reasoning and Acting) loop. This iterative cycle consists of three phases: Plan, Act, and Observe. The agent analyzes the goal to formulate a Plan...</a:t>
            </a:r>
            <a:endParaRPr b="0" sz="1100">
              <a:solidFill>
                <a:srgbClr val="4B5563"/>
              </a:solidFill>
              <a:latin typeface="Inter"/>
              <a:ea typeface="Inter"/>
              <a:cs typeface="Inter"/>
              <a:sym typeface="Inter"/>
            </a:endParaRPr>
          </a:p>
        </p:txBody>
      </p:sp>
      <p:sp>
        <p:nvSpPr>
          <p:cNvPr id="407" name="Google Shape;407;p31"/>
          <p:cNvSpPr txBox="1"/>
          <p:nvPr/>
        </p:nvSpPr>
        <p:spPr>
          <a:xfrm>
            <a:off x="4762500" y="3000375"/>
            <a:ext cx="33339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F97316"/>
                </a:solidFill>
                <a:latin typeface="Inter SemiBold"/>
                <a:ea typeface="Inter SemiBold"/>
                <a:cs typeface="Inter SemiBold"/>
                <a:sym typeface="Inter SemiBold"/>
              </a:rPr>
              <a:t>Continuous Execution</a:t>
            </a:r>
            <a:endParaRPr b="0" sz="1000">
              <a:solidFill>
                <a:srgbClr val="F97316"/>
              </a:solidFill>
              <a:latin typeface="Inter SemiBold"/>
              <a:ea typeface="Inter SemiBold"/>
              <a:cs typeface="Inter SemiBold"/>
              <a:sym typeface="Inter SemiBold"/>
            </a:endParaRPr>
          </a:p>
          <a:p>
            <a:pPr indent="0" lvl="0" marL="0" rtl="0" algn="l">
              <a:spcBef>
                <a:spcPts val="600"/>
              </a:spcBef>
              <a:spcAft>
                <a:spcPts val="0"/>
              </a:spcAft>
              <a:buNone/>
            </a:pPr>
            <a:r>
              <a:rPr b="0" lang="en" sz="1100">
                <a:solidFill>
                  <a:srgbClr val="4B5563"/>
                </a:solidFill>
                <a:latin typeface="Inter"/>
                <a:ea typeface="Inter"/>
                <a:cs typeface="Inter"/>
                <a:sym typeface="Inter"/>
              </a:rPr>
              <a:t>...uses tools to Act on that plan, and then Observes the results of the action. If the goal is not met, the agent feeds the observation back into the system to adjust its plan, iterating until the objective is fully resolved.</a:t>
            </a:r>
            <a:endParaRPr b="0" sz="1100">
              <a:solidFill>
                <a:srgbClr val="4B5563"/>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2"/>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13" name="Google Shape;413;p32"/>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414" name="Google Shape;414;p32"/>
          <p:cNvGrpSpPr/>
          <p:nvPr/>
        </p:nvGrpSpPr>
        <p:grpSpPr>
          <a:xfrm>
            <a:off x="8458200" y="381000"/>
            <a:ext cx="304800" cy="304800"/>
            <a:chOff x="0" y="0"/>
            <a:chExt cx="304800" cy="304800"/>
          </a:xfrm>
        </p:grpSpPr>
        <p:sp>
          <p:nvSpPr>
            <p:cNvPr id="415" name="Google Shape;415;p32"/>
            <p:cNvSpPr/>
            <p:nvPr/>
          </p:nvSpPr>
          <p:spPr>
            <a:xfrm>
              <a:off x="0" y="0"/>
              <a:ext cx="304800" cy="304800"/>
            </a:xfrm>
            <a:prstGeom prst="roundRect">
              <a:avLst>
                <a:gd fmla="val 1875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32"/>
            <p:cNvSpPr/>
            <p:nvPr/>
          </p:nvSpPr>
          <p:spPr>
            <a:xfrm>
              <a:off x="95250" y="95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32"/>
            <p:cNvSpPr/>
            <p:nvPr/>
          </p:nvSpPr>
          <p:spPr>
            <a:xfrm>
              <a:off x="38100" y="38100"/>
              <a:ext cx="228600" cy="228600"/>
            </a:xfrm>
            <a:custGeom>
              <a:rect b="b" l="l" r="r" t="t"/>
              <a:pathLst>
                <a:path extrusionOk="0" fill="none" h="120000" w="120000">
                  <a:moveTo>
                    <a:pt x="60000" y="0"/>
                  </a:moveTo>
                  <a:lnTo>
                    <a:pt x="60000" y="30000"/>
                  </a:lnTo>
                  <a:moveTo>
                    <a:pt x="60000" y="90000"/>
                  </a:moveTo>
                  <a:lnTo>
                    <a:pt x="60000" y="120000"/>
                  </a:lnTo>
                  <a:moveTo>
                    <a:pt x="0" y="60000"/>
                  </a:moveTo>
                  <a:lnTo>
                    <a:pt x="30000" y="60000"/>
                  </a:lnTo>
                  <a:moveTo>
                    <a:pt x="90000" y="60000"/>
                  </a:moveTo>
                  <a:lnTo>
                    <a:pt x="120000" y="60000"/>
                  </a:lnTo>
                </a:path>
              </a:pathLst>
            </a:custGeom>
            <a:solidFill>
              <a:srgbClr val="FFFFFF"/>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18" name="Google Shape;418;p32"/>
          <p:cNvSpPr/>
          <p:nvPr/>
        </p:nvSpPr>
        <p:spPr>
          <a:xfrm>
            <a:off x="381000" y="1143000"/>
            <a:ext cx="8382000" cy="0"/>
          </a:xfrm>
          <a:custGeom>
            <a:rect b="b" l="l" r="r" t="t"/>
            <a:pathLst>
              <a:path extrusionOk="0" h="120000" w="120000">
                <a:moveTo>
                  <a:pt x="0" y="0"/>
                </a:moveTo>
                <a:lnTo>
                  <a:pt x="120000" y="0"/>
                </a:lnTo>
              </a:path>
            </a:pathLst>
          </a:cu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32"/>
          <p:cNvSpPr txBox="1"/>
          <p:nvPr/>
        </p:nvSpPr>
        <p:spPr>
          <a:xfrm>
            <a:off x="381000" y="238125"/>
            <a:ext cx="762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11827"/>
                </a:solidFill>
                <a:latin typeface="Inter"/>
                <a:ea typeface="Inter"/>
                <a:cs typeface="Inter"/>
                <a:sym typeface="Inter"/>
              </a:rPr>
              <a:t>Evaluation Harnesses Ensure Reliability</a:t>
            </a:r>
            <a:endParaRPr b="1" sz="2400">
              <a:solidFill>
                <a:srgbClr val="111827"/>
              </a:solidFill>
              <a:latin typeface="Inter"/>
              <a:ea typeface="Inter"/>
              <a:cs typeface="Inter"/>
              <a:sym typeface="Inter"/>
            </a:endParaRPr>
          </a:p>
          <a:p>
            <a:pPr indent="0" lvl="0" marL="0" rtl="0" algn="l">
              <a:spcBef>
                <a:spcPts val="300"/>
              </a:spcBef>
              <a:spcAft>
                <a:spcPts val="0"/>
              </a:spcAft>
              <a:buNone/>
            </a:pPr>
            <a:r>
              <a:rPr b="1" lang="en" sz="2400">
                <a:solidFill>
                  <a:srgbClr val="111827"/>
                </a:solidFill>
                <a:latin typeface="Inter"/>
                <a:ea typeface="Inter"/>
                <a:cs typeface="Inter"/>
                <a:sym typeface="Inter"/>
              </a:rPr>
              <a:t>in Non-Deterministic Systems</a:t>
            </a:r>
            <a:endParaRPr b="1" sz="2400">
              <a:solidFill>
                <a:srgbClr val="111827"/>
              </a:solidFill>
              <a:latin typeface="Inter"/>
              <a:ea typeface="Inter"/>
              <a:cs typeface="Inter"/>
              <a:sym typeface="Inter"/>
            </a:endParaRPr>
          </a:p>
        </p:txBody>
      </p:sp>
      <p:sp>
        <p:nvSpPr>
          <p:cNvPr id="420" name="Google Shape;420;p32"/>
          <p:cNvSpPr txBox="1"/>
          <p:nvPr/>
        </p:nvSpPr>
        <p:spPr>
          <a:xfrm>
            <a:off x="381000" y="1285875"/>
            <a:ext cx="8382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B5563"/>
                </a:solidFill>
                <a:latin typeface="Inter"/>
                <a:ea typeface="Inter"/>
                <a:cs typeface="Inter"/>
                <a:sym typeface="Inter"/>
              </a:rPr>
              <a:t>Trust and safety are paramount when deploying AI. Because LLMs are non-deterministic—meaning they can generate different outputs for the same input—we must implement robust quality control.</a:t>
            </a:r>
            <a:endParaRPr b="0" sz="1300">
              <a:solidFill>
                <a:srgbClr val="4B5563"/>
              </a:solidFill>
              <a:latin typeface="Inter"/>
              <a:ea typeface="Inter"/>
              <a:cs typeface="Inter"/>
              <a:sym typeface="Inter"/>
            </a:endParaRPr>
          </a:p>
        </p:txBody>
      </p:sp>
      <p:grpSp>
        <p:nvGrpSpPr>
          <p:cNvPr id="421" name="Google Shape;421;p32"/>
          <p:cNvGrpSpPr/>
          <p:nvPr/>
        </p:nvGrpSpPr>
        <p:grpSpPr>
          <a:xfrm>
            <a:off x="381000" y="2047875"/>
            <a:ext cx="4038600" cy="2476500"/>
            <a:chOff x="0" y="0"/>
            <a:chExt cx="4038600" cy="2476500"/>
          </a:xfrm>
        </p:grpSpPr>
        <p:sp>
          <p:nvSpPr>
            <p:cNvPr id="422" name="Google Shape;422;p32"/>
            <p:cNvSpPr/>
            <p:nvPr/>
          </p:nvSpPr>
          <p:spPr>
            <a:xfrm>
              <a:off x="0" y="0"/>
              <a:ext cx="4038600" cy="2476500"/>
            </a:xfrm>
            <a:prstGeom prst="roundRect">
              <a:avLst>
                <a:gd fmla="val 307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23" name="Google Shape;423;p32"/>
            <p:cNvGrpSpPr/>
            <p:nvPr/>
          </p:nvGrpSpPr>
          <p:grpSpPr>
            <a:xfrm>
              <a:off x="3505200" y="228600"/>
              <a:ext cx="304800" cy="304800"/>
              <a:chOff x="0" y="0"/>
              <a:chExt cx="304800" cy="304800"/>
            </a:xfrm>
          </p:grpSpPr>
          <p:sp>
            <p:nvSpPr>
              <p:cNvPr id="424" name="Google Shape;424;p32"/>
              <p:cNvSpPr/>
              <p:nvPr/>
            </p:nvSpPr>
            <p:spPr>
              <a:xfrm>
                <a:off x="0" y="0"/>
                <a:ext cx="304800" cy="304800"/>
              </a:xfrm>
              <a:prstGeom prst="roundRect">
                <a:avLst>
                  <a:gd fmla="val 125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32"/>
              <p:cNvSpPr/>
              <p:nvPr/>
            </p:nvSpPr>
            <p:spPr>
              <a:xfrm>
                <a:off x="57150" y="171450"/>
                <a:ext cx="38100" cy="76200"/>
              </a:xfrm>
              <a:prstGeom prst="roundRect">
                <a:avLst>
                  <a:gd fmla="val 25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32"/>
              <p:cNvSpPr/>
              <p:nvPr/>
            </p:nvSpPr>
            <p:spPr>
              <a:xfrm>
                <a:off x="114300" y="95250"/>
                <a:ext cx="38100" cy="152400"/>
              </a:xfrm>
              <a:prstGeom prst="roundRect">
                <a:avLst>
                  <a:gd fmla="val 25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32"/>
              <p:cNvSpPr/>
              <p:nvPr/>
            </p:nvSpPr>
            <p:spPr>
              <a:xfrm>
                <a:off x="171450" y="133350"/>
                <a:ext cx="38100" cy="114300"/>
              </a:xfrm>
              <a:prstGeom prst="roundRect">
                <a:avLst>
                  <a:gd fmla="val 25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32"/>
              <p:cNvSpPr/>
              <p:nvPr/>
            </p:nvSpPr>
            <p:spPr>
              <a:xfrm>
                <a:off x="228600" y="57150"/>
                <a:ext cx="38100" cy="190500"/>
              </a:xfrm>
              <a:prstGeom prst="roundRect">
                <a:avLst>
                  <a:gd fmla="val 25000" name="adj"/>
                </a:avLst>
              </a:prstGeom>
              <a:solidFill>
                <a:srgbClr val="F973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29" name="Google Shape;429;p32"/>
            <p:cNvSpPr txBox="1"/>
            <p:nvPr/>
          </p:nvSpPr>
          <p:spPr>
            <a:xfrm>
              <a:off x="228600" y="228600"/>
              <a:ext cx="31242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97316"/>
                  </a:solidFill>
                  <a:latin typeface="Inter SemiBold"/>
                  <a:ea typeface="Inter SemiBold"/>
                  <a:cs typeface="Inter SemiBold"/>
                  <a:sym typeface="Inter SemiBold"/>
                </a:rPr>
                <a:t>EVALUATION &amp; TESTING</a:t>
              </a:r>
              <a:endParaRPr b="0" sz="1100">
                <a:solidFill>
                  <a:srgbClr val="F97316"/>
                </a:solidFill>
                <a:latin typeface="Inter SemiBold"/>
                <a:ea typeface="Inter SemiBold"/>
                <a:cs typeface="Inter SemiBold"/>
                <a:sym typeface="Inter SemiBold"/>
              </a:endParaRPr>
            </a:p>
            <a:p>
              <a:pPr indent="0" lvl="0" marL="0" rtl="0" algn="l">
                <a:spcBef>
                  <a:spcPts val="600"/>
                </a:spcBef>
                <a:spcAft>
                  <a:spcPts val="0"/>
                </a:spcAft>
                <a:buNone/>
              </a:pPr>
              <a:r>
                <a:rPr b="0" lang="en" sz="1500">
                  <a:solidFill>
                    <a:srgbClr val="111827"/>
                  </a:solidFill>
                  <a:latin typeface="Inter SemiBold"/>
                  <a:ea typeface="Inter SemiBold"/>
                  <a:cs typeface="Inter SemiBold"/>
                  <a:sym typeface="Inter SemiBold"/>
                </a:rPr>
                <a:t>Automated Benchmarks &amp; Test Runners</a:t>
              </a:r>
              <a:endParaRPr b="0" sz="1500">
                <a:solidFill>
                  <a:srgbClr val="111827"/>
                </a:solidFill>
                <a:latin typeface="Inter SemiBold"/>
                <a:ea typeface="Inter SemiBold"/>
                <a:cs typeface="Inter SemiBold"/>
                <a:sym typeface="Inter SemiBold"/>
              </a:endParaRPr>
            </a:p>
            <a:p>
              <a:pPr indent="0" lvl="0" marL="0" rtl="0" algn="l">
                <a:spcBef>
                  <a:spcPts val="900"/>
                </a:spcBef>
                <a:spcAft>
                  <a:spcPts val="0"/>
                </a:spcAft>
                <a:buNone/>
              </a:pPr>
              <a:r>
                <a:rPr b="0" lang="en" sz="1250">
                  <a:solidFill>
                    <a:srgbClr val="4B5563"/>
                  </a:solidFill>
                  <a:latin typeface="Inter"/>
                  <a:ea typeface="Inter"/>
                  <a:cs typeface="Inter"/>
                  <a:sym typeface="Inter"/>
                </a:rPr>
                <a:t>Test runners systematically evaluate agent performance against standardized datasets.</a:t>
              </a:r>
              <a:endParaRPr b="0" sz="1250">
                <a:solidFill>
                  <a:srgbClr val="4B5563"/>
                </a:solidFill>
                <a:latin typeface="Inter"/>
                <a:ea typeface="Inter"/>
                <a:cs typeface="Inter"/>
                <a:sym typeface="Inter"/>
              </a:endParaRPr>
            </a:p>
          </p:txBody>
        </p:sp>
      </p:grpSp>
      <p:grpSp>
        <p:nvGrpSpPr>
          <p:cNvPr id="430" name="Google Shape;430;p32"/>
          <p:cNvGrpSpPr/>
          <p:nvPr/>
        </p:nvGrpSpPr>
        <p:grpSpPr>
          <a:xfrm>
            <a:off x="4724400" y="2047875"/>
            <a:ext cx="4038600" cy="2476500"/>
            <a:chOff x="0" y="0"/>
            <a:chExt cx="4038600" cy="2476500"/>
          </a:xfrm>
        </p:grpSpPr>
        <p:sp>
          <p:nvSpPr>
            <p:cNvPr id="431" name="Google Shape;431;p32"/>
            <p:cNvSpPr/>
            <p:nvPr/>
          </p:nvSpPr>
          <p:spPr>
            <a:xfrm>
              <a:off x="0" y="0"/>
              <a:ext cx="4038600" cy="2476500"/>
            </a:xfrm>
            <a:prstGeom prst="roundRect">
              <a:avLst>
                <a:gd fmla="val 307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32" name="Google Shape;432;p32"/>
            <p:cNvGrpSpPr/>
            <p:nvPr/>
          </p:nvGrpSpPr>
          <p:grpSpPr>
            <a:xfrm>
              <a:off x="3505200" y="228600"/>
              <a:ext cx="304800" cy="304800"/>
              <a:chOff x="0" y="0"/>
              <a:chExt cx="304800" cy="304800"/>
            </a:xfrm>
          </p:grpSpPr>
          <p:sp>
            <p:nvSpPr>
              <p:cNvPr id="433" name="Google Shape;433;p32"/>
              <p:cNvSpPr/>
              <p:nvPr/>
            </p:nvSpPr>
            <p:spPr>
              <a:xfrm>
                <a:off x="0" y="0"/>
                <a:ext cx="304800" cy="304800"/>
              </a:xfrm>
              <a:prstGeom prst="roundRect">
                <a:avLst>
                  <a:gd fmla="val 125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32"/>
              <p:cNvSpPr/>
              <p:nvPr/>
            </p:nvSpPr>
            <p:spPr>
              <a:xfrm>
                <a:off x="76200" y="76200"/>
                <a:ext cx="152400" cy="171600"/>
              </a:xfrm>
              <a:custGeom>
                <a:rect b="b" l="l" r="r" t="t"/>
                <a:pathLst>
                  <a:path extrusionOk="0" h="120000" w="120000">
                    <a:moveTo>
                      <a:pt x="60000" y="0"/>
                    </a:moveTo>
                    <a:lnTo>
                      <a:pt x="120000" y="20000"/>
                    </a:lnTo>
                    <a:lnTo>
                      <a:pt x="120000" y="60000"/>
                    </a:lnTo>
                    <a:cubicBezTo>
                      <a:pt x="120000" y="93333"/>
                      <a:pt x="82500" y="113333"/>
                      <a:pt x="60000" y="120000"/>
                    </a:cubicBezTo>
                    <a:cubicBezTo>
                      <a:pt x="37500" y="113333"/>
                      <a:pt x="0" y="93333"/>
                      <a:pt x="0" y="60000"/>
                    </a:cubicBezTo>
                    <a:lnTo>
                      <a:pt x="0" y="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32"/>
              <p:cNvSpPr/>
              <p:nvPr/>
            </p:nvSpPr>
            <p:spPr>
              <a:xfrm>
                <a:off x="114300" y="123825"/>
                <a:ext cx="76200" cy="57300"/>
              </a:xfrm>
              <a:custGeom>
                <a:rect b="b" l="l" r="r" t="t"/>
                <a:pathLst>
                  <a:path extrusionOk="0" h="120000" w="120000">
                    <a:moveTo>
                      <a:pt x="0" y="60000"/>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36" name="Google Shape;436;p32"/>
            <p:cNvSpPr txBox="1"/>
            <p:nvPr/>
          </p:nvSpPr>
          <p:spPr>
            <a:xfrm>
              <a:off x="228600" y="228600"/>
              <a:ext cx="31242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F97316"/>
                  </a:solidFill>
                  <a:latin typeface="Inter SemiBold"/>
                  <a:ea typeface="Inter SemiBold"/>
                  <a:cs typeface="Inter SemiBold"/>
                  <a:sym typeface="Inter SemiBold"/>
                </a:rPr>
                <a:t>GUARDRAILS &amp; MONITORING</a:t>
              </a:r>
              <a:endParaRPr b="0" sz="1100">
                <a:solidFill>
                  <a:srgbClr val="F97316"/>
                </a:solidFill>
                <a:latin typeface="Inter SemiBold"/>
                <a:ea typeface="Inter SemiBold"/>
                <a:cs typeface="Inter SemiBold"/>
                <a:sym typeface="Inter SemiBold"/>
              </a:endParaRPr>
            </a:p>
            <a:p>
              <a:pPr indent="0" lvl="0" marL="0" rtl="0" algn="l">
                <a:spcBef>
                  <a:spcPts val="600"/>
                </a:spcBef>
                <a:spcAft>
                  <a:spcPts val="0"/>
                </a:spcAft>
                <a:buNone/>
              </a:pPr>
              <a:r>
                <a:rPr b="0" lang="en" sz="1500">
                  <a:solidFill>
                    <a:srgbClr val="111827"/>
                  </a:solidFill>
                  <a:latin typeface="Inter SemiBold"/>
                  <a:ea typeface="Inter SemiBold"/>
                  <a:cs typeface="Inter SemiBold"/>
                  <a:sym typeface="Inter SemiBold"/>
                </a:rPr>
                <a:t>Real-time Guardrails &amp; Output Monitoring</a:t>
              </a:r>
              <a:endParaRPr b="0" sz="1500">
                <a:solidFill>
                  <a:srgbClr val="111827"/>
                </a:solidFill>
                <a:latin typeface="Inter SemiBold"/>
                <a:ea typeface="Inter SemiBold"/>
                <a:cs typeface="Inter SemiBold"/>
                <a:sym typeface="Inter SemiBold"/>
              </a:endParaRPr>
            </a:p>
            <a:p>
              <a:pPr indent="0" lvl="0" marL="0" rtl="0" algn="l">
                <a:spcBef>
                  <a:spcPts val="900"/>
                </a:spcBef>
                <a:spcAft>
                  <a:spcPts val="0"/>
                </a:spcAft>
                <a:buNone/>
              </a:pPr>
              <a:r>
                <a:rPr b="0" lang="en" sz="1250">
                  <a:solidFill>
                    <a:srgbClr val="4B5563"/>
                  </a:solidFill>
                  <a:latin typeface="Inter"/>
                  <a:ea typeface="Inter"/>
                  <a:cs typeface="Inter"/>
                  <a:sym typeface="Inter"/>
                </a:rPr>
                <a:t>Real-time guardrails monitor outputs to prevent hallucinations, ensuring the system remains reliable and aligned with business policies.</a:t>
              </a:r>
              <a:endParaRPr b="0" sz="1250">
                <a:solidFill>
                  <a:srgbClr val="4B5563"/>
                </a:solidFill>
                <a:latin typeface="Inter"/>
                <a:ea typeface="Inter"/>
                <a:cs typeface="Inter"/>
                <a:sym typeface="Inte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grpSp>
        <p:nvGrpSpPr>
          <p:cNvPr id="441" name="Google Shape;441;p33"/>
          <p:cNvGrpSpPr/>
          <p:nvPr/>
        </p:nvGrpSpPr>
        <p:grpSpPr>
          <a:xfrm>
            <a:off x="0" y="0"/>
            <a:ext cx="9144150" cy="5143500"/>
            <a:chOff x="0" y="0"/>
            <a:chExt cx="9144150" cy="5143500"/>
          </a:xfrm>
        </p:grpSpPr>
        <p:sp>
          <p:nvSpPr>
            <p:cNvPr id="442" name="Google Shape;442;p33"/>
            <p:cNvSpPr/>
            <p:nvPr/>
          </p:nvSpPr>
          <p:spPr>
            <a:xfrm>
              <a:off x="0" y="0"/>
              <a:ext cx="9144000" cy="51435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43" name="Google Shape;443;p3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444" name="Google Shape;444;p33"/>
            <p:cNvPicPr preferRelativeResize="0"/>
            <p:nvPr/>
          </p:nvPicPr>
          <p:blipFill rotWithShape="1">
            <a:blip r:embed="rId4">
              <a:alphaModFix/>
            </a:blip>
            <a:srcRect b="0" l="0" r="0" t="0"/>
            <a:stretch/>
          </p:blipFill>
          <p:spPr>
            <a:xfrm>
              <a:off x="6000750" y="952500"/>
              <a:ext cx="3143400" cy="3238500"/>
            </a:xfrm>
            <a:prstGeom prst="rect">
              <a:avLst/>
            </a:prstGeom>
            <a:noFill/>
            <a:ln>
              <a:noFill/>
            </a:ln>
          </p:spPr>
        </p:pic>
        <p:pic>
          <p:nvPicPr>
            <p:cNvPr id="445" name="Google Shape;445;p33"/>
            <p:cNvPicPr preferRelativeResize="0"/>
            <p:nvPr/>
          </p:nvPicPr>
          <p:blipFill rotWithShape="1">
            <a:blip r:embed="rId5">
              <a:alphaModFix/>
            </a:blip>
            <a:srcRect b="0" l="0" r="0" t="0"/>
            <a:stretch/>
          </p:blipFill>
          <p:spPr>
            <a:xfrm>
              <a:off x="5429250" y="381000"/>
              <a:ext cx="3714900" cy="4381500"/>
            </a:xfrm>
            <a:prstGeom prst="rect">
              <a:avLst/>
            </a:prstGeom>
            <a:noFill/>
            <a:ln>
              <a:noFill/>
            </a:ln>
          </p:spPr>
        </p:pic>
        <p:sp>
          <p:nvSpPr>
            <p:cNvPr id="446" name="Google Shape;446;p33"/>
            <p:cNvSpPr/>
            <p:nvPr/>
          </p:nvSpPr>
          <p:spPr>
            <a:xfrm>
              <a:off x="381000" y="1143000"/>
              <a:ext cx="762000" cy="0"/>
            </a:xfrm>
            <a:custGeom>
              <a:rect b="b" l="l" r="r" t="t"/>
              <a:pathLst>
                <a:path extrusionOk="0" h="120000" w="120000">
                  <a:moveTo>
                    <a:pt x="0" y="0"/>
                  </a:moveTo>
                  <a:lnTo>
                    <a:pt x="120000" y="0"/>
                  </a:lnTo>
                </a:path>
              </a:pathLst>
            </a:custGeom>
            <a:solidFill>
              <a:srgbClr val="000000">
                <a:alpha val="0"/>
              </a:srgbClr>
            </a:solidFill>
            <a:ln cap="flat" cmpd="sng" w="38100">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47" name="Google Shape;447;p33"/>
          <p:cNvGrpSpPr/>
          <p:nvPr/>
        </p:nvGrpSpPr>
        <p:grpSpPr>
          <a:xfrm>
            <a:off x="381000" y="714375"/>
            <a:ext cx="6858000" cy="4095900"/>
            <a:chOff x="381000" y="714375"/>
            <a:chExt cx="6858000" cy="4095900"/>
          </a:xfrm>
        </p:grpSpPr>
        <p:sp>
          <p:nvSpPr>
            <p:cNvPr id="448" name="Google Shape;448;p33"/>
            <p:cNvSpPr txBox="1"/>
            <p:nvPr/>
          </p:nvSpPr>
          <p:spPr>
            <a:xfrm>
              <a:off x="381000" y="714375"/>
              <a:ext cx="2857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FFFFFF"/>
                  </a:solidFill>
                  <a:latin typeface="Inter SemiBold"/>
                  <a:ea typeface="Inter SemiBold"/>
                  <a:cs typeface="Inter SemiBold"/>
                  <a:sym typeface="Inter SemiBold"/>
                </a:rPr>
                <a:t>Concluding Insight</a:t>
              </a:r>
              <a:endParaRPr b="0" sz="1100">
                <a:solidFill>
                  <a:srgbClr val="FFFFFF"/>
                </a:solidFill>
                <a:latin typeface="Inter SemiBold"/>
                <a:ea typeface="Inter SemiBold"/>
                <a:cs typeface="Inter SemiBold"/>
                <a:sym typeface="Inter SemiBold"/>
              </a:endParaRPr>
            </a:p>
          </p:txBody>
        </p:sp>
        <p:sp>
          <p:nvSpPr>
            <p:cNvPr id="449" name="Google Shape;449;p33"/>
            <p:cNvSpPr txBox="1"/>
            <p:nvPr/>
          </p:nvSpPr>
          <p:spPr>
            <a:xfrm>
              <a:off x="381000" y="1428750"/>
              <a:ext cx="6858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rgbClr val="FFFFFF"/>
                  </a:solidFill>
                  <a:latin typeface="Inter"/>
                  <a:ea typeface="Inter"/>
                  <a:cs typeface="Inter"/>
                  <a:sym typeface="Inter"/>
                </a:rPr>
                <a:t>AI is Transitioning from an Assistant to a Collaborator</a:t>
              </a:r>
              <a:endParaRPr b="1" sz="3000">
                <a:solidFill>
                  <a:srgbClr val="FFFFFF"/>
                </a:solidFill>
                <a:latin typeface="Inter"/>
                <a:ea typeface="Inter"/>
                <a:cs typeface="Inter"/>
                <a:sym typeface="Inter"/>
              </a:endParaRPr>
            </a:p>
          </p:txBody>
        </p:sp>
        <p:sp>
          <p:nvSpPr>
            <p:cNvPr id="450" name="Google Shape;450;p33"/>
            <p:cNvSpPr txBox="1"/>
            <p:nvPr/>
          </p:nvSpPr>
          <p:spPr>
            <a:xfrm>
              <a:off x="381000" y="2714625"/>
              <a:ext cx="6477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800">
                  <a:solidFill>
                    <a:srgbClr val="FFFFFF"/>
                  </a:solidFill>
                  <a:latin typeface="Inter"/>
                  <a:ea typeface="Inter"/>
                  <a:cs typeface="Inter"/>
                  <a:sym typeface="Inter"/>
                </a:rPr>
                <a:t>"The future of work involves humans setting high-level strategy while agents manage execution."</a:t>
              </a:r>
              <a:endParaRPr b="0" i="1" sz="1800">
                <a:solidFill>
                  <a:srgbClr val="FFFFFF"/>
                </a:solidFill>
                <a:latin typeface="Inter"/>
                <a:ea typeface="Inter"/>
                <a:cs typeface="Inter"/>
                <a:sym typeface="Inter"/>
              </a:endParaRPr>
            </a:p>
          </p:txBody>
        </p:sp>
        <p:sp>
          <p:nvSpPr>
            <p:cNvPr id="451" name="Google Shape;451;p33"/>
            <p:cNvSpPr txBox="1"/>
            <p:nvPr/>
          </p:nvSpPr>
          <p:spPr>
            <a:xfrm>
              <a:off x="381000" y="3762375"/>
              <a:ext cx="6477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E5E7EB"/>
                  </a:solidFill>
                  <a:latin typeface="Inter"/>
                  <a:ea typeface="Inter"/>
                  <a:cs typeface="Inter"/>
                  <a:sym typeface="Inter"/>
                </a:rPr>
                <a:t>The evolution from basic LLMs to intelligent agents marks a shift from Copilots to Autopilots. As these systems gain reasoning loops, tool access, and standardized protocols like MCP, they become true collaborators rather than just assistants. Organizations must begin exploring agentic workflows today to harness the next generation of automated productivity.</a:t>
              </a:r>
              <a:endParaRPr b="0" sz="1150">
                <a:solidFill>
                  <a:srgbClr val="E5E7EB"/>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